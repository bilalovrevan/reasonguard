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Clean rate (%)</c:v>
                </c:pt>
              </c:strCache>
            </c:strRef>
          </c:tx>
          <c:spPr>
            <a:solidFill>
              <a:srgbClr val="2DD4BF"/>
            </a:solidFill>
            <a:effectLst/>
          </c:spPr>
          <c:invertIfNegative val="0"/>
          <c:dLbls>
            <c:numFmt formatCode="0&quot;%&quot;" sourceLinked="0"/>
            <c:txPr>
              <a:bodyPr/>
              <a:lstStyle/>
              <a:p>
                <a:pPr>
                  <a:defRPr b="0" i="0" strike="noStrike" sz="1000" u="none">
                    <a:solidFill>
                      <a:srgbClr val="E9EEF6"/>
                    </a:solidFill>
                    <a:latin typeface="Helvetica Neue"/>
                  </a:defRPr>
                </a:pPr>
              </a:p>
            </c:txPr>
            <c:showLegendKey val="0"/>
            <c:showVal val="1"/>
            <c:showCatName val="0"/>
            <c:showSerName val="0"/>
            <c:showPercent val="0"/>
            <c:showBubbleSize val="0"/>
            <c:showLeaderLines val="0"/>
          </c:dLbls>
          <c:cat>
            <c:multiLvlStrRef>
              <c:f>Sheet1!$A$2:$A$6</c:f>
              <c:multiLvlStrCache>
                <c:ptCount val="5"/>
                <c:lvl>
                  <c:pt idx="0">
                    <c:v>llama3.1:8b</c:v>
                  </c:pt>
                  <c:pt idx="1">
                    <c:v>mistral:7b</c:v>
                  </c:pt>
                  <c:pt idx="2">
                    <c:v>gpt-4o-mini</c:v>
                  </c:pt>
                  <c:pt idx="3">
                    <c:v>phi3:mini</c:v>
                  </c:pt>
                  <c:pt idx="4">
                    <c:v>gemini-2.5-flash-lite</c:v>
                  </c:pt>
                </c:lvl>
              </c:multiLvlStrCache>
            </c:multiLvlStrRef>
          </c:cat>
          <c:val>
            <c:numRef>
              <c:f>Sheet1!$B$2:$B$6</c:f>
              <c:numCache>
                <c:formatCode>General</c:formatCode>
                <c:ptCount val="5"/>
                <c:pt idx="0">
                  <c:v>63</c:v>
                </c:pt>
                <c:pt idx="1">
                  <c:v>33</c:v>
                </c:pt>
                <c:pt idx="2">
                  <c:v>28</c:v>
                </c:pt>
                <c:pt idx="3">
                  <c:v>2</c:v>
                </c:pt>
                <c:pt idx="4">
                  <c:v>0</c:v>
                </c:pt>
              </c:numCache>
            </c:numRef>
          </c:val>
        </c:ser>
        <c:dLbls>
          <c:numFmt formatCode="0&quot;%&quot;" sourceLinked="0"/>
          <c:txPr>
            <a:bodyPr/>
            <a:lstStyle/>
            <a:p>
              <a:pPr>
                <a:defRPr b="0" i="0" strike="noStrike" sz="1000" u="none">
                  <a:solidFill>
                    <a:srgbClr val="E9EEF6"/>
                  </a:solidFill>
                  <a:latin typeface="Helvetica Neue"/>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C7D0DE"/>
                </a:solidFill>
                <a:latin typeface="Helvetica Neue"/>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1E2A42"/>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5C6A85"/>
                </a:solidFill>
                <a:latin typeface="Arial"/>
              </a:defRPr>
            </a:pPr>
            <a:endParaRPr lang="en-US"/>
          </a:p>
        </c:txPr>
        <c:crossAx val="2094734554"/>
        <c:crosses val="autoZero"/>
        <c:crossBetween val="between"/>
        <c:majorUnit val="25"/>
      </c:valAx>
      <c:spPr>
        <a:solidFill>
          <a:srgbClr val="0B1220"/>
        </a:solidFill>
        <a:ln>
          <a:noFill/>
        </a:ln>
        <a:effectLst/>
      </c:spPr>
    </c:plotArea>
    <c:plotVisOnly val="1"/>
    <c:dispBlanksAs val="span"/>
  </c:chart>
  <c:spPr>
    <a:solidFill>
      <a:srgbClr val="0B122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~30 s
Key message: one sentence — "I built and evaluated ReasonGuard, a runtime verifier that checks LLM explanations of a formal ICS detector against the detector's own verdict."
Say: name, programme, the two supervising institutions (SRH Hamburg + NES@FIT group at FIT VUT Brno, who provided the IEC-104 data and automaton documentation).
Point at the five chips: this is the whole system in one line — explanation → claims → bound → check → verdict. Everything else in the talk expands one of these chips.
Do not read the subtitle. Move on quickly; the first content slide carries the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 ~60 s   (WOW moment A: make them feel the danger)
Key message: fluency is exactly what makes hallucination dangerous in a control room.
Walk it: left = what the detector actually established (a structured bound: IEC-104 control frame, 1 → 2, port 2404, all-zero ASDU; the attack flags are false because nothing confirms an attack). Right = a perfectly plausible explanation. Sentences 1–3 are supported; sentence 4 invents a replay attack. An operator under time pressure reads sentence 4 and starts an incident response for an attack that was never established.
Emphasise: this is not a "bad model" story — it is a missing-component story. There is no element in the pipeline whose job is to compare explanation and verdict.
Be transparent if asked: this specific text is the thesis' hand-crafted worked example (§3.5.5), chosen because it isolates one violation cleanly; real model outputs from the experiment are longer and are shown in the results.
Likely question: "Isn't better prompting enough?" → The evaluation used a deliberately strict prompt that forbids exactly this; models still violated it (Ch. 4). Prompting reduces, but cannot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 ~45 s
Key message: the gap is structural, not incremental — offline metrics answer "which model is best on average", ReasonGuard answers "can THIS explanation be shown now".
Point at the last table row: the three differences are what is compared against (a formal bound instead of a text document), when (runtime, before consumption) and what comes out (a category + severity, not a score).
Governance: mention Annex III / Art. 13 / Art. 17 once, carefully worded — the thesis says ReasonGuard "can contribute evidence towards" these obligations. Do not say "compliant".
Likely question: "Why not just use an NLI/TRUE-style learned metric at runtime?" → learned metrics are probabilistic and not auditable; in a safety-critical loop the thesis deliberately trades recall for determinism and per-claim traceability (§5.3.1). Future work adds a learned component on top of the rule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QUESTIONS — ~45 s
Key message: two design questions, two empirical questions, one synthesis question — the talk follows that order.
Do not read all five. Say: RQ1/RQ2 are answered by building the thing (schema + taxonomy). RQ3/RQ4 are answered by measuring it (200 human-annotated pairs; χ² tests over 1,000 verdicts). RQ5 turns results into five deployment guidelines mapped to Art. 13 and 17.
Preview the honest headline now so nobody is surprised later: RQ3 is answered negatively — the detector missed its agreement target — and that answer is part of the contribution.
Likely question: "RQ4 mentions LLM size — did you isolate size?" → No; the three local models differ in architecture and training, all at 4-bit. The thesis reports an association, not a causal size effect (see limitations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 ~60 s
Key message: the novelty is the framing — the detector's verdict becomes a machine-readable specification, and the explanation is an execution checked against it.
Say the three RV roles explicitly (specification / monitor / execution under inspection). Examiners from formal methods will recognise the vocabulary; NLP examiners will recognise "claims vs. source".
Emphasise fail-closed: because the official automaton was not available, no machine_constraints flag could be confirmed true, so the system defaults to rejecting unsupported assertions. This is a deliberate safety stance, not a bug.
Say the scope note out loud and unprompted: the checker processes completed texts in a single pass. It is runtime in the sense of "before consumption", not streaming/token-level. Owning this removes the most obvious attack on the title.
Likely question: "Is faithfulness really a safety property?" → Yes in the RV sense: a finite prefix (one false assertion) suffices to refute it; no finite input can prove it (§2.3).
Likely question: "Independence of monitor and system?" → The verifier never sees model internals; it only sees the text and the bound, which comes from a separate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 ~75 s   (WOW moment B: "this is a real system")
Key message: three loosely coupled layers; the AI layer is only a natural-language interface — the verdict always lives in the formal layer.
Walk left → right using module names: formal_bound_builder turns each of the 20,000 frames into a bound; event_type_classifier assigns the PROXY event type; prompt_builder samples 25 per type (100 prompts) and wraps the bound in a strict prompt; five LLMs answer; reason_guard_checker extracts claims (spaCy + EntityRuler), compares each to the bound, and classifies V1–V5 with severity.
Stress the artefact strip: every stage writes a JSONL file. Any statistic in the thesis can be traced to the file it was computed on — this is the provenance argument used later for Art. 17.
Say the proxy sentence calmly and precisely: the official NES@FIT automaton schema was not available, so the formal_class and event-type labels are produced by an internal rule-based classifier; therefore all machine_constraints flags are false and the system runs fail-closed. Everything downstream is labelled proxy. This is the single highest-priority follow-up.
Likely questions: "Why loose coupling?" → the AI layer must be replaceable (models change, prompts change) without touching the verdict or the verifier; re-evaluation on change is guideline 4.
"How long does verification take?" → the checker is rule-based and fast; LLM latency dominates (≈12–19 s per prompt on CPU, Table 4.5), which still allows interactive local use without cloud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TAXONOMY — ~45 s   (make it memorable: three groups, not five items)
Key message: V1–V3 = the model says too much; V4 = it says too little; V5 = it contradicts itself. Severity follows operator consequence, not linguistic type.
Why HIGH for V1/V2/V5: an invented attack or an inverted direction can trigger a wrong intervention; an incoherent text tells the operator nothing trustworthy. V3/V4 report true but incomplete information — low alone, medium together.
Say that V4 is the default class: because the bound is fail-closed, an explanation that does not make the required assertions is not approved.
Point out that each card names its detector; these are the exact rules whose behaviour is measured later (V1 precise-but-blind, V4 over-triggering).
Likely question: "Why not more classes / a graded score?" → the thesis argues these five cover all cases that change an operator's decision; a categorical verdict is what supports trust calibration under time pressure (§2.5), unlike an opaque score.
Likely question: "How do you separate mention from assertion?" → dependency-parse negation filter: a term whose ancestors carry a negation, or a sentence containing "proxy"/"schema", is treated as safe; when spaCy is unavailable a conservative substring allowlist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WALKTHROUGH — ~75 s   (WOW moment C: prove you know what the code does)
Key message: verification is three deterministic steps — extract, compare, classify — and every verdict has a reason string.
Left: the bound. Highlight the four things the verifier reads: features (numbers), direction, the three claim lists, and the machine_constraints flags — all false in proxy regime.
Right, row by row: (1) entities found by the EntityRuler — protocol, frame type, both identifiers — all consistent → SUPPORTED. (2) a number check: 2404 is in the union of bound values and protocol constants {104, 2404}. (3) "replay attack" is an attack term; nothing negates it; attack_claim_allowed is false → UNSUPPORTED → V1, high. (4) direction 2→1 contradicts client_to_server 1→2 → CONTRADICTED → V2. (5) the required list demands port and ASDU; if missing → V4, low.
Close with the severity rule: any of V1/V2/V5 makes the whole explanation HIGH.
Say: this is a hand-crafted example chosen for clarity; the real outputs are longer and the real difficulty is negation scope (next slides).
Likely question: "What happens with a claim phrased unexpectedly?" → the ruler misses it → no verdict → that is exactly why V1 recall is low (0.09); the trade-off is predictability over coverage (§3.5.1).
Likely question: "Is 'MISSING' a fourth verdict?" → No — per-claim verdicts are SUPPORTED / UNSUPPORTED / CONTRADICTED; V4 comes from the required-claims check, shown here as its own row for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EXPERIMENTAL SETUP — ~45 s
Key message: a controlled comparison — same bound, same prompt, same decoding parameters for every model; the only free variable is the model (and the event type).
Two design decisions worth stating: (a) the prompt is deliberately over-strict and repeats every rule, so no examiner can say "a better prompt would fix it" — observed violations are a floor, not a ceiling; (b) the synthetic regression set exists to prove the detector CAN see each class when it is unambiguously present (V2 direction inversions are rare in real outputs) — it is quarantined from all claims about models.
Numbers to have ready: 25 prompts per event type × 4 types = 100; five models → 500; plus 500 synthetic (5 per prompt) → 1,000. Function-code violation and network scan are rare in the sample (44 and 68 of 20,000) — stratified sampling is what makes them comparable. Replay attack never occurs in this IEC-104 sample; the Modbus dataset that contains it is left for future work.
Likely question: "Why 4-bit local models on CPU?" → deployment realism for a control room: no confidential traffic leaves the site and verification works without connectivity (§5.1); latency ≈ 12–19 s is interactive enough.
Likely question: "Why did the cloud model set change?" → gemini-1.5-flash was retired by the vendor; gemini-2.5-flash-lite is the comparable current offering (§3.8).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DESIGN — ~45 s
Key message: the reference is a blind human judgement, the metrics are per-class first and aggregate second, and the targets were set in advance.
Be upfront about the annotation's weaknesses before an examiner raises them: one annotator (myself), and the 200 pairs contain synthetic and local-model outputs only — no cloud responses. The 50-pair expert second-rater package was prepared and sent to Brno; its results were not available when the thesis was submitted, so no inter-rater number is claimed.
Explain MIXED once: when a human sees more than one violation the label is MIXED; macro metrics exclude it, accuracy penalises it (no partial credit) — one reason accuracy is the least informative number.
Explain the χ² choices: synthetic responses are excluded from the model test because they are not produced by a model (N = 500); they stay in the event-type test (N = 1,000). V2/V3 are dropped because they never occur in LLM outputs. Effect size via Cramér's V; expected-count assumption checked (20 % of cells below 5, none below 2).
Likely question: "Why discard the first annotation pass?" → agreement was drifting towards zero as fatigue set in; keeping it would have injected noise. Batches of 25 with breaks fixed that (§3.11).
Likely question: "Isn't sampling for class coverage a bias?" → yes for prevalence estimates — which is why prevalence is never claimed from the 200; the set is for detector agreement, and rare classes had to be present to be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MODEL SIGNATURES — ~60 s
Key message: a scalar quality score would rank these models misleadingly — the composition of errors is the actionable result (finding F2).
Read the grid, not the bars: gemini has 0 % clean but every failure is low-severity under-specification (it never asserts anything unsupported); gpt-4o-mini is 28 % clean but its failures are high-severity fabrications. For a control room the first is arguably the safer partner. phi3 fabricates almost always and is the only model with substantial V5.
Say the caveats yourself: these are ReasonGuard's verdicts in proxy regime, and the cloud models were not in the human-annotated set — so "gpt-4o-mini fabricates in 72" is a detector statement, not a human-validated one. If asked, most gpt-4o-mini V1 flags are triggered by attack/malice vocabulary in hedged sentences (e.g. "does not confirm any malicious activity"); whether those count as fabrication is exactly the negation-scope question discussed in §5.3 — be ready to say that you inspected them and to state your view.
Model size: llama (8B) &gt; mistral (7B) &gt; phi3 (3.8B) in clean rate at the same 4-bit setting, but they differ in architecture and training data; the thesis reports this as a tendency, not causation. The cloud results (gpt-4o-mini fabricating heavily) show that factors other than size — alignment, decoding — matter.
Likely question: "Why are V2 and V3 zero everywhere?" → under a very constraining prompt models rather add unsupported statements (V1) or omit (V4) than directly contradict or over-generalise; the synthetic set proves the detectors work when those classes are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 — ~75 s   (WOW moment D: maturity)
Key message: the targets were missed, the cause is localised to two rules, and it is reported without tuning after the fact. That is the scientific posture the thesis takes.
State the numbers plainly: κ 0.16 vs target 0.70; macro-F1 0.19 vs 0.80; accuracy 0.30. Then immediately show why the aggregate hides the structure: V1 precision 0.90 / recall 0.09; V4 precision 0.48 / recall 0.92.
Explain the asymmetry and its operational meaning (§5.3): when ReasonGuard says "fabricated", believe it; when it stays silent about fabrication, do not conclude the explanation is clean — flagged V1s are a lower bound. For V4 the opposite: it almost never misses, but it fires too readily.
Root causes: V1 — negation scope handled conservatively and pattern-based extraction that misses unexpected phrasings; V4 — the rule and the annotation guideline diverged although both were written by the same person (missing traffic details vs missing caveats). That divergence is itself a finding about rule-based verifiers.
Be explicit about the decision not to tune: removing the V4 rule was measured and would have moved macro-F1 towards the human baseline; it was kept as-is and documented as evidence one would need under a quality-management process (Art. 17).
V2/V3/V5: too little support in the annotated set to estimate — reported as zero, not hidden.
Likely question: "So is the approach refuted?" → No — the bound-based architecture works end-to-end; the rule implementations under-perform. The synthetic set shows each class is detectable when unambiguous; the gap is coverage and calibration on free-form text — the stated next step is a learned per-claim component on top of the auditable rule core.
Likely question: "Why report accuracy at all?" → completeness; the thesis itself calls it the least informative metric here because MIXED gets no partial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MATRIX — ~45 s
Key message: the matrix shows two systematic disagreements, not random noise.
Point with the cursor: the dark cell (V1 row, NONE column, 54) is the problem — human-labelled fabrications that produced no flag at all. The V4 row is nearly perfect (23 of 25), but read the V4 column downwards: NONE 7, V1 13, V2 3 — the rule fires on things the human did not consider under-specified.
The MIXED column (62) is a scoring artefact worth explaining: ReasonGuard often fires V4 together with another class; the collapsed single label becomes MIXED and the comparison gives no partial credit. From the raw annotation file (annotation_results.csv, not spelled out in the thesis text): 21 of the 22 MIXED verdicts in the V1 row were V1|V4 — i.e. the V1 rule did fire, but the V4 co-firing masked it under single-label scoring. Use this only if asked how V4 over-triggering interacts with V1 recall; do not present it as a tuned result.
Likely question: "Why is the human MIXED row so small (9) while the machine MIXED column is large (62)?" → the annotation guideline picks the first applicable class in a fixed order and rarely assigns MIXED; the detector reports every class whose rule fires. That mismatch is part of the calibration problem.
Likely question: "Would per-label (multi-label) scoring change the picture?" → it would credit the V1|V4 cases and raise V1 recall, but the pre-registered protocol used single-label κ; changing the metric after seeing the data was deliberately not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STATISTICAL ASSOCIATION — ~45 s
Key message: the model explains a lot of the variation in violation type (V = 0.57), the event type only a little (V = 0.11) — and the event-type effect is model-specific.
Read the two stat cards exactly as written; both p-values are below .001. Then say what drives the huge model χ²: gemini and gpt-4o-mini fail in single, different columns — a near block-diagonal table.
Grid: point at 84 % (llama, network_scan) versus 8 % (gpt-4o-mini, function_code_violation) — the same event type can be the easiest for one model and the hardest for another, so the "rare events cause hallucination" hypothesis is only partially supported (§4.3).
Assumptions and honesty: single collapsed label per response; V2/V3 dropped because zero; synthetic excluded from the model test (N = 500) but included in the event-type test (N = 1,000); expected counts checked. 25 per cell is enough to separate models, not to make fine within-model claims (§5.2).
Likely question: "Why is the model contingency table not shown?" → it is the collapsed-label version of the signature grid two slides back (e.g. llama V1 = 17 single-label vs 22 any-label, because 5 responses had V1 together with V4 and collapse to MIXED); show it from the thesis outputs (chi_square_tests.md) if asked.
Likely question: "Is Cramér's V in the thesis?" → the thesis reports χ², df, N and p; V is computed directly from those (V = √(χ² / (N·(k−1)))) as the standard effect size — say so if challenged.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WORKED / WHAT DID NOT — ~60 s   (this slide answers the main research question)
Key message: the main RQ gets a qualified yes — bound-based runtime violation detection is feasible; reliable autonomous use is not yet demonstrated (§6.2).
Left column is evidence of engineering and design: the pipeline exists, is deterministic and reproducible, and the taxonomy is instantiated in code and data.
Right column is the honest ledger. Read the first two lines slowly; they are the reason the thesis calls itself a documented negative result. The proxy line is not a footnote: the machine-checkable constraints were inactive in every evaluated run, so nothing here validates the official formal verification step.
Bridge to the operational stance (§5.3): with high precision on the high-severity classes, ReasonGuard can already withhold and flag; with low V1 recall, unflagged explanations must still be shown with caveats. That is guideline 1.
Likely question: "Which single change would move κ most?" → narrowing the V4 rule to the annotator's criterion (missing caveats) and adding a learned V1 component; both are listed as future work, neither was applied post hoc.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 ~45 s
Key message: each limitation has a known effect on which claims are valid and a concrete, mostly incremental fix.
Spend the most time on the first card. Say it in one breath: "Because the official NES@FIT automaton schema was not available, the evaluation ran in a proxy regime — the bound's formal_class and event type came from an internal classifier, the machine-checkable constraints were inactive, and every artefact is labelled accordingly. The evaluation therefore validates the framework under a proxy bound, not the official formal verification step. Swapping in the official schema regenerates every artefact deterministically." Framed this way it is scope discipline, not a weakness.
Second card pre-empts the title critique (runtime vs online). Third card pre-empts the annotation critique; note the coincidence of annotator and rule author cuts both ways (guideline-rule divergence still happened, §5.3). Fourth card is the causal-language guardrail. Fifth explains why within-model event effects are only indicative.
Likely question: "Given the proxy regime, what exactly was verified?" → the observable features (identifiers, ports, ASDU fields, direction) are ground truth from the dataset, and the claim checks against them are real; what is proxy is the event/attack classification and the machine-checkable flags.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CONTRIBUTIONS AND FUTURE WORK — ~45 s
Key message: four contributions stand regardless of the missed target; the research agenda follows directly from the diagnosed failure modes.
Contributions: say "framework, taxonomy, evaluation, guidelines" — then add the methodological one from §6.1: a well-documented negative result whose cause is traced to a single rule, which is exactly the kind of evidence a quality-management process (Art. 17) asks for.
Guidelines: do not read all five; say guideline 1 is grounded in high precision on V1/V2/V5, guideline 2 fights automation bias by exposing the bound, guidelines 3–4 are the logging and re-evaluation obligations, guideline 5 reflects the proxy posture (never assert "definitely"). Use the wording "can support / contribute evidence towards Art. 13 and 17" — never "complies with".
Future work order matters: the official schema first, because it changes the ground the whole evaluation stands on; then the learned component for V1 recall while keeping the deterministic core; then per-class thresholds; then breadth; then the operator study that would show actual safety benefit (the thesis states there is no direct evidence of a safety improvement yet).
Likely question: "Is this publishable / useful for Brno?" → the pipeline is schema-driven; NES@FIT can plug their automaton verdict in and re-run; the annotated dataset and MLflow harness are reusable 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 ~20 s, then open the floor
Say the one-liner: ReasonGuard makes AI reasoning checkable against explicit constraints — the detector's verdict becomes a specification, and every explanation is either accepted or returned with a named violation.
Then the honest coda in one sentence each: demonstrated / not yet. Ending on "not yet" plus the concrete next steps signals maturity better than a triumphant close.
Leave the chain visible during questions — it is the map for answering almost anything: extraction questions → "observable claims"; schema/proxy questions → "formal / proxy bound"; metric questions → "faithfulness evidence".
Prepared answers to keep at hand:
1) Proxy regime — what was and was not verified (limitations slide, card 1).
2) Runtime vs online — single pass on completed text; before the operator, not during decoding.
3) Why κ is low and why the rules were not tuned afterwards (negative-result slide).
4) Model size — association at fixed 4-bit, not causation.
5) EU AI Act — "can support Art. 13 / 17 evidence", never "compliant".
6) Second-rater annotation — prepared and sent to NES@FIT; results not available at submission; no inter-rater number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1143000"/>
            <a:ext cx="12191695" cy="0"/>
          </a:xfrm>
          <a:prstGeom prst="line">
            <a:avLst/>
          </a:prstGeom>
          <a:noFill/>
          <a:ln w="6350">
            <a:solidFill>
              <a:srgbClr val="111A2C"/>
            </a:solidFill>
            <a:prstDash val="solid"/>
          </a:ln>
        </p:spPr>
      </p:sp>
      <p:sp>
        <p:nvSpPr>
          <p:cNvPr id="3" name="Shape 1"/>
          <p:cNvSpPr/>
          <p:nvPr/>
        </p:nvSpPr>
        <p:spPr>
          <a:xfrm>
            <a:off x="0" y="2286000"/>
            <a:ext cx="12191695" cy="0"/>
          </a:xfrm>
          <a:prstGeom prst="line">
            <a:avLst/>
          </a:prstGeom>
          <a:noFill/>
          <a:ln w="6350">
            <a:solidFill>
              <a:srgbClr val="111A2C"/>
            </a:solidFill>
            <a:prstDash val="solid"/>
          </a:ln>
        </p:spPr>
      </p:sp>
      <p:sp>
        <p:nvSpPr>
          <p:cNvPr id="4" name="Shape 2"/>
          <p:cNvSpPr/>
          <p:nvPr/>
        </p:nvSpPr>
        <p:spPr>
          <a:xfrm>
            <a:off x="0" y="3429000"/>
            <a:ext cx="12191695" cy="0"/>
          </a:xfrm>
          <a:prstGeom prst="line">
            <a:avLst/>
          </a:prstGeom>
          <a:noFill/>
          <a:ln w="6350">
            <a:solidFill>
              <a:srgbClr val="111A2C"/>
            </a:solidFill>
            <a:prstDash val="solid"/>
          </a:ln>
        </p:spPr>
      </p:sp>
      <p:sp>
        <p:nvSpPr>
          <p:cNvPr id="5" name="Shape 3"/>
          <p:cNvSpPr/>
          <p:nvPr/>
        </p:nvSpPr>
        <p:spPr>
          <a:xfrm>
            <a:off x="0" y="4572000"/>
            <a:ext cx="12191695" cy="0"/>
          </a:xfrm>
          <a:prstGeom prst="line">
            <a:avLst/>
          </a:prstGeom>
          <a:noFill/>
          <a:ln w="6350">
            <a:solidFill>
              <a:srgbClr val="111A2C"/>
            </a:solidFill>
            <a:prstDash val="solid"/>
          </a:ln>
        </p:spPr>
      </p:sp>
      <p:sp>
        <p:nvSpPr>
          <p:cNvPr id="6" name="Shape 4"/>
          <p:cNvSpPr/>
          <p:nvPr/>
        </p:nvSpPr>
        <p:spPr>
          <a:xfrm>
            <a:off x="0" y="5715000"/>
            <a:ext cx="12191695" cy="0"/>
          </a:xfrm>
          <a:prstGeom prst="line">
            <a:avLst/>
          </a:prstGeom>
          <a:noFill/>
          <a:ln w="6350">
            <a:solidFill>
              <a:srgbClr val="111A2C"/>
            </a:solidFill>
            <a:prstDash val="solid"/>
          </a:ln>
        </p:spPr>
      </p:sp>
      <p:sp>
        <p:nvSpPr>
          <p:cNvPr id="7" name="Shape 5"/>
          <p:cNvSpPr/>
          <p:nvPr/>
        </p:nvSpPr>
        <p:spPr>
          <a:xfrm>
            <a:off x="1218895" y="0"/>
            <a:ext cx="0" cy="6858000"/>
          </a:xfrm>
          <a:prstGeom prst="line">
            <a:avLst/>
          </a:prstGeom>
          <a:noFill/>
          <a:ln w="6350">
            <a:solidFill>
              <a:srgbClr val="111A2C"/>
            </a:solidFill>
            <a:prstDash val="solid"/>
          </a:ln>
        </p:spPr>
      </p:sp>
      <p:sp>
        <p:nvSpPr>
          <p:cNvPr id="8" name="Shape 6"/>
          <p:cNvSpPr/>
          <p:nvPr/>
        </p:nvSpPr>
        <p:spPr>
          <a:xfrm>
            <a:off x="2437790" y="0"/>
            <a:ext cx="0" cy="6858000"/>
          </a:xfrm>
          <a:prstGeom prst="line">
            <a:avLst/>
          </a:prstGeom>
          <a:noFill/>
          <a:ln w="6350">
            <a:solidFill>
              <a:srgbClr val="111A2C"/>
            </a:solidFill>
            <a:prstDash val="solid"/>
          </a:ln>
        </p:spPr>
      </p:sp>
      <p:sp>
        <p:nvSpPr>
          <p:cNvPr id="9" name="Shape 7"/>
          <p:cNvSpPr/>
          <p:nvPr/>
        </p:nvSpPr>
        <p:spPr>
          <a:xfrm>
            <a:off x="3656686" y="0"/>
            <a:ext cx="0" cy="6858000"/>
          </a:xfrm>
          <a:prstGeom prst="line">
            <a:avLst/>
          </a:prstGeom>
          <a:noFill/>
          <a:ln w="6350">
            <a:solidFill>
              <a:srgbClr val="111A2C"/>
            </a:solidFill>
            <a:prstDash val="solid"/>
          </a:ln>
        </p:spPr>
      </p:sp>
      <p:sp>
        <p:nvSpPr>
          <p:cNvPr id="10" name="Shape 8"/>
          <p:cNvSpPr/>
          <p:nvPr/>
        </p:nvSpPr>
        <p:spPr>
          <a:xfrm>
            <a:off x="4875581" y="0"/>
            <a:ext cx="0" cy="6858000"/>
          </a:xfrm>
          <a:prstGeom prst="line">
            <a:avLst/>
          </a:prstGeom>
          <a:noFill/>
          <a:ln w="6350">
            <a:solidFill>
              <a:srgbClr val="111A2C"/>
            </a:solidFill>
            <a:prstDash val="solid"/>
          </a:ln>
        </p:spPr>
      </p:sp>
      <p:sp>
        <p:nvSpPr>
          <p:cNvPr id="11" name="Shape 9"/>
          <p:cNvSpPr/>
          <p:nvPr/>
        </p:nvSpPr>
        <p:spPr>
          <a:xfrm>
            <a:off x="6094476" y="0"/>
            <a:ext cx="0" cy="6858000"/>
          </a:xfrm>
          <a:prstGeom prst="line">
            <a:avLst/>
          </a:prstGeom>
          <a:noFill/>
          <a:ln w="6350">
            <a:solidFill>
              <a:srgbClr val="111A2C"/>
            </a:solidFill>
            <a:prstDash val="solid"/>
          </a:ln>
        </p:spPr>
      </p:sp>
      <p:sp>
        <p:nvSpPr>
          <p:cNvPr id="12" name="Shape 10"/>
          <p:cNvSpPr/>
          <p:nvPr/>
        </p:nvSpPr>
        <p:spPr>
          <a:xfrm>
            <a:off x="7313371" y="0"/>
            <a:ext cx="0" cy="6858000"/>
          </a:xfrm>
          <a:prstGeom prst="line">
            <a:avLst/>
          </a:prstGeom>
          <a:noFill/>
          <a:ln w="6350">
            <a:solidFill>
              <a:srgbClr val="111A2C"/>
            </a:solidFill>
            <a:prstDash val="solid"/>
          </a:ln>
        </p:spPr>
      </p:sp>
      <p:sp>
        <p:nvSpPr>
          <p:cNvPr id="13" name="Shape 11"/>
          <p:cNvSpPr/>
          <p:nvPr/>
        </p:nvSpPr>
        <p:spPr>
          <a:xfrm>
            <a:off x="8532266" y="0"/>
            <a:ext cx="0" cy="6858000"/>
          </a:xfrm>
          <a:prstGeom prst="line">
            <a:avLst/>
          </a:prstGeom>
          <a:noFill/>
          <a:ln w="6350">
            <a:solidFill>
              <a:srgbClr val="111A2C"/>
            </a:solidFill>
            <a:prstDash val="solid"/>
          </a:ln>
        </p:spPr>
      </p:sp>
      <p:sp>
        <p:nvSpPr>
          <p:cNvPr id="14" name="Shape 12"/>
          <p:cNvSpPr/>
          <p:nvPr/>
        </p:nvSpPr>
        <p:spPr>
          <a:xfrm>
            <a:off x="9751162" y="0"/>
            <a:ext cx="0" cy="6858000"/>
          </a:xfrm>
          <a:prstGeom prst="line">
            <a:avLst/>
          </a:prstGeom>
          <a:noFill/>
          <a:ln w="6350">
            <a:solidFill>
              <a:srgbClr val="111A2C"/>
            </a:solidFill>
            <a:prstDash val="solid"/>
          </a:ln>
        </p:spPr>
      </p:sp>
      <p:sp>
        <p:nvSpPr>
          <p:cNvPr id="15" name="Shape 13"/>
          <p:cNvSpPr/>
          <p:nvPr/>
        </p:nvSpPr>
        <p:spPr>
          <a:xfrm>
            <a:off x="10970057" y="0"/>
            <a:ext cx="0" cy="6858000"/>
          </a:xfrm>
          <a:prstGeom prst="line">
            <a:avLst/>
          </a:prstGeom>
          <a:noFill/>
          <a:ln w="6350">
            <a:solidFill>
              <a:srgbClr val="111A2C"/>
            </a:solidFill>
            <a:prstDash val="solid"/>
          </a:ln>
        </p:spPr>
      </p:sp>
      <p:sp>
        <p:nvSpPr>
          <p:cNvPr id="16" name="Text 14"/>
          <p:cNvSpPr txBox="1"/>
          <p:nvPr/>
        </p:nvSpPr>
        <p:spPr>
          <a:xfrm>
            <a:off x="548640" y="566928"/>
            <a:ext cx="9144000" cy="274320"/>
          </a:xfrm>
          <a:prstGeom prst="rect">
            <a:avLst/>
          </a:prstGeom>
          <a:noFill/>
          <a:ln/>
        </p:spPr>
        <p:txBody>
          <a:bodyPr wrap="square" lIns="0" tIns="0" rIns="0" bIns="0" rtlCol="0" anchor="t"/>
          <a:lstStyle/>
          <a:p>
            <a:pPr algn="l" indent="0" marL="0">
              <a:buNone/>
            </a:pPr>
            <a:r>
              <a:rPr lang="en-US" sz="1050" spc="200" kern="0" dirty="0">
                <a:solidFill>
                  <a:srgbClr val="2DD4BF"/>
                </a:solidFill>
                <a:latin typeface="Consolas" pitchFamily="34" charset="0"/>
                <a:ea typeface="Consolas" pitchFamily="34" charset="-122"/>
                <a:cs typeface="Consolas" pitchFamily="34" charset="-120"/>
              </a:rPr>
              <a:t>MASTER'S THESIS COLLOQUIUM  ·  MSc APPLIED DATA SCIENCE AND ANALYTICS</a:t>
            </a:r>
            <a:endParaRPr lang="en-US" sz="1050" dirty="0"/>
          </a:p>
        </p:txBody>
      </p:sp>
      <p:sp>
        <p:nvSpPr>
          <p:cNvPr id="17" name="Text 15"/>
          <p:cNvSpPr txBox="1"/>
          <p:nvPr/>
        </p:nvSpPr>
        <p:spPr>
          <a:xfrm>
            <a:off x="548640" y="1143000"/>
            <a:ext cx="9144000" cy="1051560"/>
          </a:xfrm>
          <a:prstGeom prst="rect">
            <a:avLst/>
          </a:prstGeom>
          <a:noFill/>
          <a:ln/>
        </p:spPr>
        <p:txBody>
          <a:bodyPr wrap="square" lIns="0" tIns="0" rIns="0" bIns="0" rtlCol="0" anchor="ctr"/>
          <a:lstStyle/>
          <a:p>
            <a:pPr algn="l" indent="0" marL="0">
              <a:buNone/>
            </a:pPr>
            <a:r>
              <a:rPr lang="en-US" sz="6400" b="1" dirty="0">
                <a:solidFill>
                  <a:srgbClr val="E9EEF6"/>
                </a:solidFill>
                <a:latin typeface="Helvetica Neue" pitchFamily="34" charset="0"/>
                <a:ea typeface="Helvetica Neue" pitchFamily="34" charset="-122"/>
                <a:cs typeface="Helvetica Neue" pitchFamily="34" charset="-120"/>
              </a:rPr>
              <a:t>Reason</a:t>
            </a:r>
            <a:pPr algn="l" indent="0" marL="0">
              <a:buNone/>
            </a:pPr>
            <a:r>
              <a:rPr lang="en-US" sz="6400" b="1" dirty="0">
                <a:solidFill>
                  <a:srgbClr val="2DD4BF"/>
                </a:solidFill>
                <a:latin typeface="Helvetica Neue" pitchFamily="34" charset="0"/>
                <a:ea typeface="Helvetica Neue" pitchFamily="34" charset="-122"/>
                <a:cs typeface="Helvetica Neue" pitchFamily="34" charset="-120"/>
              </a:rPr>
              <a:t>Guard</a:t>
            </a:r>
            <a:endParaRPr lang="en-US" sz="6400" dirty="0"/>
          </a:p>
        </p:txBody>
      </p:sp>
      <p:sp>
        <p:nvSpPr>
          <p:cNvPr id="18" name="Text 16"/>
          <p:cNvSpPr txBox="1"/>
          <p:nvPr/>
        </p:nvSpPr>
        <p:spPr>
          <a:xfrm>
            <a:off x="548640" y="2240280"/>
            <a:ext cx="9601200" cy="1005840"/>
          </a:xfrm>
          <a:prstGeom prst="rect">
            <a:avLst/>
          </a:prstGeom>
          <a:noFill/>
          <a:ln/>
        </p:spPr>
        <p:txBody>
          <a:bodyPr wrap="square" lIns="0" tIns="0" rIns="0" bIns="0" rtlCol="0" anchor="t"/>
          <a:lstStyle/>
          <a:p>
            <a:pPr algn="l" indent="0" marL="0">
              <a:lnSpc>
                <a:spcPct val="110000"/>
              </a:lnSpc>
              <a:buNone/>
            </a:pPr>
            <a:r>
              <a:rPr lang="en-US" sz="2400" dirty="0">
                <a:solidFill>
                  <a:srgbClr val="C7D0DE"/>
                </a:solidFill>
                <a:latin typeface="Helvetica Neue" pitchFamily="34" charset="0"/>
                <a:ea typeface="Helvetica Neue" pitchFamily="34" charset="-122"/>
                <a:cs typeface="Helvetica Neue" pitchFamily="34" charset="-120"/>
              </a:rPr>
              <a:t>Runtime Verification of AI Reasoning Faithfulness</a:t>
            </a:r>
            <a:endParaRPr lang="en-US" sz="2400" dirty="0"/>
          </a:p>
          <a:p>
            <a:pPr algn="l" indent="0" marL="0">
              <a:lnSpc>
                <a:spcPct val="110000"/>
              </a:lnSpc>
              <a:buNone/>
            </a:pPr>
            <a:r>
              <a:rPr lang="en-US" sz="2400" dirty="0">
                <a:solidFill>
                  <a:srgbClr val="C7D0DE"/>
                </a:solidFill>
                <a:latin typeface="Helvetica Neue" pitchFamily="34" charset="0"/>
                <a:ea typeface="Helvetica Neue" pitchFamily="34" charset="-122"/>
                <a:cs typeface="Helvetica Neue" pitchFamily="34" charset="-120"/>
              </a:rPr>
              <a:t>Against Formally Verified Bounds</a:t>
            </a:r>
            <a:endParaRPr lang="en-US" sz="2400" dirty="0"/>
          </a:p>
        </p:txBody>
      </p:sp>
      <p:sp>
        <p:nvSpPr>
          <p:cNvPr id="19" name="Shape 17"/>
          <p:cNvSpPr/>
          <p:nvPr/>
        </p:nvSpPr>
        <p:spPr>
          <a:xfrm>
            <a:off x="548640" y="3611880"/>
            <a:ext cx="1783080" cy="329184"/>
          </a:xfrm>
          <a:prstGeom prst="roundRect">
            <a:avLst>
              <a:gd name="adj" fmla="val 41667"/>
            </a:avLst>
          </a:prstGeom>
          <a:solidFill>
            <a:srgbClr val="18233A"/>
          </a:solidFill>
          <a:ln w="7620">
            <a:solidFill>
              <a:srgbClr val="93A0B8"/>
            </a:solidFill>
            <a:prstDash val="solid"/>
          </a:ln>
        </p:spPr>
      </p:sp>
      <p:sp>
        <p:nvSpPr>
          <p:cNvPr id="20" name="Text 18"/>
          <p:cNvSpPr txBox="1"/>
          <p:nvPr/>
        </p:nvSpPr>
        <p:spPr>
          <a:xfrm>
            <a:off x="548640" y="3611880"/>
            <a:ext cx="1783080" cy="329184"/>
          </a:xfrm>
          <a:prstGeom prst="rect">
            <a:avLst/>
          </a:prstGeom>
          <a:noFill/>
          <a:ln/>
        </p:spPr>
        <p:txBody>
          <a:bodyPr wrap="square" lIns="0" tIns="0" rIns="0" bIns="0" rtlCol="0" anchor="ctr"/>
          <a:lstStyle/>
          <a:p>
            <a:pPr algn="ctr" indent="0" marL="0">
              <a:buNone/>
            </a:pPr>
            <a:r>
              <a:rPr lang="en-US" sz="1050" b="1" dirty="0">
                <a:solidFill>
                  <a:srgbClr val="93A0B8"/>
                </a:solidFill>
                <a:latin typeface="Helvetica Neue" pitchFamily="34" charset="0"/>
                <a:ea typeface="Helvetica Neue" pitchFamily="34" charset="-122"/>
                <a:cs typeface="Helvetica Neue" pitchFamily="34" charset="-120"/>
              </a:rPr>
              <a:t>LLM explanation</a:t>
            </a:r>
            <a:endParaRPr lang="en-US" sz="1050" dirty="0"/>
          </a:p>
        </p:txBody>
      </p:sp>
      <p:sp>
        <p:nvSpPr>
          <p:cNvPr id="21" name="Shape 19"/>
          <p:cNvSpPr/>
          <p:nvPr/>
        </p:nvSpPr>
        <p:spPr>
          <a:xfrm>
            <a:off x="2386584" y="3776472"/>
            <a:ext cx="274320" cy="0"/>
          </a:xfrm>
          <a:prstGeom prst="line">
            <a:avLst/>
          </a:prstGeom>
          <a:noFill/>
          <a:ln w="12700">
            <a:solidFill>
              <a:srgbClr val="5C6A85"/>
            </a:solidFill>
            <a:prstDash val="solid"/>
            <a:tailEnd type="triangle"/>
          </a:ln>
        </p:spPr>
      </p:sp>
      <p:sp>
        <p:nvSpPr>
          <p:cNvPr id="22" name="Shape 20"/>
          <p:cNvSpPr/>
          <p:nvPr/>
        </p:nvSpPr>
        <p:spPr>
          <a:xfrm>
            <a:off x="2715768" y="3611880"/>
            <a:ext cx="1783080" cy="329184"/>
          </a:xfrm>
          <a:prstGeom prst="roundRect">
            <a:avLst>
              <a:gd name="adj" fmla="val 41667"/>
            </a:avLst>
          </a:prstGeom>
          <a:solidFill>
            <a:srgbClr val="18233A"/>
          </a:solidFill>
          <a:ln w="7620">
            <a:solidFill>
              <a:srgbClr val="93A0B8"/>
            </a:solidFill>
            <a:prstDash val="solid"/>
          </a:ln>
        </p:spPr>
      </p:sp>
      <p:sp>
        <p:nvSpPr>
          <p:cNvPr id="23" name="Text 21"/>
          <p:cNvSpPr txBox="1"/>
          <p:nvPr/>
        </p:nvSpPr>
        <p:spPr>
          <a:xfrm>
            <a:off x="2715768" y="3611880"/>
            <a:ext cx="1783080" cy="329184"/>
          </a:xfrm>
          <a:prstGeom prst="rect">
            <a:avLst/>
          </a:prstGeom>
          <a:noFill/>
          <a:ln/>
        </p:spPr>
        <p:txBody>
          <a:bodyPr wrap="square" lIns="0" tIns="0" rIns="0" bIns="0" rtlCol="0" anchor="ctr"/>
          <a:lstStyle/>
          <a:p>
            <a:pPr algn="ctr" indent="0" marL="0">
              <a:buNone/>
            </a:pPr>
            <a:r>
              <a:rPr lang="en-US" sz="1050" b="1" dirty="0">
                <a:solidFill>
                  <a:srgbClr val="93A0B8"/>
                </a:solidFill>
                <a:latin typeface="Helvetica Neue" pitchFamily="34" charset="0"/>
                <a:ea typeface="Helvetica Neue" pitchFamily="34" charset="-122"/>
                <a:cs typeface="Helvetica Neue" pitchFamily="34" charset="-120"/>
              </a:rPr>
              <a:t>observable claims</a:t>
            </a:r>
            <a:endParaRPr lang="en-US" sz="1050" dirty="0"/>
          </a:p>
        </p:txBody>
      </p:sp>
      <p:sp>
        <p:nvSpPr>
          <p:cNvPr id="24" name="Shape 22"/>
          <p:cNvSpPr/>
          <p:nvPr/>
        </p:nvSpPr>
        <p:spPr>
          <a:xfrm>
            <a:off x="4553712" y="3776472"/>
            <a:ext cx="274320" cy="0"/>
          </a:xfrm>
          <a:prstGeom prst="line">
            <a:avLst/>
          </a:prstGeom>
          <a:noFill/>
          <a:ln w="12700">
            <a:solidFill>
              <a:srgbClr val="5C6A85"/>
            </a:solidFill>
            <a:prstDash val="solid"/>
            <a:tailEnd type="triangle"/>
          </a:ln>
        </p:spPr>
      </p:sp>
      <p:sp>
        <p:nvSpPr>
          <p:cNvPr id="25" name="Shape 23"/>
          <p:cNvSpPr/>
          <p:nvPr/>
        </p:nvSpPr>
        <p:spPr>
          <a:xfrm>
            <a:off x="4882896" y="3611880"/>
            <a:ext cx="1783080" cy="329184"/>
          </a:xfrm>
          <a:prstGeom prst="roundRect">
            <a:avLst>
              <a:gd name="adj" fmla="val 41667"/>
            </a:avLst>
          </a:prstGeom>
          <a:solidFill>
            <a:srgbClr val="0F3D3A"/>
          </a:solidFill>
          <a:ln w="7620">
            <a:solidFill>
              <a:srgbClr val="2DD4BF"/>
            </a:solidFill>
            <a:prstDash val="solid"/>
          </a:ln>
        </p:spPr>
      </p:sp>
      <p:sp>
        <p:nvSpPr>
          <p:cNvPr id="26" name="Text 24"/>
          <p:cNvSpPr txBox="1"/>
          <p:nvPr/>
        </p:nvSpPr>
        <p:spPr>
          <a:xfrm>
            <a:off x="4882896" y="3611880"/>
            <a:ext cx="1783080" cy="329184"/>
          </a:xfrm>
          <a:prstGeom prst="rect">
            <a:avLst/>
          </a:prstGeom>
          <a:noFill/>
          <a:ln/>
        </p:spPr>
        <p:txBody>
          <a:bodyPr wrap="square" lIns="0" tIns="0" rIns="0" bIns="0" rtlCol="0" anchor="ctr"/>
          <a:lstStyle/>
          <a:p>
            <a:pPr algn="ctr" indent="0" marL="0">
              <a:buNone/>
            </a:pPr>
            <a:r>
              <a:rPr lang="en-US" sz="1050" b="1" dirty="0">
                <a:solidFill>
                  <a:srgbClr val="2DD4BF"/>
                </a:solidFill>
                <a:latin typeface="Helvetica Neue" pitchFamily="34" charset="0"/>
                <a:ea typeface="Helvetica Neue" pitchFamily="34" charset="-122"/>
                <a:cs typeface="Helvetica Neue" pitchFamily="34" charset="-120"/>
              </a:rPr>
              <a:t>formal / proxy bound</a:t>
            </a:r>
            <a:endParaRPr lang="en-US" sz="1050" dirty="0"/>
          </a:p>
        </p:txBody>
      </p:sp>
      <p:sp>
        <p:nvSpPr>
          <p:cNvPr id="27" name="Shape 25"/>
          <p:cNvSpPr/>
          <p:nvPr/>
        </p:nvSpPr>
        <p:spPr>
          <a:xfrm>
            <a:off x="6720840" y="3776472"/>
            <a:ext cx="274320" cy="0"/>
          </a:xfrm>
          <a:prstGeom prst="line">
            <a:avLst/>
          </a:prstGeom>
          <a:noFill/>
          <a:ln w="12700">
            <a:solidFill>
              <a:srgbClr val="5C6A85"/>
            </a:solidFill>
            <a:prstDash val="solid"/>
            <a:tailEnd type="triangle"/>
          </a:ln>
        </p:spPr>
      </p:sp>
      <p:sp>
        <p:nvSpPr>
          <p:cNvPr id="28" name="Shape 26"/>
          <p:cNvSpPr/>
          <p:nvPr/>
        </p:nvSpPr>
        <p:spPr>
          <a:xfrm>
            <a:off x="7050024" y="3611880"/>
            <a:ext cx="1783080" cy="329184"/>
          </a:xfrm>
          <a:prstGeom prst="roundRect">
            <a:avLst>
              <a:gd name="adj" fmla="val 41667"/>
            </a:avLst>
          </a:prstGeom>
          <a:solidFill>
            <a:srgbClr val="18233A"/>
          </a:solidFill>
          <a:ln w="7620">
            <a:solidFill>
              <a:srgbClr val="93A0B8"/>
            </a:solidFill>
            <a:prstDash val="solid"/>
          </a:ln>
        </p:spPr>
      </p:sp>
      <p:sp>
        <p:nvSpPr>
          <p:cNvPr id="29" name="Text 27"/>
          <p:cNvSpPr txBox="1"/>
          <p:nvPr/>
        </p:nvSpPr>
        <p:spPr>
          <a:xfrm>
            <a:off x="7050024" y="3611880"/>
            <a:ext cx="1783080" cy="329184"/>
          </a:xfrm>
          <a:prstGeom prst="rect">
            <a:avLst/>
          </a:prstGeom>
          <a:noFill/>
          <a:ln/>
        </p:spPr>
        <p:txBody>
          <a:bodyPr wrap="square" lIns="0" tIns="0" rIns="0" bIns="0" rtlCol="0" anchor="ctr"/>
          <a:lstStyle/>
          <a:p>
            <a:pPr algn="ctr" indent="0" marL="0">
              <a:buNone/>
            </a:pPr>
            <a:r>
              <a:rPr lang="en-US" sz="1050" b="1" dirty="0">
                <a:solidFill>
                  <a:srgbClr val="93A0B8"/>
                </a:solidFill>
                <a:latin typeface="Helvetica Neue" pitchFamily="34" charset="0"/>
                <a:ea typeface="Helvetica Neue" pitchFamily="34" charset="-122"/>
                <a:cs typeface="Helvetica Neue" pitchFamily="34" charset="-120"/>
              </a:rPr>
              <a:t>runtime check</a:t>
            </a:r>
            <a:endParaRPr lang="en-US" sz="1050" dirty="0"/>
          </a:p>
        </p:txBody>
      </p:sp>
      <p:sp>
        <p:nvSpPr>
          <p:cNvPr id="30" name="Shape 28"/>
          <p:cNvSpPr/>
          <p:nvPr/>
        </p:nvSpPr>
        <p:spPr>
          <a:xfrm>
            <a:off x="8887968" y="3776472"/>
            <a:ext cx="274320" cy="0"/>
          </a:xfrm>
          <a:prstGeom prst="line">
            <a:avLst/>
          </a:prstGeom>
          <a:noFill/>
          <a:ln w="12700">
            <a:solidFill>
              <a:srgbClr val="5C6A85"/>
            </a:solidFill>
            <a:prstDash val="solid"/>
            <a:tailEnd type="triangle"/>
          </a:ln>
        </p:spPr>
      </p:sp>
      <p:sp>
        <p:nvSpPr>
          <p:cNvPr id="31" name="Shape 29"/>
          <p:cNvSpPr/>
          <p:nvPr/>
        </p:nvSpPr>
        <p:spPr>
          <a:xfrm>
            <a:off x="9217152" y="3611880"/>
            <a:ext cx="1783080" cy="329184"/>
          </a:xfrm>
          <a:prstGeom prst="roundRect">
            <a:avLst>
              <a:gd name="adj" fmla="val 41667"/>
            </a:avLst>
          </a:prstGeom>
          <a:solidFill>
            <a:srgbClr val="4A3410"/>
          </a:solidFill>
          <a:ln w="7620">
            <a:solidFill>
              <a:srgbClr val="F5A524"/>
            </a:solidFill>
            <a:prstDash val="solid"/>
          </a:ln>
        </p:spPr>
      </p:sp>
      <p:sp>
        <p:nvSpPr>
          <p:cNvPr id="32" name="Text 30"/>
          <p:cNvSpPr txBox="1"/>
          <p:nvPr/>
        </p:nvSpPr>
        <p:spPr>
          <a:xfrm>
            <a:off x="9217152" y="3611880"/>
            <a:ext cx="1783080" cy="329184"/>
          </a:xfrm>
          <a:prstGeom prst="rect">
            <a:avLst/>
          </a:prstGeom>
          <a:noFill/>
          <a:ln/>
        </p:spPr>
        <p:txBody>
          <a:bodyPr wrap="square" lIns="0" tIns="0" rIns="0" bIns="0" rtlCol="0" anchor="ctr"/>
          <a:lstStyle/>
          <a:p>
            <a:pPr algn="ctr" indent="0" marL="0">
              <a:buNone/>
            </a:pPr>
            <a:r>
              <a:rPr lang="en-US" sz="1050" b="1" dirty="0">
                <a:solidFill>
                  <a:srgbClr val="F5A524"/>
                </a:solidFill>
                <a:latin typeface="Helvetica Neue" pitchFamily="34" charset="0"/>
                <a:ea typeface="Helvetica Neue" pitchFamily="34" charset="-122"/>
                <a:cs typeface="Helvetica Neue" pitchFamily="34" charset="-120"/>
              </a:rPr>
              <a:t>V1–V5 verdict</a:t>
            </a:r>
            <a:endParaRPr lang="en-US" sz="1050" dirty="0"/>
          </a:p>
        </p:txBody>
      </p:sp>
      <p:sp>
        <p:nvSpPr>
          <p:cNvPr id="33" name="Text 31"/>
          <p:cNvSpPr txBox="1"/>
          <p:nvPr/>
        </p:nvSpPr>
        <p:spPr>
          <a:xfrm>
            <a:off x="548640" y="4572000"/>
            <a:ext cx="5029200" cy="640080"/>
          </a:xfrm>
          <a:prstGeom prst="rect">
            <a:avLst/>
          </a:prstGeom>
          <a:noFill/>
          <a:ln/>
        </p:spPr>
        <p:txBody>
          <a:bodyPr wrap="square" lIns="0" tIns="0" rIns="0" bIns="0" rtlCol="0" anchor="t"/>
          <a:lstStyle/>
          <a:p>
            <a:pPr algn="l" indent="0" marL="0">
              <a:buNone/>
            </a:pPr>
            <a:r>
              <a:rPr lang="en-US" sz="1500" b="1" dirty="0">
                <a:solidFill>
                  <a:srgbClr val="E9EEF6"/>
                </a:solidFill>
                <a:latin typeface="Helvetica Neue" pitchFamily="34" charset="0"/>
                <a:ea typeface="Helvetica Neue" pitchFamily="34" charset="-122"/>
                <a:cs typeface="Helvetica Neue" pitchFamily="34" charset="-120"/>
              </a:rPr>
              <a:t>Ravan Bilalov</a:t>
            </a:r>
            <a:endParaRPr lang="en-US" sz="1500" dirty="0"/>
          </a:p>
          <a:p>
            <a:pPr algn="l" indent="0" marL="0">
              <a:buNone/>
            </a:pPr>
            <a:r>
              <a:rPr lang="en-US" sz="1100" dirty="0">
                <a:solidFill>
                  <a:srgbClr val="93A0B8"/>
                </a:solidFill>
                <a:latin typeface="Helvetica Neue" pitchFamily="34" charset="0"/>
                <a:ea typeface="Helvetica Neue" pitchFamily="34" charset="-122"/>
                <a:cs typeface="Helvetica Neue" pitchFamily="34" charset="-120"/>
              </a:rPr>
              <a:t>Student ID 100003562</a:t>
            </a:r>
            <a:endParaRPr lang="en-US" sz="1500" dirty="0"/>
          </a:p>
        </p:txBody>
      </p:sp>
      <p:sp>
        <p:nvSpPr>
          <p:cNvPr id="34" name="Text 32"/>
          <p:cNvSpPr txBox="1"/>
          <p:nvPr/>
        </p:nvSpPr>
        <p:spPr>
          <a:xfrm>
            <a:off x="548640" y="5230368"/>
            <a:ext cx="7680960" cy="1097280"/>
          </a:xfrm>
          <a:prstGeom prst="rect">
            <a:avLst/>
          </a:prstGeom>
          <a:noFill/>
          <a:ln/>
        </p:spPr>
        <p:txBody>
          <a:bodyPr wrap="square" lIns="0" tIns="0" rIns="0" bIns="0" rtlCol="0" anchor="t"/>
          <a:lstStyle/>
          <a:p>
            <a:pPr algn="l" indent="0" marL="0">
              <a:buNone/>
            </a:pPr>
            <a:r>
              <a:rPr lang="en-US" sz="1150" b="1" dirty="0">
                <a:solidFill>
                  <a:srgbClr val="C7D0DE"/>
                </a:solidFill>
                <a:latin typeface="Helvetica Neue" pitchFamily="34" charset="0"/>
                <a:ea typeface="Helvetica Neue" pitchFamily="34" charset="-122"/>
                <a:cs typeface="Helvetica Neue" pitchFamily="34" charset="-120"/>
              </a:rPr>
              <a:t>SRH University Hamburg</a:t>
            </a:r>
            <a:endParaRPr lang="en-US" sz="1150" dirty="0"/>
          </a:p>
          <a:p>
            <a:pPr algn="l" indent="0" marL="0">
              <a:buNone/>
            </a:pPr>
            <a:r>
              <a:rPr lang="en-US" sz="1050" dirty="0">
                <a:solidFill>
                  <a:srgbClr val="93A0B8"/>
                </a:solidFill>
                <a:latin typeface="Helvetica Neue" pitchFamily="34" charset="0"/>
                <a:ea typeface="Helvetica Neue" pitchFamily="34" charset="-122"/>
                <a:cs typeface="Helvetica Neue" pitchFamily="34" charset="-120"/>
              </a:rPr>
              <a:t>in collaboration with the Faculty of Information Technology, Brno University of Technology (VUT)</a:t>
            </a:r>
            <a:endParaRPr lang="en-US" sz="1150" dirty="0"/>
          </a:p>
          <a:p>
            <a:pPr algn="l" indent="0" marL="0">
              <a:buNone/>
            </a:pPr>
            <a:r>
              <a:rPr lang="en-US" sz="600" dirty="0">
                <a:solidFill>
                  <a:srgbClr val="E9EEF6"/>
                </a:solidFill>
                <a:latin typeface="Helvetica Neue" pitchFamily="34" charset="0"/>
                <a:ea typeface="Helvetica Neue" pitchFamily="34" charset="-122"/>
                <a:cs typeface="Helvetica Neue" pitchFamily="34" charset="-120"/>
              </a:rPr>
              <a:t> </a:t>
            </a:r>
            <a:endParaRPr lang="en-US" sz="1150" dirty="0"/>
          </a:p>
          <a:p>
            <a:pPr algn="l" indent="0" marL="0">
              <a:buNone/>
            </a:pPr>
            <a:r>
              <a:rPr lang="en-US" sz="1050" dirty="0">
                <a:solidFill>
                  <a:srgbClr val="93A0B8"/>
                </a:solidFill>
                <a:latin typeface="Helvetica Neue" pitchFamily="34" charset="0"/>
                <a:ea typeface="Helvetica Neue" pitchFamily="34" charset="-122"/>
                <a:cs typeface="Helvetica Neue" pitchFamily="34" charset="-120"/>
              </a:rPr>
              <a:t>First supervisor  </a:t>
            </a:r>
            <a:pPr algn="l" indent="0" marL="0">
              <a:buNone/>
            </a:pPr>
            <a:r>
              <a:rPr lang="en-US" sz="1050" dirty="0">
                <a:solidFill>
                  <a:srgbClr val="C7D0DE"/>
                </a:solidFill>
                <a:latin typeface="Helvetica Neue" pitchFamily="34" charset="0"/>
                <a:ea typeface="Helvetica Neue" pitchFamily="34" charset="-122"/>
                <a:cs typeface="Helvetica Neue" pitchFamily="34" charset="-120"/>
              </a:rPr>
              <a:t>Prof. Dr. Gayan de Silva, SRH University Hamburg</a:t>
            </a:r>
            <a:endParaRPr lang="en-US" sz="1150" dirty="0"/>
          </a:p>
          <a:p>
            <a:pPr algn="l" indent="0" marL="0">
              <a:buNone/>
            </a:pPr>
            <a:r>
              <a:rPr lang="en-US" sz="1050" dirty="0">
                <a:solidFill>
                  <a:srgbClr val="93A0B8"/>
                </a:solidFill>
                <a:latin typeface="Helvetica Neue" pitchFamily="34" charset="0"/>
                <a:ea typeface="Helvetica Neue" pitchFamily="34" charset="-122"/>
                <a:cs typeface="Helvetica Neue" pitchFamily="34" charset="-120"/>
              </a:rPr>
              <a:t>Second supervisor  </a:t>
            </a:r>
            <a:pPr algn="l" indent="0" marL="0">
              <a:buNone/>
            </a:pPr>
            <a:r>
              <a:rPr lang="en-US" sz="1050" dirty="0">
                <a:solidFill>
                  <a:srgbClr val="C7D0DE"/>
                </a:solidFill>
                <a:latin typeface="Helvetica Neue" pitchFamily="34" charset="0"/>
                <a:ea typeface="Helvetica Neue" pitchFamily="34" charset="-122"/>
                <a:cs typeface="Helvetica Neue" pitchFamily="34" charset="-120"/>
              </a:rPr>
              <a:t>Assoc. Prof. Dr. Ondřej Ryšavý, FIT VUT Brno</a:t>
            </a:r>
            <a:endParaRPr lang="en-US" sz="1150" dirty="0"/>
          </a:p>
        </p:txBody>
      </p:sp>
      <p:sp>
        <p:nvSpPr>
          <p:cNvPr id="35" name="Text 33"/>
          <p:cNvSpPr txBox="1"/>
          <p:nvPr/>
        </p:nvSpPr>
        <p:spPr>
          <a:xfrm>
            <a:off x="8351215" y="4572000"/>
            <a:ext cx="3291840" cy="274320"/>
          </a:xfrm>
          <a:prstGeom prst="rect">
            <a:avLst/>
          </a:prstGeom>
          <a:noFill/>
          <a:ln/>
        </p:spPr>
        <p:txBody>
          <a:bodyPr wrap="square" lIns="0" tIns="0" rIns="0" bIns="0" rtlCol="0" anchor="t"/>
          <a:lstStyle/>
          <a:p>
            <a:pPr algn="r" indent="0" marL="0">
              <a:buNone/>
            </a:pPr>
            <a:r>
              <a:rPr lang="en-US" sz="1100" dirty="0">
                <a:solidFill>
                  <a:srgbClr val="93A0B8"/>
                </a:solidFill>
                <a:latin typeface="Helvetica Neue" pitchFamily="34" charset="0"/>
                <a:ea typeface="Helvetica Neue" pitchFamily="34" charset="-122"/>
                <a:cs typeface="Helvetica Neue" pitchFamily="34" charset="-120"/>
              </a:rPr>
              <a:t>Colloquium · 2026</a:t>
            </a:r>
            <a:endParaRPr lang="en-US" sz="1100" dirty="0"/>
          </a:p>
        </p:txBody>
      </p:sp>
      <p:sp>
        <p:nvSpPr>
          <p:cNvPr id="36" name="Text 34"/>
          <p:cNvSpPr txBox="1"/>
          <p:nvPr/>
        </p:nvSpPr>
        <p:spPr>
          <a:xfrm>
            <a:off x="7436815" y="4919472"/>
            <a:ext cx="4206240" cy="502920"/>
          </a:xfrm>
          <a:prstGeom prst="rect">
            <a:avLst/>
          </a:prstGeom>
          <a:noFill/>
          <a:ln/>
        </p:spPr>
        <p:txBody>
          <a:bodyPr wrap="square" lIns="0" tIns="0" rIns="0" bIns="0" rtlCol="0" anchor="t"/>
          <a:lstStyle/>
          <a:p>
            <a:pPr algn="r" indent="0" marL="0">
              <a:buNone/>
            </a:pPr>
            <a:r>
              <a:rPr lang="en-US" sz="900" dirty="0">
                <a:solidFill>
                  <a:srgbClr val="5C6A85"/>
                </a:solidFill>
                <a:latin typeface="Consolas" pitchFamily="34" charset="0"/>
                <a:ea typeface="Consolas" pitchFamily="34" charset="-122"/>
                <a:cs typeface="Consolas" pitchFamily="34" charset="-120"/>
              </a:rPr>
              <a:t>github.com/bilalovrevan/reasonguard</a:t>
            </a:r>
            <a:endParaRPr lang="en-US" sz="900" dirty="0"/>
          </a:p>
          <a:p>
            <a:pPr algn="r" indent="0" marL="0">
              <a:buNone/>
            </a:pPr>
            <a:r>
              <a:rPr lang="en-US" sz="900" dirty="0">
                <a:solidFill>
                  <a:srgbClr val="5C6A85"/>
                </a:solidFill>
                <a:latin typeface="Consolas" pitchFamily="34" charset="0"/>
                <a:ea typeface="Consolas" pitchFamily="34" charset="-122"/>
                <a:cs typeface="Consolas" pitchFamily="34" charset="-120"/>
              </a:rPr>
              <a:t>doi:10.5281/zenodo.22724731</a:t>
            </a:r>
            <a:endParaRPr lang="en-US" sz="9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indent="0" marL="0">
              <a:buNone/>
            </a:pPr>
            <a:r>
              <a:rPr lang="en-US" sz="1050" spc="200" kern="0" dirty="0">
                <a:solidFill>
                  <a:srgbClr val="2DD4BF"/>
                </a:solidFill>
                <a:latin typeface="Consolas" pitchFamily="34" charset="0"/>
                <a:ea typeface="Consolas" pitchFamily="34" charset="-122"/>
                <a:cs typeface="Consolas" pitchFamily="34" charset="-120"/>
              </a:rPr>
              <a:t>01 · THE PROBLEM</a:t>
            </a:r>
            <a:endParaRPr lang="en-US" sz="1050" dirty="0"/>
          </a:p>
        </p:txBody>
      </p:sp>
      <p:sp>
        <p:nvSpPr>
          <p:cNvPr id="3" name="Text 1"/>
          <p:cNvSpPr txBox="1"/>
          <p:nvPr/>
        </p:nvSpPr>
        <p:spPr>
          <a:xfrm>
            <a:off x="548640" y="603504"/>
            <a:ext cx="11094415" cy="566928"/>
          </a:xfrm>
          <a:prstGeom prst="rect">
            <a:avLst/>
          </a:prstGeom>
          <a:noFill/>
          <a:ln/>
        </p:spPr>
        <p:txBody>
          <a:bodyPr wrap="square" lIns="0" tIns="0" rIns="0" bIns="0" rtlCol="0" anchor="t"/>
          <a:lstStyle/>
          <a:p>
            <a:pPr indent="0" marL="0">
              <a:buNone/>
            </a:pPr>
            <a:r>
              <a:rPr lang="en-US" sz="2700" b="1" dirty="0">
                <a:solidFill>
                  <a:srgbClr val="E9EEF6"/>
                </a:solidFill>
                <a:latin typeface="Helvetica Neue" pitchFamily="34" charset="0"/>
                <a:ea typeface="Helvetica Neue" pitchFamily="34" charset="-122"/>
                <a:cs typeface="Helvetica Neue" pitchFamily="34" charset="-120"/>
              </a:rPr>
              <a:t>Fluent is not the same as faithful.</a:t>
            </a:r>
            <a:endParaRPr lang="en-US" sz="27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350" dirty="0">
                <a:solidFill>
                  <a:srgbClr val="93A0B8"/>
                </a:solidFill>
                <a:latin typeface="Helvetica Neue" pitchFamily="34" charset="0"/>
                <a:ea typeface="Helvetica Neue" pitchFamily="34" charset="-122"/>
                <a:cs typeface="Helvetica Neue" pitchFamily="34" charset="-120"/>
              </a:rPr>
              <a:t>An LLM can explain a formal detector's verdict convincingly — and still assert something the verdict never supports.</a:t>
            </a:r>
            <a:endParaRPr lang="en-US" sz="1350" dirty="0"/>
          </a:p>
        </p:txBody>
      </p:sp>
      <p:sp>
        <p:nvSpPr>
          <p:cNvPr id="5" name="Text 3"/>
          <p:cNvSpPr txBox="1"/>
          <p:nvPr/>
        </p:nvSpPr>
        <p:spPr>
          <a:xfrm>
            <a:off x="548640" y="6473952"/>
            <a:ext cx="8778240" cy="219456"/>
          </a:xfrm>
          <a:prstGeom prst="rect">
            <a:avLst/>
          </a:prstGeom>
          <a:noFill/>
          <a:ln/>
        </p:spPr>
        <p:txBody>
          <a:bodyPr wrap="square" lIns="0" tIns="0" rIns="0" bIns="0" rtlCol="0" anchor="ctr"/>
          <a:lstStyle/>
          <a:p>
            <a:pPr indent="0" marL="0">
              <a:buNone/>
            </a:pPr>
            <a:r>
              <a:rPr lang="en-US" sz="850" dirty="0">
                <a:solidFill>
                  <a:srgbClr val="5C6A85"/>
                </a:solidFill>
                <a:latin typeface="Helvetica Neue" pitchFamily="34" charset="0"/>
                <a:ea typeface="Helvetica Neue" pitchFamily="34" charset="-122"/>
                <a:cs typeface="Helvetica Neue" pitchFamily="34" charset="-120"/>
              </a:rPr>
              <a:t>ReasonGuard  ·  Runtime Verification of AI Reasoning Faithfulness  ·  R. Bilalov  ·  SRH University Hamburg / FIT VUT Brno</a:t>
            </a:r>
            <a:endParaRPr lang="en-US" sz="850" dirty="0"/>
          </a:p>
        </p:txBody>
      </p:sp>
      <p:sp>
        <p:nvSpPr>
          <p:cNvPr id="6" name="Text 4"/>
          <p:cNvSpPr txBox="1"/>
          <p:nvPr/>
        </p:nvSpPr>
        <p:spPr>
          <a:xfrm>
            <a:off x="548640" y="6272784"/>
            <a:ext cx="9997135" cy="201168"/>
          </a:xfrm>
          <a:prstGeom prst="rect">
            <a:avLst/>
          </a:prstGeom>
          <a:noFill/>
          <a:ln/>
        </p:spPr>
        <p:txBody>
          <a:bodyPr wrap="square" lIns="0" tIns="0" rIns="0" bIns="0" rtlCol="0" anchor="ctr"/>
          <a:lstStyle/>
          <a:p>
            <a:pPr indent="0" marL="0">
              <a:buNone/>
            </a:pPr>
            <a:r>
              <a:rPr lang="en-US" sz="850" i="1" dirty="0">
                <a:solidFill>
                  <a:srgbClr val="5C6A85"/>
                </a:solidFill>
                <a:latin typeface="Helvetica Neue" pitchFamily="34" charset="0"/>
                <a:ea typeface="Helvetica Neue" pitchFamily="34" charset="-122"/>
                <a:cs typeface="Helvetica Neue" pitchFamily="34" charset="-120"/>
              </a:rPr>
              <a:t>Example adapted from the thesis' worked example (§3.5.5, Listing 3.1). Hallucination/faithfulness distinction: Maynez et al. (2020).</a:t>
            </a:r>
            <a:endParaRPr lang="en-US" sz="850" dirty="0"/>
          </a:p>
        </p:txBody>
      </p:sp>
      <p:sp>
        <p:nvSpPr>
          <p:cNvPr id="7" name="Text 5"/>
          <p:cNvSpPr txBox="1"/>
          <p:nvPr/>
        </p:nvSpPr>
        <p:spPr>
          <a:xfrm>
            <a:off x="10545775" y="6473952"/>
            <a:ext cx="1097280" cy="219456"/>
          </a:xfrm>
          <a:prstGeom prst="rect">
            <a:avLst/>
          </a:prstGeom>
          <a:noFill/>
          <a:ln/>
        </p:spPr>
        <p:txBody>
          <a:bodyPr wrap="square" lIns="0" tIns="0" rIns="0" bIns="0" rtlCol="0" anchor="ctr"/>
          <a:lstStyle/>
          <a:p>
            <a:pPr algn="r" indent="0" marL="0">
              <a:buNone/>
            </a:pPr>
            <a:r>
              <a:rPr lang="en-US" sz="900" dirty="0">
                <a:solidFill>
                  <a:srgbClr val="5C6A85"/>
                </a:solidFill>
                <a:latin typeface="Consolas" pitchFamily="34" charset="0"/>
                <a:ea typeface="Consolas" pitchFamily="34" charset="-122"/>
                <a:cs typeface="Consolas" pitchFamily="34" charset="-120"/>
              </a:rPr>
              <a:t>2 / 18</a:t>
            </a:r>
            <a:endParaRPr lang="en-US" sz="900" dirty="0"/>
          </a:p>
        </p:txBody>
      </p:sp>
      <p:sp>
        <p:nvSpPr>
          <p:cNvPr id="8" name="Shape 6"/>
          <p:cNvSpPr/>
          <p:nvPr/>
        </p:nvSpPr>
        <p:spPr>
          <a:xfrm>
            <a:off x="548640" y="1783080"/>
            <a:ext cx="4480560" cy="3611880"/>
          </a:xfrm>
          <a:prstGeom prst="roundRect">
            <a:avLst>
              <a:gd name="adj" fmla="val 2025"/>
            </a:avLst>
          </a:prstGeom>
          <a:solidFill>
            <a:srgbClr val="121B2E"/>
          </a:solidFill>
          <a:ln w="9525">
            <a:solidFill>
              <a:srgbClr val="2A3752"/>
            </a:solidFill>
            <a:prstDash val="solid"/>
          </a:ln>
        </p:spPr>
      </p:sp>
      <p:sp>
        <p:nvSpPr>
          <p:cNvPr id="9" name="Text 7"/>
          <p:cNvSpPr txBox="1"/>
          <p:nvPr/>
        </p:nvSpPr>
        <p:spPr>
          <a:xfrm>
            <a:off x="777240" y="1965960"/>
            <a:ext cx="4023360" cy="228600"/>
          </a:xfrm>
          <a:prstGeom prst="rect">
            <a:avLst/>
          </a:prstGeom>
          <a:noFill/>
          <a:ln/>
        </p:spPr>
        <p:txBody>
          <a:bodyPr wrap="square" lIns="0" tIns="0" rIns="0" bIns="0" rtlCol="0" anchor="t"/>
          <a:lstStyle/>
          <a:p>
            <a:pPr algn="l" indent="0" marL="0">
              <a:buNone/>
            </a:pPr>
            <a:r>
              <a:rPr lang="en-US" sz="950" spc="100" kern="0" dirty="0">
                <a:solidFill>
                  <a:srgbClr val="2DD4BF"/>
                </a:solidFill>
                <a:latin typeface="Consolas" pitchFamily="34" charset="0"/>
                <a:ea typeface="Consolas" pitchFamily="34" charset="-122"/>
                <a:cs typeface="Consolas" pitchFamily="34" charset="-120"/>
              </a:rPr>
              <a:t>FORMAL BOUND  —  detector verdict, structured</a:t>
            </a:r>
            <a:endParaRPr lang="en-US" sz="950" dirty="0"/>
          </a:p>
        </p:txBody>
      </p:sp>
      <p:sp>
        <p:nvSpPr>
          <p:cNvPr id="10" name="Text 8"/>
          <p:cNvSpPr txBox="1"/>
          <p:nvPr/>
        </p:nvSpPr>
        <p:spPr>
          <a:xfrm>
            <a:off x="777240" y="2350008"/>
            <a:ext cx="2286000" cy="256032"/>
          </a:xfrm>
          <a:prstGeom prst="rect">
            <a:avLst/>
          </a:prstGeom>
          <a:noFill/>
          <a:ln/>
        </p:spPr>
        <p:txBody>
          <a:bodyPr wrap="square" lIns="0" tIns="0" rIns="0" bIns="0" rtlCol="0" anchor="t"/>
          <a:lstStyle/>
          <a:p>
            <a:pPr algn="l" indent="0" marL="0">
              <a:buNone/>
            </a:pPr>
            <a:r>
              <a:rPr lang="en-US" sz="900" dirty="0">
                <a:solidFill>
                  <a:srgbClr val="93A0B8"/>
                </a:solidFill>
                <a:latin typeface="Consolas" pitchFamily="34" charset="0"/>
                <a:ea typeface="Consolas" pitchFamily="34" charset="-122"/>
                <a:cs typeface="Consolas" pitchFamily="34" charset="-120"/>
              </a:rPr>
              <a:t>protocol_hint</a:t>
            </a:r>
            <a:endParaRPr lang="en-US" sz="900" dirty="0"/>
          </a:p>
        </p:txBody>
      </p:sp>
      <p:sp>
        <p:nvSpPr>
          <p:cNvPr id="11" name="Text 9"/>
          <p:cNvSpPr txBox="1"/>
          <p:nvPr/>
        </p:nvSpPr>
        <p:spPr>
          <a:xfrm>
            <a:off x="3017520" y="2350008"/>
            <a:ext cx="1828800" cy="256032"/>
          </a:xfrm>
          <a:prstGeom prst="rect">
            <a:avLst/>
          </a:prstGeom>
          <a:noFill/>
          <a:ln/>
        </p:spPr>
        <p:txBody>
          <a:bodyPr wrap="square" lIns="0" tIns="0" rIns="0" bIns="0" rtlCol="0" anchor="t"/>
          <a:lstStyle/>
          <a:p>
            <a:pPr algn="l" indent="0" marL="0">
              <a:buNone/>
            </a:pPr>
            <a:r>
              <a:rPr lang="en-US" sz="900" dirty="0">
                <a:solidFill>
                  <a:srgbClr val="E9EEF6"/>
                </a:solidFill>
                <a:latin typeface="Consolas" pitchFamily="34" charset="0"/>
                <a:ea typeface="Consolas" pitchFamily="34" charset="-122"/>
                <a:cs typeface="Consolas" pitchFamily="34" charset="-120"/>
              </a:rPr>
              <a:t>iec104</a:t>
            </a:r>
            <a:endParaRPr lang="en-US" sz="900" dirty="0"/>
          </a:p>
        </p:txBody>
      </p:sp>
      <p:sp>
        <p:nvSpPr>
          <p:cNvPr id="12" name="Text 10"/>
          <p:cNvSpPr txBox="1"/>
          <p:nvPr/>
        </p:nvSpPr>
        <p:spPr>
          <a:xfrm>
            <a:off x="777240" y="2624328"/>
            <a:ext cx="2286000" cy="256032"/>
          </a:xfrm>
          <a:prstGeom prst="rect">
            <a:avLst/>
          </a:prstGeom>
          <a:noFill/>
          <a:ln/>
        </p:spPr>
        <p:txBody>
          <a:bodyPr wrap="square" lIns="0" tIns="0" rIns="0" bIns="0" rtlCol="0" anchor="t"/>
          <a:lstStyle/>
          <a:p>
            <a:pPr algn="l" indent="0" marL="0">
              <a:buNone/>
            </a:pPr>
            <a:r>
              <a:rPr lang="en-US" sz="900" dirty="0">
                <a:solidFill>
                  <a:srgbClr val="93A0B8"/>
                </a:solidFill>
                <a:latin typeface="Consolas" pitchFamily="34" charset="0"/>
                <a:ea typeface="Consolas" pitchFamily="34" charset="-122"/>
                <a:cs typeface="Consolas" pitchFamily="34" charset="-120"/>
              </a:rPr>
              <a:t>direction</a:t>
            </a:r>
            <a:endParaRPr lang="en-US" sz="900" dirty="0"/>
          </a:p>
        </p:txBody>
      </p:sp>
      <p:sp>
        <p:nvSpPr>
          <p:cNvPr id="13" name="Text 11"/>
          <p:cNvSpPr txBox="1"/>
          <p:nvPr/>
        </p:nvSpPr>
        <p:spPr>
          <a:xfrm>
            <a:off x="3017520" y="2624328"/>
            <a:ext cx="1828800" cy="256032"/>
          </a:xfrm>
          <a:prstGeom prst="rect">
            <a:avLst/>
          </a:prstGeom>
          <a:noFill/>
          <a:ln/>
        </p:spPr>
        <p:txBody>
          <a:bodyPr wrap="square" lIns="0" tIns="0" rIns="0" bIns="0" rtlCol="0" anchor="t"/>
          <a:lstStyle/>
          <a:p>
            <a:pPr algn="l" indent="0" marL="0">
              <a:buNone/>
            </a:pPr>
            <a:r>
              <a:rPr lang="en-US" sz="900" dirty="0">
                <a:solidFill>
                  <a:srgbClr val="E9EEF6"/>
                </a:solidFill>
                <a:latin typeface="Consolas" pitchFamily="34" charset="0"/>
                <a:ea typeface="Consolas" pitchFamily="34" charset="-122"/>
                <a:cs typeface="Consolas" pitchFamily="34" charset="-120"/>
              </a:rPr>
              <a:t>client_to_server</a:t>
            </a:r>
            <a:endParaRPr lang="en-US" sz="900" dirty="0"/>
          </a:p>
        </p:txBody>
      </p:sp>
      <p:sp>
        <p:nvSpPr>
          <p:cNvPr id="14" name="Text 12"/>
          <p:cNvSpPr txBox="1"/>
          <p:nvPr/>
        </p:nvSpPr>
        <p:spPr>
          <a:xfrm>
            <a:off x="777240" y="2898648"/>
            <a:ext cx="2286000" cy="256032"/>
          </a:xfrm>
          <a:prstGeom prst="rect">
            <a:avLst/>
          </a:prstGeom>
          <a:noFill/>
          <a:ln/>
        </p:spPr>
        <p:txBody>
          <a:bodyPr wrap="square" lIns="0" tIns="0" rIns="0" bIns="0" rtlCol="0" anchor="t"/>
          <a:lstStyle/>
          <a:p>
            <a:pPr algn="l" indent="0" marL="0">
              <a:buNone/>
            </a:pPr>
            <a:r>
              <a:rPr lang="en-US" sz="900" dirty="0">
                <a:solidFill>
                  <a:srgbClr val="93A0B8"/>
                </a:solidFill>
                <a:latin typeface="Consolas" pitchFamily="34" charset="0"/>
                <a:ea typeface="Consolas" pitchFamily="34" charset="-122"/>
                <a:cs typeface="Consolas" pitchFamily="34" charset="-120"/>
              </a:rPr>
              <a:t>frame_type</a:t>
            </a:r>
            <a:endParaRPr lang="en-US" sz="900" dirty="0"/>
          </a:p>
        </p:txBody>
      </p:sp>
      <p:sp>
        <p:nvSpPr>
          <p:cNvPr id="15" name="Text 13"/>
          <p:cNvSpPr txBox="1"/>
          <p:nvPr/>
        </p:nvSpPr>
        <p:spPr>
          <a:xfrm>
            <a:off x="3017520" y="2898648"/>
            <a:ext cx="1828800" cy="256032"/>
          </a:xfrm>
          <a:prstGeom prst="rect">
            <a:avLst/>
          </a:prstGeom>
          <a:noFill/>
          <a:ln/>
        </p:spPr>
        <p:txBody>
          <a:bodyPr wrap="square" lIns="0" tIns="0" rIns="0" bIns="0" rtlCol="0" anchor="t"/>
          <a:lstStyle/>
          <a:p>
            <a:pPr algn="l" indent="0" marL="0">
              <a:buNone/>
            </a:pPr>
            <a:r>
              <a:rPr lang="en-US" sz="900" dirty="0">
                <a:solidFill>
                  <a:srgbClr val="E9EEF6"/>
                </a:solidFill>
                <a:latin typeface="Consolas" pitchFamily="34" charset="0"/>
                <a:ea typeface="Consolas" pitchFamily="34" charset="-122"/>
                <a:cs typeface="Consolas" pitchFamily="34" charset="-120"/>
              </a:rPr>
              <a:t>s_or_u_format_control</a:t>
            </a:r>
            <a:endParaRPr lang="en-US" sz="900" dirty="0"/>
          </a:p>
        </p:txBody>
      </p:sp>
      <p:sp>
        <p:nvSpPr>
          <p:cNvPr id="16" name="Text 14"/>
          <p:cNvSpPr txBox="1"/>
          <p:nvPr/>
        </p:nvSpPr>
        <p:spPr>
          <a:xfrm>
            <a:off x="777240" y="3172968"/>
            <a:ext cx="2286000" cy="256032"/>
          </a:xfrm>
          <a:prstGeom prst="rect">
            <a:avLst/>
          </a:prstGeom>
          <a:noFill/>
          <a:ln/>
        </p:spPr>
        <p:txBody>
          <a:bodyPr wrap="square" lIns="0" tIns="0" rIns="0" bIns="0" rtlCol="0" anchor="t"/>
          <a:lstStyle/>
          <a:p>
            <a:pPr algn="l" indent="0" marL="0">
              <a:buNone/>
            </a:pPr>
            <a:r>
              <a:rPr lang="en-US" sz="900" dirty="0">
                <a:solidFill>
                  <a:srgbClr val="93A0B8"/>
                </a:solidFill>
                <a:latin typeface="Consolas" pitchFamily="34" charset="0"/>
                <a:ea typeface="Consolas" pitchFamily="34" charset="-122"/>
                <a:cs typeface="Consolas" pitchFamily="34" charset="-120"/>
              </a:rPr>
              <a:t>source_id → destination_id</a:t>
            </a:r>
            <a:endParaRPr lang="en-US" sz="900" dirty="0"/>
          </a:p>
        </p:txBody>
      </p:sp>
      <p:sp>
        <p:nvSpPr>
          <p:cNvPr id="17" name="Text 15"/>
          <p:cNvSpPr txBox="1"/>
          <p:nvPr/>
        </p:nvSpPr>
        <p:spPr>
          <a:xfrm>
            <a:off x="3017520" y="3172968"/>
            <a:ext cx="1828800" cy="256032"/>
          </a:xfrm>
          <a:prstGeom prst="rect">
            <a:avLst/>
          </a:prstGeom>
          <a:noFill/>
          <a:ln/>
        </p:spPr>
        <p:txBody>
          <a:bodyPr wrap="square" lIns="0" tIns="0" rIns="0" bIns="0" rtlCol="0" anchor="t"/>
          <a:lstStyle/>
          <a:p>
            <a:pPr algn="l" indent="0" marL="0">
              <a:buNone/>
            </a:pPr>
            <a:r>
              <a:rPr lang="en-US" sz="900" dirty="0">
                <a:solidFill>
                  <a:srgbClr val="E9EEF6"/>
                </a:solidFill>
                <a:latin typeface="Consolas" pitchFamily="34" charset="0"/>
                <a:ea typeface="Consolas" pitchFamily="34" charset="-122"/>
                <a:cs typeface="Consolas" pitchFamily="34" charset="-120"/>
              </a:rPr>
              <a:t>1 → 2</a:t>
            </a:r>
            <a:endParaRPr lang="en-US" sz="900" dirty="0"/>
          </a:p>
        </p:txBody>
      </p:sp>
      <p:sp>
        <p:nvSpPr>
          <p:cNvPr id="18" name="Text 16"/>
          <p:cNvSpPr txBox="1"/>
          <p:nvPr/>
        </p:nvSpPr>
        <p:spPr>
          <a:xfrm>
            <a:off x="777240" y="3447288"/>
            <a:ext cx="2286000" cy="256032"/>
          </a:xfrm>
          <a:prstGeom prst="rect">
            <a:avLst/>
          </a:prstGeom>
          <a:noFill/>
          <a:ln/>
        </p:spPr>
        <p:txBody>
          <a:bodyPr wrap="square" lIns="0" tIns="0" rIns="0" bIns="0" rtlCol="0" anchor="t"/>
          <a:lstStyle/>
          <a:p>
            <a:pPr algn="l" indent="0" marL="0">
              <a:buNone/>
            </a:pPr>
            <a:r>
              <a:rPr lang="en-US" sz="900" dirty="0">
                <a:solidFill>
                  <a:srgbClr val="93A0B8"/>
                </a:solidFill>
                <a:latin typeface="Consolas" pitchFamily="34" charset="0"/>
                <a:ea typeface="Consolas" pitchFamily="34" charset="-122"/>
                <a:cs typeface="Consolas" pitchFamily="34" charset="-120"/>
              </a:rPr>
              <a:t>dstport</a:t>
            </a:r>
            <a:endParaRPr lang="en-US" sz="900" dirty="0"/>
          </a:p>
        </p:txBody>
      </p:sp>
      <p:sp>
        <p:nvSpPr>
          <p:cNvPr id="19" name="Text 17"/>
          <p:cNvSpPr txBox="1"/>
          <p:nvPr/>
        </p:nvSpPr>
        <p:spPr>
          <a:xfrm>
            <a:off x="3017520" y="3447288"/>
            <a:ext cx="1828800" cy="256032"/>
          </a:xfrm>
          <a:prstGeom prst="rect">
            <a:avLst/>
          </a:prstGeom>
          <a:noFill/>
          <a:ln/>
        </p:spPr>
        <p:txBody>
          <a:bodyPr wrap="square" lIns="0" tIns="0" rIns="0" bIns="0" rtlCol="0" anchor="t"/>
          <a:lstStyle/>
          <a:p>
            <a:pPr algn="l" indent="0" marL="0">
              <a:buNone/>
            </a:pPr>
            <a:r>
              <a:rPr lang="en-US" sz="900" dirty="0">
                <a:solidFill>
                  <a:srgbClr val="E9EEF6"/>
                </a:solidFill>
                <a:latin typeface="Consolas" pitchFamily="34" charset="0"/>
                <a:ea typeface="Consolas" pitchFamily="34" charset="-122"/>
                <a:cs typeface="Consolas" pitchFamily="34" charset="-120"/>
              </a:rPr>
              <a:t>2404</a:t>
            </a:r>
            <a:endParaRPr lang="en-US" sz="900" dirty="0"/>
          </a:p>
        </p:txBody>
      </p:sp>
      <p:sp>
        <p:nvSpPr>
          <p:cNvPr id="20" name="Text 18"/>
          <p:cNvSpPr txBox="1"/>
          <p:nvPr/>
        </p:nvSpPr>
        <p:spPr>
          <a:xfrm>
            <a:off x="777240" y="3721608"/>
            <a:ext cx="2286000" cy="256032"/>
          </a:xfrm>
          <a:prstGeom prst="rect">
            <a:avLst/>
          </a:prstGeom>
          <a:noFill/>
          <a:ln/>
        </p:spPr>
        <p:txBody>
          <a:bodyPr wrap="square" lIns="0" tIns="0" rIns="0" bIns="0" rtlCol="0" anchor="t"/>
          <a:lstStyle/>
          <a:p>
            <a:pPr algn="l" indent="0" marL="0">
              <a:buNone/>
            </a:pPr>
            <a:r>
              <a:rPr lang="en-US" sz="900" dirty="0">
                <a:solidFill>
                  <a:srgbClr val="93A0B8"/>
                </a:solidFill>
                <a:latin typeface="Consolas" pitchFamily="34" charset="0"/>
                <a:ea typeface="Consolas" pitchFamily="34" charset="-122"/>
                <a:cs typeface="Consolas" pitchFamily="34" charset="-120"/>
              </a:rPr>
              <a:t>asdu_type / cot / items</a:t>
            </a:r>
            <a:endParaRPr lang="en-US" sz="900" dirty="0"/>
          </a:p>
        </p:txBody>
      </p:sp>
      <p:sp>
        <p:nvSpPr>
          <p:cNvPr id="21" name="Text 19"/>
          <p:cNvSpPr txBox="1"/>
          <p:nvPr/>
        </p:nvSpPr>
        <p:spPr>
          <a:xfrm>
            <a:off x="3017520" y="3721608"/>
            <a:ext cx="1828800" cy="256032"/>
          </a:xfrm>
          <a:prstGeom prst="rect">
            <a:avLst/>
          </a:prstGeom>
          <a:noFill/>
          <a:ln/>
        </p:spPr>
        <p:txBody>
          <a:bodyPr wrap="square" lIns="0" tIns="0" rIns="0" bIns="0" rtlCol="0" anchor="t"/>
          <a:lstStyle/>
          <a:p>
            <a:pPr algn="l" indent="0" marL="0">
              <a:buNone/>
            </a:pPr>
            <a:r>
              <a:rPr lang="en-US" sz="900" dirty="0">
                <a:solidFill>
                  <a:srgbClr val="E9EEF6"/>
                </a:solidFill>
                <a:latin typeface="Consolas" pitchFamily="34" charset="0"/>
                <a:ea typeface="Consolas" pitchFamily="34" charset="-122"/>
                <a:cs typeface="Consolas" pitchFamily="34" charset="-120"/>
              </a:rPr>
              <a:t>0 / 0 / 0</a:t>
            </a:r>
            <a:endParaRPr lang="en-US" sz="900" dirty="0"/>
          </a:p>
        </p:txBody>
      </p:sp>
      <p:sp>
        <p:nvSpPr>
          <p:cNvPr id="22" name="Text 20"/>
          <p:cNvSpPr txBox="1"/>
          <p:nvPr/>
        </p:nvSpPr>
        <p:spPr>
          <a:xfrm>
            <a:off x="777240" y="3995928"/>
            <a:ext cx="2286000" cy="256032"/>
          </a:xfrm>
          <a:prstGeom prst="rect">
            <a:avLst/>
          </a:prstGeom>
          <a:noFill/>
          <a:ln/>
        </p:spPr>
        <p:txBody>
          <a:bodyPr wrap="square" lIns="0" tIns="0" rIns="0" bIns="0" rtlCol="0" anchor="t"/>
          <a:lstStyle/>
          <a:p>
            <a:pPr algn="l" indent="0" marL="0">
              <a:buNone/>
            </a:pPr>
            <a:r>
              <a:rPr lang="en-US" sz="900" dirty="0">
                <a:solidFill>
                  <a:srgbClr val="93A0B8"/>
                </a:solidFill>
                <a:latin typeface="Consolas" pitchFamily="34" charset="0"/>
                <a:ea typeface="Consolas" pitchFamily="34" charset="-122"/>
                <a:cs typeface="Consolas" pitchFamily="34" charset="-120"/>
              </a:rPr>
              <a:t>formal_class_status</a:t>
            </a:r>
            <a:endParaRPr lang="en-US" sz="900" dirty="0"/>
          </a:p>
        </p:txBody>
      </p:sp>
      <p:sp>
        <p:nvSpPr>
          <p:cNvPr id="23" name="Text 21"/>
          <p:cNvSpPr txBox="1"/>
          <p:nvPr/>
        </p:nvSpPr>
        <p:spPr>
          <a:xfrm>
            <a:off x="3017520" y="3995928"/>
            <a:ext cx="1828800" cy="256032"/>
          </a:xfrm>
          <a:prstGeom prst="rect">
            <a:avLst/>
          </a:prstGeom>
          <a:noFill/>
          <a:ln/>
        </p:spPr>
        <p:txBody>
          <a:bodyPr wrap="square" lIns="0" tIns="0" rIns="0" bIns="0" rtlCol="0" anchor="t"/>
          <a:lstStyle/>
          <a:p>
            <a:pPr algn="l" indent="0" marL="0">
              <a:buNone/>
            </a:pPr>
            <a:r>
              <a:rPr lang="en-US" sz="900" dirty="0">
                <a:solidFill>
                  <a:srgbClr val="E9EEF6"/>
                </a:solidFill>
                <a:latin typeface="Consolas" pitchFamily="34" charset="0"/>
                <a:ea typeface="Consolas" pitchFamily="34" charset="-122"/>
                <a:cs typeface="Consolas" pitchFamily="34" charset="-120"/>
              </a:rPr>
              <a:t>proxy · not ground truth</a:t>
            </a:r>
            <a:endParaRPr lang="en-US" sz="900" dirty="0"/>
          </a:p>
        </p:txBody>
      </p:sp>
      <p:sp>
        <p:nvSpPr>
          <p:cNvPr id="24" name="Text 22"/>
          <p:cNvSpPr txBox="1"/>
          <p:nvPr/>
        </p:nvSpPr>
        <p:spPr>
          <a:xfrm>
            <a:off x="777240" y="4270248"/>
            <a:ext cx="2286000" cy="256032"/>
          </a:xfrm>
          <a:prstGeom prst="rect">
            <a:avLst/>
          </a:prstGeom>
          <a:noFill/>
          <a:ln/>
        </p:spPr>
        <p:txBody>
          <a:bodyPr wrap="square" lIns="0" tIns="0" rIns="0" bIns="0" rtlCol="0" anchor="t"/>
          <a:lstStyle/>
          <a:p>
            <a:pPr algn="l" indent="0" marL="0">
              <a:buNone/>
            </a:pPr>
            <a:r>
              <a:rPr lang="en-US" sz="900" dirty="0">
                <a:solidFill>
                  <a:srgbClr val="93A0B8"/>
                </a:solidFill>
                <a:latin typeface="Consolas" pitchFamily="34" charset="0"/>
                <a:ea typeface="Consolas" pitchFamily="34" charset="-122"/>
                <a:cs typeface="Consolas" pitchFamily="34" charset="-120"/>
              </a:rPr>
              <a:t>machine_constraints</a:t>
            </a:r>
            <a:endParaRPr lang="en-US" sz="900" dirty="0"/>
          </a:p>
        </p:txBody>
      </p:sp>
      <p:sp>
        <p:nvSpPr>
          <p:cNvPr id="25" name="Text 23"/>
          <p:cNvSpPr txBox="1"/>
          <p:nvPr/>
        </p:nvSpPr>
        <p:spPr>
          <a:xfrm>
            <a:off x="3017520" y="4270248"/>
            <a:ext cx="1828800" cy="256032"/>
          </a:xfrm>
          <a:prstGeom prst="rect">
            <a:avLst/>
          </a:prstGeom>
          <a:noFill/>
          <a:ln/>
        </p:spPr>
        <p:txBody>
          <a:bodyPr wrap="square" lIns="0" tIns="0" rIns="0" bIns="0" rtlCol="0" anchor="t"/>
          <a:lstStyle/>
          <a:p>
            <a:pPr algn="l" indent="0" marL="0">
              <a:buNone/>
            </a:pPr>
            <a:endParaRPr lang="en-US" sz="900" dirty="0"/>
          </a:p>
        </p:txBody>
      </p:sp>
      <p:sp>
        <p:nvSpPr>
          <p:cNvPr id="26" name="Text 24"/>
          <p:cNvSpPr txBox="1"/>
          <p:nvPr/>
        </p:nvSpPr>
        <p:spPr>
          <a:xfrm>
            <a:off x="777240" y="4544568"/>
            <a:ext cx="2286000" cy="256032"/>
          </a:xfrm>
          <a:prstGeom prst="rect">
            <a:avLst/>
          </a:prstGeom>
          <a:noFill/>
          <a:ln/>
        </p:spPr>
        <p:txBody>
          <a:bodyPr wrap="square" lIns="0" tIns="0" rIns="0" bIns="0" rtlCol="0" anchor="t"/>
          <a:lstStyle/>
          <a:p>
            <a:pPr algn="l" indent="0" marL="0">
              <a:buNone/>
            </a:pPr>
            <a:r>
              <a:rPr lang="en-US" sz="900" dirty="0">
                <a:solidFill>
                  <a:srgbClr val="F5A524"/>
                </a:solidFill>
                <a:latin typeface="Consolas" pitchFamily="34" charset="0"/>
                <a:ea typeface="Consolas" pitchFamily="34" charset="-122"/>
                <a:cs typeface="Consolas" pitchFamily="34" charset="-120"/>
              </a:rPr>
              <a:t>  attack_claim_allowed</a:t>
            </a:r>
            <a:endParaRPr lang="en-US" sz="900" dirty="0"/>
          </a:p>
        </p:txBody>
      </p:sp>
      <p:sp>
        <p:nvSpPr>
          <p:cNvPr id="27" name="Text 25"/>
          <p:cNvSpPr txBox="1"/>
          <p:nvPr/>
        </p:nvSpPr>
        <p:spPr>
          <a:xfrm>
            <a:off x="3017520" y="4544568"/>
            <a:ext cx="1828800" cy="256032"/>
          </a:xfrm>
          <a:prstGeom prst="rect">
            <a:avLst/>
          </a:prstGeom>
          <a:noFill/>
          <a:ln/>
        </p:spPr>
        <p:txBody>
          <a:bodyPr wrap="square" lIns="0" tIns="0" rIns="0" bIns="0" rtlCol="0" anchor="t"/>
          <a:lstStyle/>
          <a:p>
            <a:pPr algn="l" indent="0" marL="0">
              <a:buNone/>
            </a:pPr>
            <a:r>
              <a:rPr lang="en-US" sz="900" b="1" dirty="0">
                <a:solidFill>
                  <a:srgbClr val="F5A524"/>
                </a:solidFill>
                <a:latin typeface="Consolas" pitchFamily="34" charset="0"/>
                <a:ea typeface="Consolas" pitchFamily="34" charset="-122"/>
                <a:cs typeface="Consolas" pitchFamily="34" charset="-120"/>
              </a:rPr>
              <a:t>false</a:t>
            </a:r>
            <a:endParaRPr lang="en-US" sz="900" dirty="0"/>
          </a:p>
        </p:txBody>
      </p:sp>
      <p:sp>
        <p:nvSpPr>
          <p:cNvPr id="28" name="Text 26"/>
          <p:cNvSpPr txBox="1"/>
          <p:nvPr/>
        </p:nvSpPr>
        <p:spPr>
          <a:xfrm>
            <a:off x="777240" y="4818888"/>
            <a:ext cx="2286000" cy="256032"/>
          </a:xfrm>
          <a:prstGeom prst="rect">
            <a:avLst/>
          </a:prstGeom>
          <a:noFill/>
          <a:ln/>
        </p:spPr>
        <p:txBody>
          <a:bodyPr wrap="square" lIns="0" tIns="0" rIns="0" bIns="0" rtlCol="0" anchor="t"/>
          <a:lstStyle/>
          <a:p>
            <a:pPr algn="l" indent="0" marL="0">
              <a:buNone/>
            </a:pPr>
            <a:r>
              <a:rPr lang="en-US" sz="900" dirty="0">
                <a:solidFill>
                  <a:srgbClr val="F5A524"/>
                </a:solidFill>
                <a:latin typeface="Consolas" pitchFamily="34" charset="0"/>
                <a:ea typeface="Consolas" pitchFamily="34" charset="-122"/>
                <a:cs typeface="Consolas" pitchFamily="34" charset="-120"/>
              </a:rPr>
              <a:t>  malicious_claim_allowed</a:t>
            </a:r>
            <a:endParaRPr lang="en-US" sz="900" dirty="0"/>
          </a:p>
        </p:txBody>
      </p:sp>
      <p:sp>
        <p:nvSpPr>
          <p:cNvPr id="29" name="Text 27"/>
          <p:cNvSpPr txBox="1"/>
          <p:nvPr/>
        </p:nvSpPr>
        <p:spPr>
          <a:xfrm>
            <a:off x="3017520" y="4818888"/>
            <a:ext cx="1828800" cy="256032"/>
          </a:xfrm>
          <a:prstGeom prst="rect">
            <a:avLst/>
          </a:prstGeom>
          <a:noFill/>
          <a:ln/>
        </p:spPr>
        <p:txBody>
          <a:bodyPr wrap="square" lIns="0" tIns="0" rIns="0" bIns="0" rtlCol="0" anchor="t"/>
          <a:lstStyle/>
          <a:p>
            <a:pPr algn="l" indent="0" marL="0">
              <a:buNone/>
            </a:pPr>
            <a:r>
              <a:rPr lang="en-US" sz="900" b="1" dirty="0">
                <a:solidFill>
                  <a:srgbClr val="F5A524"/>
                </a:solidFill>
                <a:latin typeface="Consolas" pitchFamily="34" charset="0"/>
                <a:ea typeface="Consolas" pitchFamily="34" charset="-122"/>
                <a:cs typeface="Consolas" pitchFamily="34" charset="-120"/>
              </a:rPr>
              <a:t>false</a:t>
            </a:r>
            <a:endParaRPr lang="en-US" sz="900" dirty="0"/>
          </a:p>
        </p:txBody>
      </p:sp>
      <p:sp>
        <p:nvSpPr>
          <p:cNvPr id="30" name="Shape 28"/>
          <p:cNvSpPr/>
          <p:nvPr/>
        </p:nvSpPr>
        <p:spPr>
          <a:xfrm>
            <a:off x="5120640" y="3566160"/>
            <a:ext cx="548640" cy="0"/>
          </a:xfrm>
          <a:prstGeom prst="line">
            <a:avLst/>
          </a:prstGeom>
          <a:noFill/>
          <a:ln w="19050">
            <a:solidFill>
              <a:srgbClr val="93A0B8"/>
            </a:solidFill>
            <a:prstDash val="solid"/>
            <a:tailEnd type="triangle"/>
          </a:ln>
        </p:spPr>
      </p:sp>
      <p:sp>
        <p:nvSpPr>
          <p:cNvPr id="31" name="Text 29"/>
          <p:cNvSpPr txBox="1"/>
          <p:nvPr/>
        </p:nvSpPr>
        <p:spPr>
          <a:xfrm>
            <a:off x="5138928" y="3218688"/>
            <a:ext cx="548640" cy="274320"/>
          </a:xfrm>
          <a:prstGeom prst="rect">
            <a:avLst/>
          </a:prstGeom>
          <a:noFill/>
          <a:ln/>
        </p:spPr>
        <p:txBody>
          <a:bodyPr wrap="square" lIns="0" tIns="0" rIns="0" bIns="0" rtlCol="0" anchor="t"/>
          <a:lstStyle/>
          <a:p>
            <a:pPr algn="ctr" indent="0" marL="0">
              <a:buNone/>
            </a:pPr>
            <a:r>
              <a:rPr lang="en-US" sz="950" dirty="0">
                <a:solidFill>
                  <a:srgbClr val="93A0B8"/>
                </a:solidFill>
                <a:latin typeface="Consolas" pitchFamily="34" charset="0"/>
                <a:ea typeface="Consolas" pitchFamily="34" charset="-122"/>
                <a:cs typeface="Consolas" pitchFamily="34" charset="-120"/>
              </a:rPr>
              <a:t>LLM</a:t>
            </a:r>
            <a:endParaRPr lang="en-US" sz="950" dirty="0"/>
          </a:p>
        </p:txBody>
      </p:sp>
      <p:sp>
        <p:nvSpPr>
          <p:cNvPr id="32" name="Shape 30"/>
          <p:cNvSpPr/>
          <p:nvPr/>
        </p:nvSpPr>
        <p:spPr>
          <a:xfrm>
            <a:off x="5806440" y="1783080"/>
            <a:ext cx="5836615" cy="3611880"/>
          </a:xfrm>
          <a:prstGeom prst="roundRect">
            <a:avLst>
              <a:gd name="adj" fmla="val 2025"/>
            </a:avLst>
          </a:prstGeom>
          <a:solidFill>
            <a:srgbClr val="121B2E"/>
          </a:solidFill>
          <a:ln w="9525">
            <a:solidFill>
              <a:srgbClr val="2A3752"/>
            </a:solidFill>
            <a:prstDash val="solid"/>
          </a:ln>
        </p:spPr>
      </p:sp>
      <p:sp>
        <p:nvSpPr>
          <p:cNvPr id="33" name="Text 31"/>
          <p:cNvSpPr txBox="1"/>
          <p:nvPr/>
        </p:nvSpPr>
        <p:spPr>
          <a:xfrm>
            <a:off x="6035040" y="1965960"/>
            <a:ext cx="5379415" cy="228600"/>
          </a:xfrm>
          <a:prstGeom prst="rect">
            <a:avLst/>
          </a:prstGeom>
          <a:noFill/>
          <a:ln/>
        </p:spPr>
        <p:txBody>
          <a:bodyPr wrap="square" lIns="0" tIns="0" rIns="0" bIns="0" rtlCol="0" anchor="t"/>
          <a:lstStyle/>
          <a:p>
            <a:pPr algn="l" indent="0" marL="0">
              <a:buNone/>
            </a:pPr>
            <a:r>
              <a:rPr lang="en-US" sz="950" spc="100" kern="0" dirty="0">
                <a:solidFill>
                  <a:srgbClr val="2DD4BF"/>
                </a:solidFill>
                <a:latin typeface="Consolas" pitchFamily="34" charset="0"/>
                <a:ea typeface="Consolas" pitchFamily="34" charset="-122"/>
                <a:cs typeface="Consolas" pitchFamily="34" charset="-120"/>
              </a:rPr>
              <a:t>LLM EXPLANATION  —  fluent, professional, four sentences</a:t>
            </a:r>
            <a:endParaRPr lang="en-US" sz="950" dirty="0"/>
          </a:p>
        </p:txBody>
      </p:sp>
      <p:sp>
        <p:nvSpPr>
          <p:cNvPr id="34" name="Text 32"/>
          <p:cNvSpPr txBox="1"/>
          <p:nvPr/>
        </p:nvSpPr>
        <p:spPr>
          <a:xfrm>
            <a:off x="6035040" y="2350008"/>
            <a:ext cx="274320" cy="566928"/>
          </a:xfrm>
          <a:prstGeom prst="rect">
            <a:avLst/>
          </a:prstGeom>
          <a:noFill/>
          <a:ln/>
        </p:spPr>
        <p:txBody>
          <a:bodyPr wrap="square" lIns="0" tIns="0" rIns="0" bIns="0" rtlCol="0" anchor="t"/>
          <a:lstStyle/>
          <a:p>
            <a:pPr algn="l" indent="0" marL="0">
              <a:buNone/>
            </a:pPr>
            <a:r>
              <a:rPr lang="en-US" sz="1100" dirty="0">
                <a:solidFill>
                  <a:srgbClr val="5C6A85"/>
                </a:solidFill>
                <a:latin typeface="Consolas" pitchFamily="34" charset="0"/>
                <a:ea typeface="Consolas" pitchFamily="34" charset="-122"/>
                <a:cs typeface="Consolas" pitchFamily="34" charset="-120"/>
              </a:rPr>
              <a:t>1.</a:t>
            </a:r>
            <a:endParaRPr lang="en-US" sz="1100" dirty="0"/>
          </a:p>
        </p:txBody>
      </p:sp>
      <p:sp>
        <p:nvSpPr>
          <p:cNvPr id="35" name="Text 33"/>
          <p:cNvSpPr txBox="1"/>
          <p:nvPr/>
        </p:nvSpPr>
        <p:spPr>
          <a:xfrm>
            <a:off x="6309360" y="2350008"/>
            <a:ext cx="4007815" cy="566928"/>
          </a:xfrm>
          <a:prstGeom prst="rect">
            <a:avLst/>
          </a:prstGeom>
          <a:noFill/>
          <a:ln/>
        </p:spPr>
        <p:txBody>
          <a:bodyPr wrap="square" lIns="0" tIns="0" rIns="0" bIns="0" rtlCol="0" anchor="t"/>
          <a:lstStyle/>
          <a:p>
            <a:pPr algn="l" indent="0" marL="0">
              <a:buNone/>
            </a:pPr>
            <a:r>
              <a:rPr lang="en-US" sz="1150" i="1" dirty="0">
                <a:solidFill>
                  <a:srgbClr val="C7D0DE"/>
                </a:solidFill>
                <a:latin typeface="Helvetica Neue" pitchFamily="34" charset="0"/>
                <a:ea typeface="Helvetica Neue" pitchFamily="34" charset="-122"/>
                <a:cs typeface="Helvetica Neue" pitchFamily="34" charset="-120"/>
              </a:rPr>
              <a:t>“This is an IEC-104 control frame sent from the source with identifier 1 to the destination with identifier 2.”</a:t>
            </a:r>
            <a:endParaRPr lang="en-US" sz="1150" dirty="0"/>
          </a:p>
        </p:txBody>
      </p:sp>
      <p:sp>
        <p:nvSpPr>
          <p:cNvPr id="36" name="Shape 34"/>
          <p:cNvSpPr/>
          <p:nvPr/>
        </p:nvSpPr>
        <p:spPr>
          <a:xfrm>
            <a:off x="10362895" y="2368296"/>
            <a:ext cx="1097280" cy="237744"/>
          </a:xfrm>
          <a:prstGeom prst="roundRect">
            <a:avLst>
              <a:gd name="adj" fmla="val 57692"/>
            </a:avLst>
          </a:prstGeom>
          <a:solidFill>
            <a:srgbClr val="0F3D3A"/>
          </a:solidFill>
          <a:ln w="7620">
            <a:solidFill>
              <a:srgbClr val="2DD4BF"/>
            </a:solidFill>
            <a:prstDash val="solid"/>
          </a:ln>
        </p:spPr>
      </p:sp>
      <p:sp>
        <p:nvSpPr>
          <p:cNvPr id="37" name="Text 35"/>
          <p:cNvSpPr txBox="1"/>
          <p:nvPr/>
        </p:nvSpPr>
        <p:spPr>
          <a:xfrm>
            <a:off x="10362895" y="2368296"/>
            <a:ext cx="1097280" cy="237744"/>
          </a:xfrm>
          <a:prstGeom prst="rect">
            <a:avLst/>
          </a:prstGeom>
          <a:noFill/>
          <a:ln/>
        </p:spPr>
        <p:txBody>
          <a:bodyPr wrap="square" lIns="0" tIns="0" rIns="0" bIns="0" rtlCol="0" anchor="ctr"/>
          <a:lstStyle/>
          <a:p>
            <a:pPr algn="ctr" indent="0" marL="0">
              <a:buNone/>
            </a:pPr>
            <a:r>
              <a:rPr lang="en-US" sz="850" b="1" dirty="0">
                <a:solidFill>
                  <a:srgbClr val="2DD4BF"/>
                </a:solidFill>
                <a:latin typeface="Consolas" pitchFamily="34" charset="0"/>
                <a:ea typeface="Consolas" pitchFamily="34" charset="-122"/>
                <a:cs typeface="Consolas" pitchFamily="34" charset="-120"/>
              </a:rPr>
              <a:t>SUPPORTED</a:t>
            </a:r>
            <a:endParaRPr lang="en-US" sz="850" dirty="0"/>
          </a:p>
        </p:txBody>
      </p:sp>
      <p:sp>
        <p:nvSpPr>
          <p:cNvPr id="38" name="Text 36"/>
          <p:cNvSpPr txBox="1"/>
          <p:nvPr/>
        </p:nvSpPr>
        <p:spPr>
          <a:xfrm>
            <a:off x="6035040" y="3044952"/>
            <a:ext cx="274320" cy="384048"/>
          </a:xfrm>
          <a:prstGeom prst="rect">
            <a:avLst/>
          </a:prstGeom>
          <a:noFill/>
          <a:ln/>
        </p:spPr>
        <p:txBody>
          <a:bodyPr wrap="square" lIns="0" tIns="0" rIns="0" bIns="0" rtlCol="0" anchor="t"/>
          <a:lstStyle/>
          <a:p>
            <a:pPr algn="l" indent="0" marL="0">
              <a:buNone/>
            </a:pPr>
            <a:r>
              <a:rPr lang="en-US" sz="1100" dirty="0">
                <a:solidFill>
                  <a:srgbClr val="5C6A85"/>
                </a:solidFill>
                <a:latin typeface="Consolas" pitchFamily="34" charset="0"/>
                <a:ea typeface="Consolas" pitchFamily="34" charset="-122"/>
                <a:cs typeface="Consolas" pitchFamily="34" charset="-120"/>
              </a:rPr>
              <a:t>2.</a:t>
            </a:r>
            <a:endParaRPr lang="en-US" sz="1100" dirty="0"/>
          </a:p>
        </p:txBody>
      </p:sp>
      <p:sp>
        <p:nvSpPr>
          <p:cNvPr id="39" name="Text 37"/>
          <p:cNvSpPr txBox="1"/>
          <p:nvPr/>
        </p:nvSpPr>
        <p:spPr>
          <a:xfrm>
            <a:off x="6309360" y="3044952"/>
            <a:ext cx="4007815" cy="384048"/>
          </a:xfrm>
          <a:prstGeom prst="rect">
            <a:avLst/>
          </a:prstGeom>
          <a:noFill/>
          <a:ln/>
        </p:spPr>
        <p:txBody>
          <a:bodyPr wrap="square" lIns="0" tIns="0" rIns="0" bIns="0" rtlCol="0" anchor="t"/>
          <a:lstStyle/>
          <a:p>
            <a:pPr algn="l" indent="0" marL="0">
              <a:buNone/>
            </a:pPr>
            <a:r>
              <a:rPr lang="en-US" sz="1150" i="1" dirty="0">
                <a:solidFill>
                  <a:srgbClr val="C7D0DE"/>
                </a:solidFill>
                <a:latin typeface="Helvetica Neue" pitchFamily="34" charset="0"/>
                <a:ea typeface="Helvetica Neue" pitchFamily="34" charset="-122"/>
                <a:cs typeface="Helvetica Neue" pitchFamily="34" charset="-120"/>
              </a:rPr>
              <a:t>“Its ASDU fields are all zeros.”</a:t>
            </a:r>
            <a:endParaRPr lang="en-US" sz="1150" dirty="0"/>
          </a:p>
        </p:txBody>
      </p:sp>
      <p:sp>
        <p:nvSpPr>
          <p:cNvPr id="40" name="Shape 38"/>
          <p:cNvSpPr/>
          <p:nvPr/>
        </p:nvSpPr>
        <p:spPr>
          <a:xfrm>
            <a:off x="10362895" y="3063240"/>
            <a:ext cx="1097280" cy="237744"/>
          </a:xfrm>
          <a:prstGeom prst="roundRect">
            <a:avLst>
              <a:gd name="adj" fmla="val 57692"/>
            </a:avLst>
          </a:prstGeom>
          <a:solidFill>
            <a:srgbClr val="0F3D3A"/>
          </a:solidFill>
          <a:ln w="7620">
            <a:solidFill>
              <a:srgbClr val="2DD4BF"/>
            </a:solidFill>
            <a:prstDash val="solid"/>
          </a:ln>
        </p:spPr>
      </p:sp>
      <p:sp>
        <p:nvSpPr>
          <p:cNvPr id="41" name="Text 39"/>
          <p:cNvSpPr txBox="1"/>
          <p:nvPr/>
        </p:nvSpPr>
        <p:spPr>
          <a:xfrm>
            <a:off x="10362895" y="3063240"/>
            <a:ext cx="1097280" cy="237744"/>
          </a:xfrm>
          <a:prstGeom prst="rect">
            <a:avLst/>
          </a:prstGeom>
          <a:noFill/>
          <a:ln/>
        </p:spPr>
        <p:txBody>
          <a:bodyPr wrap="square" lIns="0" tIns="0" rIns="0" bIns="0" rtlCol="0" anchor="ctr"/>
          <a:lstStyle/>
          <a:p>
            <a:pPr algn="ctr" indent="0" marL="0">
              <a:buNone/>
            </a:pPr>
            <a:r>
              <a:rPr lang="en-US" sz="850" b="1" dirty="0">
                <a:solidFill>
                  <a:srgbClr val="2DD4BF"/>
                </a:solidFill>
                <a:latin typeface="Consolas" pitchFamily="34" charset="0"/>
                <a:ea typeface="Consolas" pitchFamily="34" charset="-122"/>
                <a:cs typeface="Consolas" pitchFamily="34" charset="-120"/>
              </a:rPr>
              <a:t>SUPPORTED</a:t>
            </a:r>
            <a:endParaRPr lang="en-US" sz="850" dirty="0"/>
          </a:p>
        </p:txBody>
      </p:sp>
      <p:sp>
        <p:nvSpPr>
          <p:cNvPr id="42" name="Text 40"/>
          <p:cNvSpPr txBox="1"/>
          <p:nvPr/>
        </p:nvSpPr>
        <p:spPr>
          <a:xfrm>
            <a:off x="6035040" y="3557016"/>
            <a:ext cx="274320" cy="384048"/>
          </a:xfrm>
          <a:prstGeom prst="rect">
            <a:avLst/>
          </a:prstGeom>
          <a:noFill/>
          <a:ln/>
        </p:spPr>
        <p:txBody>
          <a:bodyPr wrap="square" lIns="0" tIns="0" rIns="0" bIns="0" rtlCol="0" anchor="t"/>
          <a:lstStyle/>
          <a:p>
            <a:pPr algn="l" indent="0" marL="0">
              <a:buNone/>
            </a:pPr>
            <a:r>
              <a:rPr lang="en-US" sz="1100" dirty="0">
                <a:solidFill>
                  <a:srgbClr val="5C6A85"/>
                </a:solidFill>
                <a:latin typeface="Consolas" pitchFamily="34" charset="0"/>
                <a:ea typeface="Consolas" pitchFamily="34" charset="-122"/>
                <a:cs typeface="Consolas" pitchFamily="34" charset="-120"/>
              </a:rPr>
              <a:t>3.</a:t>
            </a:r>
            <a:endParaRPr lang="en-US" sz="1100" dirty="0"/>
          </a:p>
        </p:txBody>
      </p:sp>
      <p:sp>
        <p:nvSpPr>
          <p:cNvPr id="43" name="Text 41"/>
          <p:cNvSpPr txBox="1"/>
          <p:nvPr/>
        </p:nvSpPr>
        <p:spPr>
          <a:xfrm>
            <a:off x="6309360" y="3557016"/>
            <a:ext cx="4007815" cy="384048"/>
          </a:xfrm>
          <a:prstGeom prst="rect">
            <a:avLst/>
          </a:prstGeom>
          <a:noFill/>
          <a:ln/>
        </p:spPr>
        <p:txBody>
          <a:bodyPr wrap="square" lIns="0" tIns="0" rIns="0" bIns="0" rtlCol="0" anchor="t"/>
          <a:lstStyle/>
          <a:p>
            <a:pPr algn="l" indent="0" marL="0">
              <a:buNone/>
            </a:pPr>
            <a:r>
              <a:rPr lang="en-US" sz="1150" i="1" dirty="0">
                <a:solidFill>
                  <a:srgbClr val="C7D0DE"/>
                </a:solidFill>
                <a:latin typeface="Helvetica Neue" pitchFamily="34" charset="0"/>
                <a:ea typeface="Helvetica Neue" pitchFamily="34" charset="-122"/>
                <a:cs typeface="Helvetica Neue" pitchFamily="34" charset="-120"/>
              </a:rPr>
              <a:t>“The frame was observed in traffic on port 2404.”</a:t>
            </a:r>
            <a:endParaRPr lang="en-US" sz="1150" dirty="0"/>
          </a:p>
        </p:txBody>
      </p:sp>
      <p:sp>
        <p:nvSpPr>
          <p:cNvPr id="44" name="Shape 42"/>
          <p:cNvSpPr/>
          <p:nvPr/>
        </p:nvSpPr>
        <p:spPr>
          <a:xfrm>
            <a:off x="10362895" y="3575304"/>
            <a:ext cx="1097280" cy="237744"/>
          </a:xfrm>
          <a:prstGeom prst="roundRect">
            <a:avLst>
              <a:gd name="adj" fmla="val 57692"/>
            </a:avLst>
          </a:prstGeom>
          <a:solidFill>
            <a:srgbClr val="0F3D3A"/>
          </a:solidFill>
          <a:ln w="7620">
            <a:solidFill>
              <a:srgbClr val="2DD4BF"/>
            </a:solidFill>
            <a:prstDash val="solid"/>
          </a:ln>
        </p:spPr>
      </p:sp>
      <p:sp>
        <p:nvSpPr>
          <p:cNvPr id="45" name="Text 43"/>
          <p:cNvSpPr txBox="1"/>
          <p:nvPr/>
        </p:nvSpPr>
        <p:spPr>
          <a:xfrm>
            <a:off x="10362895" y="3575304"/>
            <a:ext cx="1097280" cy="237744"/>
          </a:xfrm>
          <a:prstGeom prst="rect">
            <a:avLst/>
          </a:prstGeom>
          <a:noFill/>
          <a:ln/>
        </p:spPr>
        <p:txBody>
          <a:bodyPr wrap="square" lIns="0" tIns="0" rIns="0" bIns="0" rtlCol="0" anchor="ctr"/>
          <a:lstStyle/>
          <a:p>
            <a:pPr algn="ctr" indent="0" marL="0">
              <a:buNone/>
            </a:pPr>
            <a:r>
              <a:rPr lang="en-US" sz="850" b="1" dirty="0">
                <a:solidFill>
                  <a:srgbClr val="2DD4BF"/>
                </a:solidFill>
                <a:latin typeface="Consolas" pitchFamily="34" charset="0"/>
                <a:ea typeface="Consolas" pitchFamily="34" charset="-122"/>
                <a:cs typeface="Consolas" pitchFamily="34" charset="-120"/>
              </a:rPr>
              <a:t>SUPPORTED</a:t>
            </a:r>
            <a:endParaRPr lang="en-US" sz="850" dirty="0"/>
          </a:p>
        </p:txBody>
      </p:sp>
      <p:sp>
        <p:nvSpPr>
          <p:cNvPr id="46" name="Shape 44"/>
          <p:cNvSpPr/>
          <p:nvPr/>
        </p:nvSpPr>
        <p:spPr>
          <a:xfrm>
            <a:off x="5943600" y="4014216"/>
            <a:ext cx="5562295" cy="402336"/>
          </a:xfrm>
          <a:prstGeom prst="rect">
            <a:avLst/>
          </a:prstGeom>
          <a:solidFill>
            <a:srgbClr val="231A22"/>
          </a:solidFill>
          <a:ln w="9525">
            <a:solidFill>
              <a:srgbClr val="F0605E"/>
            </a:solidFill>
            <a:prstDash val="solid"/>
          </a:ln>
        </p:spPr>
      </p:sp>
      <p:sp>
        <p:nvSpPr>
          <p:cNvPr id="47" name="Text 45"/>
          <p:cNvSpPr txBox="1"/>
          <p:nvPr/>
        </p:nvSpPr>
        <p:spPr>
          <a:xfrm>
            <a:off x="6035040" y="4069080"/>
            <a:ext cx="274320" cy="384048"/>
          </a:xfrm>
          <a:prstGeom prst="rect">
            <a:avLst/>
          </a:prstGeom>
          <a:noFill/>
          <a:ln/>
        </p:spPr>
        <p:txBody>
          <a:bodyPr wrap="square" lIns="0" tIns="0" rIns="0" bIns="0" rtlCol="0" anchor="t"/>
          <a:lstStyle/>
          <a:p>
            <a:pPr algn="l" indent="0" marL="0">
              <a:buNone/>
            </a:pPr>
            <a:r>
              <a:rPr lang="en-US" sz="1100" dirty="0">
                <a:solidFill>
                  <a:srgbClr val="5C6A85"/>
                </a:solidFill>
                <a:latin typeface="Consolas" pitchFamily="34" charset="0"/>
                <a:ea typeface="Consolas" pitchFamily="34" charset="-122"/>
                <a:cs typeface="Consolas" pitchFamily="34" charset="-120"/>
              </a:rPr>
              <a:t>4.</a:t>
            </a:r>
            <a:endParaRPr lang="en-US" sz="1100" dirty="0"/>
          </a:p>
        </p:txBody>
      </p:sp>
      <p:sp>
        <p:nvSpPr>
          <p:cNvPr id="48" name="Text 46"/>
          <p:cNvSpPr txBox="1"/>
          <p:nvPr/>
        </p:nvSpPr>
        <p:spPr>
          <a:xfrm>
            <a:off x="6309360" y="4069080"/>
            <a:ext cx="4007815" cy="384048"/>
          </a:xfrm>
          <a:prstGeom prst="rect">
            <a:avLst/>
          </a:prstGeom>
          <a:noFill/>
          <a:ln/>
        </p:spPr>
        <p:txBody>
          <a:bodyPr wrap="square" lIns="0" tIns="0" rIns="0" bIns="0" rtlCol="0" anchor="t"/>
          <a:lstStyle/>
          <a:p>
            <a:pPr algn="l" indent="0" marL="0">
              <a:buNone/>
            </a:pPr>
            <a:r>
              <a:rPr lang="en-US" sz="1150" b="1" i="1" dirty="0">
                <a:solidFill>
                  <a:srgbClr val="E9EEF6"/>
                </a:solidFill>
                <a:latin typeface="Helvetica Neue" pitchFamily="34" charset="0"/>
                <a:ea typeface="Helvetica Neue" pitchFamily="34" charset="-122"/>
                <a:cs typeface="Helvetica Neue" pitchFamily="34" charset="-120"/>
              </a:rPr>
              <a:t>“This looks like a replay attack.”</a:t>
            </a:r>
            <a:endParaRPr lang="en-US" sz="1150" dirty="0"/>
          </a:p>
        </p:txBody>
      </p:sp>
      <p:sp>
        <p:nvSpPr>
          <p:cNvPr id="49" name="Shape 47"/>
          <p:cNvSpPr/>
          <p:nvPr/>
        </p:nvSpPr>
        <p:spPr>
          <a:xfrm>
            <a:off x="10362895" y="4087368"/>
            <a:ext cx="1097280" cy="237744"/>
          </a:xfrm>
          <a:prstGeom prst="roundRect">
            <a:avLst>
              <a:gd name="adj" fmla="val 57692"/>
            </a:avLst>
          </a:prstGeom>
          <a:solidFill>
            <a:srgbClr val="4A1F1F"/>
          </a:solidFill>
          <a:ln w="7620">
            <a:solidFill>
              <a:srgbClr val="F0605E"/>
            </a:solidFill>
            <a:prstDash val="solid"/>
          </a:ln>
        </p:spPr>
      </p:sp>
      <p:sp>
        <p:nvSpPr>
          <p:cNvPr id="50" name="Text 48"/>
          <p:cNvSpPr txBox="1"/>
          <p:nvPr/>
        </p:nvSpPr>
        <p:spPr>
          <a:xfrm>
            <a:off x="10362895" y="4087368"/>
            <a:ext cx="1097280" cy="237744"/>
          </a:xfrm>
          <a:prstGeom prst="rect">
            <a:avLst/>
          </a:prstGeom>
          <a:noFill/>
          <a:ln/>
        </p:spPr>
        <p:txBody>
          <a:bodyPr wrap="square" lIns="0" tIns="0" rIns="0" bIns="0" rtlCol="0" anchor="ctr"/>
          <a:lstStyle/>
          <a:p>
            <a:pPr algn="ctr" indent="0" marL="0">
              <a:buNone/>
            </a:pPr>
            <a:r>
              <a:rPr lang="en-US" sz="850" b="1" dirty="0">
                <a:solidFill>
                  <a:srgbClr val="F0605E"/>
                </a:solidFill>
                <a:latin typeface="Consolas" pitchFamily="34" charset="0"/>
                <a:ea typeface="Consolas" pitchFamily="34" charset="-122"/>
                <a:cs typeface="Consolas" pitchFamily="34" charset="-120"/>
              </a:rPr>
              <a:t>UNSUPPORTED</a:t>
            </a:r>
            <a:endParaRPr lang="en-US" sz="850" dirty="0"/>
          </a:p>
        </p:txBody>
      </p:sp>
      <p:sp>
        <p:nvSpPr>
          <p:cNvPr id="51" name="Text 49"/>
          <p:cNvSpPr txBox="1"/>
          <p:nvPr/>
        </p:nvSpPr>
        <p:spPr>
          <a:xfrm>
            <a:off x="6309360" y="4626864"/>
            <a:ext cx="5105095" cy="640080"/>
          </a:xfrm>
          <a:prstGeom prst="rect">
            <a:avLst/>
          </a:prstGeom>
          <a:noFill/>
          <a:ln/>
        </p:spPr>
        <p:txBody>
          <a:bodyPr wrap="square" lIns="0" tIns="0" rIns="0" bIns="0" rtlCol="0" anchor="t"/>
          <a:lstStyle/>
          <a:p>
            <a:pPr algn="l" indent="0" marL="0">
              <a:buNone/>
            </a:pPr>
            <a:r>
              <a:rPr lang="en-US" sz="1100" dirty="0">
                <a:solidFill>
                  <a:srgbClr val="93A0B8"/>
                </a:solidFill>
                <a:latin typeface="Helvetica Neue" pitchFamily="34" charset="0"/>
                <a:ea typeface="Helvetica Neue" pitchFamily="34" charset="-122"/>
                <a:cs typeface="Helvetica Neue" pitchFamily="34" charset="-120"/>
              </a:rPr>
              <a:t>No support in the bound: </a:t>
            </a:r>
            <a:pPr algn="l" indent="0" marL="0">
              <a:buNone/>
            </a:pPr>
            <a:r>
              <a:rPr lang="en-US" sz="1050" dirty="0">
                <a:solidFill>
                  <a:srgbClr val="F5A524"/>
                </a:solidFill>
                <a:latin typeface="Consolas" pitchFamily="34" charset="0"/>
                <a:ea typeface="Consolas" pitchFamily="34" charset="-122"/>
                <a:cs typeface="Consolas" pitchFamily="34" charset="-120"/>
              </a:rPr>
              <a:t>attack_claim_allowed = false</a:t>
            </a:r>
            <a:endParaRPr lang="en-US" sz="1100" dirty="0"/>
          </a:p>
          <a:p>
            <a:pPr algn="l" indent="0" marL="0">
              <a:buNone/>
            </a:pPr>
            <a:r>
              <a:rPr lang="en-US" sz="1100" dirty="0">
                <a:solidFill>
                  <a:srgbClr val="93A0B8"/>
                </a:solidFill>
                <a:latin typeface="Helvetica Neue" pitchFamily="34" charset="0"/>
                <a:ea typeface="Helvetica Neue" pitchFamily="34" charset="-122"/>
                <a:cs typeface="Helvetica Neue" pitchFamily="34" charset="-120"/>
              </a:rPr>
              <a:t>→  </a:t>
            </a:r>
            <a:pPr algn="l" indent="0" marL="0">
              <a:buNone/>
            </a:pPr>
            <a:r>
              <a:rPr lang="en-US" sz="1150" b="1" dirty="0">
                <a:solidFill>
                  <a:srgbClr val="F0605E"/>
                </a:solidFill>
                <a:latin typeface="Helvetica Neue" pitchFamily="34" charset="0"/>
                <a:ea typeface="Helvetica Neue" pitchFamily="34" charset="-122"/>
                <a:cs typeface="Helvetica Neue" pitchFamily="34" charset="-120"/>
              </a:rPr>
              <a:t>V1 Fabricated reasoning</a:t>
            </a:r>
            <a:pPr algn="l" indent="0" marL="0">
              <a:buNone/>
            </a:pPr>
            <a:r>
              <a:rPr lang="en-US" sz="1100" dirty="0">
                <a:solidFill>
                  <a:srgbClr val="93A0B8"/>
                </a:solidFill>
                <a:latin typeface="Helvetica Neue" pitchFamily="34" charset="0"/>
                <a:ea typeface="Helvetica Neue" pitchFamily="34" charset="-122"/>
                <a:cs typeface="Helvetica Neue" pitchFamily="34" charset="-120"/>
              </a:rPr>
              <a:t>   severity </a:t>
            </a:r>
            <a:pPr algn="l" indent="0" marL="0">
              <a:buNone/>
            </a:pPr>
            <a:r>
              <a:rPr lang="en-US" sz="1150" b="1" dirty="0">
                <a:solidFill>
                  <a:srgbClr val="F0605E"/>
                </a:solidFill>
                <a:latin typeface="Helvetica Neue" pitchFamily="34" charset="0"/>
                <a:ea typeface="Helvetica Neue" pitchFamily="34" charset="-122"/>
                <a:cs typeface="Helvetica Neue" pitchFamily="34" charset="-120"/>
              </a:rPr>
              <a:t>HIGH</a:t>
            </a:r>
            <a:endParaRPr lang="en-US" sz="1100" dirty="0"/>
          </a:p>
        </p:txBody>
      </p:sp>
      <p:sp>
        <p:nvSpPr>
          <p:cNvPr id="52" name="Shape 50"/>
          <p:cNvSpPr/>
          <p:nvPr/>
        </p:nvSpPr>
        <p:spPr>
          <a:xfrm>
            <a:off x="548640" y="5532120"/>
            <a:ext cx="11094415" cy="603504"/>
          </a:xfrm>
          <a:prstGeom prst="roundRect">
            <a:avLst>
              <a:gd name="adj" fmla="val 12121"/>
            </a:avLst>
          </a:prstGeom>
          <a:solidFill>
            <a:srgbClr val="18233A"/>
          </a:solidFill>
          <a:ln w="9525">
            <a:solidFill>
              <a:srgbClr val="1E2A42"/>
            </a:solidFill>
            <a:prstDash val="solid"/>
          </a:ln>
        </p:spPr>
      </p:sp>
      <p:sp>
        <p:nvSpPr>
          <p:cNvPr id="53" name="Text 51"/>
          <p:cNvSpPr txBox="1"/>
          <p:nvPr/>
        </p:nvSpPr>
        <p:spPr>
          <a:xfrm>
            <a:off x="822960" y="5532120"/>
            <a:ext cx="10545775" cy="603504"/>
          </a:xfrm>
          <a:prstGeom prst="rect">
            <a:avLst/>
          </a:prstGeom>
          <a:noFill/>
          <a:ln/>
        </p:spPr>
        <p:txBody>
          <a:bodyPr wrap="square" lIns="0" tIns="0" rIns="0" bIns="0" rtlCol="0" anchor="ctr"/>
          <a:lstStyle/>
          <a:p>
            <a:pPr algn="l" indent="0" marL="0">
              <a:buNone/>
            </a:pPr>
            <a:r>
              <a:rPr lang="en-US" sz="1250" b="1" dirty="0">
                <a:solidFill>
                  <a:srgbClr val="E9EEF6"/>
                </a:solidFill>
                <a:latin typeface="Helvetica Neue" pitchFamily="34" charset="0"/>
                <a:ea typeface="Helvetica Neue" pitchFamily="34" charset="-122"/>
                <a:cs typeface="Helvetica Neue" pitchFamily="34" charset="-120"/>
              </a:rPr>
              <a:t>The operator acts on the explanation — but only the verdict carries a guarantee. </a:t>
            </a:r>
            <a:pPr algn="l" indent="0" marL="0">
              <a:buNone/>
            </a:pPr>
            <a:r>
              <a:rPr lang="en-US" sz="1250" dirty="0">
                <a:solidFill>
                  <a:srgbClr val="93A0B8"/>
                </a:solidFill>
                <a:latin typeface="Helvetica Neue" pitchFamily="34" charset="0"/>
                <a:ea typeface="Helvetica Neue" pitchFamily="34" charset="-122"/>
                <a:cs typeface="Helvetica Neue" pitchFamily="34" charset="-120"/>
              </a:rPr>
              <a:t>In a plain LLM pipeline nothing checks one against the other.</a:t>
            </a:r>
            <a:endParaRPr lang="en-US" sz="12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indent="0" marL="0">
              <a:buNone/>
            </a:pPr>
            <a:r>
              <a:rPr lang="en-US" sz="1050" spc="200" kern="0" dirty="0">
                <a:solidFill>
                  <a:srgbClr val="2DD4BF"/>
                </a:solidFill>
                <a:latin typeface="Consolas" pitchFamily="34" charset="0"/>
                <a:ea typeface="Consolas" pitchFamily="34" charset="-122"/>
                <a:cs typeface="Consolas" pitchFamily="34" charset="-120"/>
              </a:rPr>
              <a:t>02 · WHY IT MATTERS</a:t>
            </a:r>
            <a:endParaRPr lang="en-US" sz="1050" dirty="0"/>
          </a:p>
        </p:txBody>
      </p:sp>
      <p:sp>
        <p:nvSpPr>
          <p:cNvPr id="3" name="Text 1"/>
          <p:cNvSpPr txBox="1"/>
          <p:nvPr/>
        </p:nvSpPr>
        <p:spPr>
          <a:xfrm>
            <a:off x="548640" y="603504"/>
            <a:ext cx="11094415" cy="566928"/>
          </a:xfrm>
          <a:prstGeom prst="rect">
            <a:avLst/>
          </a:prstGeom>
          <a:noFill/>
          <a:ln/>
        </p:spPr>
        <p:txBody>
          <a:bodyPr wrap="square" lIns="0" tIns="0" rIns="0" bIns="0" rtlCol="0" anchor="t"/>
          <a:lstStyle/>
          <a:p>
            <a:pPr indent="0" marL="0">
              <a:buNone/>
            </a:pPr>
            <a:r>
              <a:rPr lang="en-US" sz="2350" b="1" dirty="0">
                <a:solidFill>
                  <a:srgbClr val="E9EEF6"/>
                </a:solidFill>
                <a:latin typeface="Helvetica Neue" pitchFamily="34" charset="0"/>
                <a:ea typeface="Helvetica Neue" pitchFamily="34" charset="-122"/>
                <a:cs typeface="Helvetica Neue" pitchFamily="34" charset="-120"/>
              </a:rPr>
              <a:t>Existing faithfulness evaluation is offline and probabilistic</a:t>
            </a:r>
            <a:endParaRPr lang="en-US" sz="235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350" dirty="0">
                <a:solidFill>
                  <a:srgbClr val="93A0B8"/>
                </a:solidFill>
                <a:latin typeface="Helvetica Neue" pitchFamily="34" charset="0"/>
                <a:ea typeface="Helvetica Neue" pitchFamily="34" charset="-122"/>
                <a:cs typeface="Helvetica Neue" pitchFamily="34" charset="-120"/>
              </a:rPr>
              <a:t>Operators in a control room consume explanations one at a time. A safety-critical setting needs a per-explanation, deterministic, categorical check — before the text is shown.</a:t>
            </a:r>
            <a:endParaRPr lang="en-US" sz="1350" dirty="0"/>
          </a:p>
        </p:txBody>
      </p:sp>
      <p:sp>
        <p:nvSpPr>
          <p:cNvPr id="5" name="Text 3"/>
          <p:cNvSpPr txBox="1"/>
          <p:nvPr/>
        </p:nvSpPr>
        <p:spPr>
          <a:xfrm>
            <a:off x="548640" y="6473952"/>
            <a:ext cx="8778240" cy="219456"/>
          </a:xfrm>
          <a:prstGeom prst="rect">
            <a:avLst/>
          </a:prstGeom>
          <a:noFill/>
          <a:ln/>
        </p:spPr>
        <p:txBody>
          <a:bodyPr wrap="square" lIns="0" tIns="0" rIns="0" bIns="0" rtlCol="0" anchor="ctr"/>
          <a:lstStyle/>
          <a:p>
            <a:pPr indent="0" marL="0">
              <a:buNone/>
            </a:pPr>
            <a:r>
              <a:rPr lang="en-US" sz="850" dirty="0">
                <a:solidFill>
                  <a:srgbClr val="5C6A85"/>
                </a:solidFill>
                <a:latin typeface="Helvetica Neue" pitchFamily="34" charset="0"/>
                <a:ea typeface="Helvetica Neue" pitchFamily="34" charset="-122"/>
                <a:cs typeface="Helvetica Neue" pitchFamily="34" charset="-120"/>
              </a:rPr>
              <a:t>ReasonGuard  ·  Runtime Verification of AI Reasoning Faithfulness  ·  R. Bilalov  ·  SRH University Hamburg / FIT VUT Brno</a:t>
            </a:r>
            <a:endParaRPr lang="en-US" sz="850" dirty="0"/>
          </a:p>
        </p:txBody>
      </p:sp>
      <p:sp>
        <p:nvSpPr>
          <p:cNvPr id="6" name="Text 4"/>
          <p:cNvSpPr txBox="1"/>
          <p:nvPr/>
        </p:nvSpPr>
        <p:spPr>
          <a:xfrm>
            <a:off x="548640" y="6272784"/>
            <a:ext cx="9997135" cy="201168"/>
          </a:xfrm>
          <a:prstGeom prst="rect">
            <a:avLst/>
          </a:prstGeom>
          <a:noFill/>
          <a:ln/>
        </p:spPr>
        <p:txBody>
          <a:bodyPr wrap="square" lIns="0" tIns="0" rIns="0" bIns="0" rtlCol="0" anchor="ctr"/>
          <a:lstStyle/>
          <a:p>
            <a:pPr indent="0" marL="0">
              <a:buNone/>
            </a:pPr>
            <a:r>
              <a:rPr lang="en-US" sz="850" i="1" dirty="0">
                <a:solidFill>
                  <a:srgbClr val="5C6A85"/>
                </a:solidFill>
                <a:latin typeface="Helvetica Neue" pitchFamily="34" charset="0"/>
                <a:ea typeface="Helvetica Neue" pitchFamily="34" charset="-122"/>
                <a:cs typeface="Helvetica Neue" pitchFamily="34" charset="-120"/>
              </a:rPr>
              <a:t>Maynez et al. (2020); Min et al. (2023) FActScore; Honovich et al. (2022) TRUE; Regulation (EU) 2024/1689 (AI Act), Annex III(2), Art. 13, Art. 17.</a:t>
            </a:r>
            <a:endParaRPr lang="en-US" sz="850" dirty="0"/>
          </a:p>
        </p:txBody>
      </p:sp>
      <p:sp>
        <p:nvSpPr>
          <p:cNvPr id="7" name="Text 5"/>
          <p:cNvSpPr txBox="1"/>
          <p:nvPr/>
        </p:nvSpPr>
        <p:spPr>
          <a:xfrm>
            <a:off x="10545775" y="6473952"/>
            <a:ext cx="1097280" cy="219456"/>
          </a:xfrm>
          <a:prstGeom prst="rect">
            <a:avLst/>
          </a:prstGeom>
          <a:noFill/>
          <a:ln/>
        </p:spPr>
        <p:txBody>
          <a:bodyPr wrap="square" lIns="0" tIns="0" rIns="0" bIns="0" rtlCol="0" anchor="ctr"/>
          <a:lstStyle/>
          <a:p>
            <a:pPr algn="r" indent="0" marL="0">
              <a:buNone/>
            </a:pPr>
            <a:r>
              <a:rPr lang="en-US" sz="900" dirty="0">
                <a:solidFill>
                  <a:srgbClr val="5C6A85"/>
                </a:solidFill>
                <a:latin typeface="Consolas" pitchFamily="34" charset="0"/>
                <a:ea typeface="Consolas" pitchFamily="34" charset="-122"/>
                <a:cs typeface="Consolas" pitchFamily="34" charset="-120"/>
              </a:rPr>
              <a:t>3 / 18</a:t>
            </a:r>
            <a:endParaRPr lang="en-US" sz="900" dirty="0"/>
          </a:p>
        </p:txBody>
      </p:sp>
      <p:sp>
        <p:nvSpPr>
          <p:cNvPr id="8" name="Text 6"/>
          <p:cNvSpPr txBox="1"/>
          <p:nvPr/>
        </p:nvSpPr>
        <p:spPr>
          <a:xfrm>
            <a:off x="548640" y="1719072"/>
            <a:ext cx="4572000" cy="228600"/>
          </a:xfrm>
          <a:prstGeom prst="rect">
            <a:avLst/>
          </a:prstGeom>
          <a:noFill/>
          <a:ln/>
        </p:spPr>
        <p:txBody>
          <a:bodyPr wrap="square" lIns="0" tIns="0" rIns="0" bIns="0" rtlCol="0" anchor="t"/>
          <a:lstStyle/>
          <a:p>
            <a:pPr algn="l" indent="0" marL="0">
              <a:buNone/>
            </a:pPr>
            <a:r>
              <a:rPr lang="en-US" sz="950" spc="100" kern="0" dirty="0">
                <a:solidFill>
                  <a:srgbClr val="2DD4BF"/>
                </a:solidFill>
                <a:latin typeface="Consolas" pitchFamily="34" charset="0"/>
                <a:ea typeface="Consolas" pitchFamily="34" charset="-122"/>
                <a:cs typeface="Consolas" pitchFamily="34" charset="-120"/>
              </a:rPr>
              <a:t>POSITIONING  (thesis Table 2.1)</a:t>
            </a:r>
            <a:endParaRPr lang="en-US" sz="950" dirty="0"/>
          </a:p>
        </p:txBody>
      </p:sp>
      <p:sp>
        <p:nvSpPr>
          <p:cNvPr id="9" name="Shape 7"/>
          <p:cNvSpPr/>
          <p:nvPr/>
        </p:nvSpPr>
        <p:spPr>
          <a:xfrm>
            <a:off x="548640" y="1993392"/>
            <a:ext cx="6492240" cy="384048"/>
          </a:xfrm>
          <a:prstGeom prst="rect">
            <a:avLst/>
          </a:prstGeom>
          <a:solidFill>
            <a:srgbClr val="1F2C47"/>
          </a:solidFill>
          <a:ln/>
        </p:spPr>
      </p:sp>
      <p:sp>
        <p:nvSpPr>
          <p:cNvPr id="10" name="Text 8"/>
          <p:cNvSpPr txBox="1"/>
          <p:nvPr/>
        </p:nvSpPr>
        <p:spPr>
          <a:xfrm>
            <a:off x="685800" y="1993392"/>
            <a:ext cx="1691640" cy="384048"/>
          </a:xfrm>
          <a:prstGeom prst="rect">
            <a:avLst/>
          </a:prstGeom>
          <a:noFill/>
          <a:ln/>
        </p:spPr>
        <p:txBody>
          <a:bodyPr wrap="square" lIns="0" tIns="0" rIns="0" bIns="0" rtlCol="0" anchor="ctr"/>
          <a:lstStyle/>
          <a:p>
            <a:pPr algn="l" indent="0" marL="0">
              <a:buNone/>
            </a:pPr>
            <a:r>
              <a:rPr lang="en-US" sz="1050" b="1" dirty="0">
                <a:solidFill>
                  <a:srgbClr val="C7D0DE"/>
                </a:solidFill>
                <a:latin typeface="Helvetica Neue" pitchFamily="34" charset="0"/>
                <a:ea typeface="Helvetica Neue" pitchFamily="34" charset="-122"/>
                <a:cs typeface="Helvetica Neue" pitchFamily="34" charset="-120"/>
              </a:rPr>
              <a:t>Approach</a:t>
            </a:r>
            <a:endParaRPr lang="en-US" sz="1050" dirty="0"/>
          </a:p>
        </p:txBody>
      </p:sp>
      <p:sp>
        <p:nvSpPr>
          <p:cNvPr id="11" name="Text 9"/>
          <p:cNvSpPr txBox="1"/>
          <p:nvPr/>
        </p:nvSpPr>
        <p:spPr>
          <a:xfrm>
            <a:off x="2560320" y="1993392"/>
            <a:ext cx="1417320" cy="384048"/>
          </a:xfrm>
          <a:prstGeom prst="rect">
            <a:avLst/>
          </a:prstGeom>
          <a:noFill/>
          <a:ln/>
        </p:spPr>
        <p:txBody>
          <a:bodyPr wrap="square" lIns="0" tIns="0" rIns="0" bIns="0" rtlCol="0" anchor="ctr"/>
          <a:lstStyle/>
          <a:p>
            <a:pPr algn="l" indent="0" marL="0">
              <a:buNone/>
            </a:pPr>
            <a:r>
              <a:rPr lang="en-US" sz="1050" b="1" dirty="0">
                <a:solidFill>
                  <a:srgbClr val="C7D0DE"/>
                </a:solidFill>
                <a:latin typeface="Helvetica Neue" pitchFamily="34" charset="0"/>
                <a:ea typeface="Helvetica Neue" pitchFamily="34" charset="-122"/>
                <a:cs typeface="Helvetica Neue" pitchFamily="34" charset="-120"/>
              </a:rPr>
              <a:t>Compared against</a:t>
            </a:r>
            <a:endParaRPr lang="en-US" sz="1050" dirty="0"/>
          </a:p>
        </p:txBody>
      </p:sp>
      <p:sp>
        <p:nvSpPr>
          <p:cNvPr id="12" name="Text 10"/>
          <p:cNvSpPr txBox="1"/>
          <p:nvPr/>
        </p:nvSpPr>
        <p:spPr>
          <a:xfrm>
            <a:off x="4160520" y="1993392"/>
            <a:ext cx="731520" cy="384048"/>
          </a:xfrm>
          <a:prstGeom prst="rect">
            <a:avLst/>
          </a:prstGeom>
          <a:noFill/>
          <a:ln/>
        </p:spPr>
        <p:txBody>
          <a:bodyPr wrap="square" lIns="0" tIns="0" rIns="0" bIns="0" rtlCol="0" anchor="ctr"/>
          <a:lstStyle/>
          <a:p>
            <a:pPr algn="l" indent="0" marL="0">
              <a:buNone/>
            </a:pPr>
            <a:r>
              <a:rPr lang="en-US" sz="1050" b="1" dirty="0">
                <a:solidFill>
                  <a:srgbClr val="C7D0DE"/>
                </a:solidFill>
                <a:latin typeface="Helvetica Neue" pitchFamily="34" charset="0"/>
                <a:ea typeface="Helvetica Neue" pitchFamily="34" charset="-122"/>
                <a:cs typeface="Helvetica Neue" pitchFamily="34" charset="-120"/>
              </a:rPr>
              <a:t>Timing</a:t>
            </a:r>
            <a:endParaRPr lang="en-US" sz="1050" dirty="0"/>
          </a:p>
        </p:txBody>
      </p:sp>
      <p:sp>
        <p:nvSpPr>
          <p:cNvPr id="13" name="Text 11"/>
          <p:cNvSpPr txBox="1"/>
          <p:nvPr/>
        </p:nvSpPr>
        <p:spPr>
          <a:xfrm>
            <a:off x="5074920" y="1993392"/>
            <a:ext cx="1920240" cy="384048"/>
          </a:xfrm>
          <a:prstGeom prst="rect">
            <a:avLst/>
          </a:prstGeom>
          <a:noFill/>
          <a:ln/>
        </p:spPr>
        <p:txBody>
          <a:bodyPr wrap="square" lIns="0" tIns="0" rIns="0" bIns="0" rtlCol="0" anchor="ctr"/>
          <a:lstStyle/>
          <a:p>
            <a:pPr algn="l" indent="0" marL="0">
              <a:buNone/>
            </a:pPr>
            <a:r>
              <a:rPr lang="en-US" sz="1050" b="1" dirty="0">
                <a:solidFill>
                  <a:srgbClr val="C7D0DE"/>
                </a:solidFill>
                <a:latin typeface="Helvetica Neue" pitchFamily="34" charset="0"/>
                <a:ea typeface="Helvetica Neue" pitchFamily="34" charset="-122"/>
                <a:cs typeface="Helvetica Neue" pitchFamily="34" charset="-120"/>
              </a:rPr>
              <a:t>Output</a:t>
            </a:r>
            <a:endParaRPr lang="en-US" sz="1050" dirty="0"/>
          </a:p>
        </p:txBody>
      </p:sp>
      <p:sp>
        <p:nvSpPr>
          <p:cNvPr id="14" name="Shape 12"/>
          <p:cNvSpPr/>
          <p:nvPr/>
        </p:nvSpPr>
        <p:spPr>
          <a:xfrm>
            <a:off x="548640" y="2377440"/>
            <a:ext cx="6492240" cy="566928"/>
          </a:xfrm>
          <a:prstGeom prst="rect">
            <a:avLst/>
          </a:prstGeom>
          <a:solidFill>
            <a:srgbClr val="18233A"/>
          </a:solidFill>
          <a:ln/>
        </p:spPr>
      </p:sp>
      <p:sp>
        <p:nvSpPr>
          <p:cNvPr id="15" name="Text 13"/>
          <p:cNvSpPr txBox="1"/>
          <p:nvPr/>
        </p:nvSpPr>
        <p:spPr>
          <a:xfrm>
            <a:off x="685800" y="2377440"/>
            <a:ext cx="1673352" cy="566928"/>
          </a:xfrm>
          <a:prstGeom prst="rect">
            <a:avLst/>
          </a:prstGeom>
          <a:noFill/>
          <a:ln/>
        </p:spPr>
        <p:txBody>
          <a:bodyPr wrap="square" lIns="0" tIns="0" rIns="0" bIns="0" rtlCol="0" anchor="ctr"/>
          <a:lstStyle/>
          <a:p>
            <a:pPr algn="l" indent="0" marL="0">
              <a:buNone/>
            </a:pPr>
            <a:r>
              <a:rPr lang="en-US" sz="1050" dirty="0">
                <a:solidFill>
                  <a:srgbClr val="C7D0DE"/>
                </a:solidFill>
                <a:latin typeface="Helvetica Neue" pitchFamily="34" charset="0"/>
                <a:ea typeface="Helvetica Neue" pitchFamily="34" charset="-122"/>
                <a:cs typeface="Helvetica Neue" pitchFamily="34" charset="-120"/>
              </a:rPr>
              <a:t>Maynez et al. (2020)</a:t>
            </a:r>
            <a:endParaRPr lang="en-US" sz="1050" dirty="0"/>
          </a:p>
        </p:txBody>
      </p:sp>
      <p:sp>
        <p:nvSpPr>
          <p:cNvPr id="16" name="Text 14"/>
          <p:cNvSpPr txBox="1"/>
          <p:nvPr/>
        </p:nvSpPr>
        <p:spPr>
          <a:xfrm>
            <a:off x="2560320" y="2377440"/>
            <a:ext cx="1399032" cy="566928"/>
          </a:xfrm>
          <a:prstGeom prst="rect">
            <a:avLst/>
          </a:prstGeom>
          <a:noFill/>
          <a:ln/>
        </p:spPr>
        <p:txBody>
          <a:bodyPr wrap="square" lIns="0" tIns="0" rIns="0" bIns="0" rtlCol="0" anchor="ctr"/>
          <a:lstStyle/>
          <a:p>
            <a:pPr algn="l" indent="0" marL="0">
              <a:buNone/>
            </a:pPr>
            <a:r>
              <a:rPr lang="en-US" sz="1050" dirty="0">
                <a:solidFill>
                  <a:srgbClr val="C7D0DE"/>
                </a:solidFill>
                <a:latin typeface="Helvetica Neue" pitchFamily="34" charset="0"/>
                <a:ea typeface="Helvetica Neue" pitchFamily="34" charset="-122"/>
                <a:cs typeface="Helvetica Neue" pitchFamily="34" charset="-120"/>
              </a:rPr>
              <a:t>Source document</a:t>
            </a:r>
            <a:endParaRPr lang="en-US" sz="1050" dirty="0"/>
          </a:p>
        </p:txBody>
      </p:sp>
      <p:sp>
        <p:nvSpPr>
          <p:cNvPr id="17" name="Text 15"/>
          <p:cNvSpPr txBox="1"/>
          <p:nvPr/>
        </p:nvSpPr>
        <p:spPr>
          <a:xfrm>
            <a:off x="4160520" y="2377440"/>
            <a:ext cx="713232" cy="566928"/>
          </a:xfrm>
          <a:prstGeom prst="rect">
            <a:avLst/>
          </a:prstGeom>
          <a:noFill/>
          <a:ln/>
        </p:spPr>
        <p:txBody>
          <a:bodyPr wrap="square" lIns="0" tIns="0" rIns="0" bIns="0" rtlCol="0" anchor="ctr"/>
          <a:lstStyle/>
          <a:p>
            <a:pPr algn="l" indent="0" marL="0">
              <a:buNone/>
            </a:pPr>
            <a:r>
              <a:rPr lang="en-US" sz="1050" dirty="0">
                <a:solidFill>
                  <a:srgbClr val="C7D0DE"/>
                </a:solidFill>
                <a:latin typeface="Helvetica Neue" pitchFamily="34" charset="0"/>
                <a:ea typeface="Helvetica Neue" pitchFamily="34" charset="-122"/>
                <a:cs typeface="Helvetica Neue" pitchFamily="34" charset="-120"/>
              </a:rPr>
              <a:t>Offline</a:t>
            </a:r>
            <a:endParaRPr lang="en-US" sz="1050" dirty="0"/>
          </a:p>
        </p:txBody>
      </p:sp>
      <p:sp>
        <p:nvSpPr>
          <p:cNvPr id="18" name="Text 16"/>
          <p:cNvSpPr txBox="1"/>
          <p:nvPr/>
        </p:nvSpPr>
        <p:spPr>
          <a:xfrm>
            <a:off x="5074920" y="2377440"/>
            <a:ext cx="1901952" cy="566928"/>
          </a:xfrm>
          <a:prstGeom prst="rect">
            <a:avLst/>
          </a:prstGeom>
          <a:noFill/>
          <a:ln/>
        </p:spPr>
        <p:txBody>
          <a:bodyPr wrap="square" lIns="0" tIns="0" rIns="0" bIns="0" rtlCol="0" anchor="ctr"/>
          <a:lstStyle/>
          <a:p>
            <a:pPr algn="l" indent="0" marL="0">
              <a:buNone/>
            </a:pPr>
            <a:r>
              <a:rPr lang="en-US" sz="1050" dirty="0">
                <a:solidFill>
                  <a:srgbClr val="C7D0DE"/>
                </a:solidFill>
                <a:latin typeface="Helvetica Neue" pitchFamily="34" charset="0"/>
                <a:ea typeface="Helvetica Neue" pitchFamily="34" charset="-122"/>
                <a:cs typeface="Helvetica Neue" pitchFamily="34" charset="-120"/>
              </a:rPr>
              <a:t>Human / entailment judgement</a:t>
            </a:r>
            <a:endParaRPr lang="en-US" sz="1050" dirty="0"/>
          </a:p>
        </p:txBody>
      </p:sp>
      <p:sp>
        <p:nvSpPr>
          <p:cNvPr id="19" name="Shape 17"/>
          <p:cNvSpPr/>
          <p:nvPr/>
        </p:nvSpPr>
        <p:spPr>
          <a:xfrm>
            <a:off x="548640" y="2944368"/>
            <a:ext cx="6492240" cy="566928"/>
          </a:xfrm>
          <a:prstGeom prst="rect">
            <a:avLst/>
          </a:prstGeom>
          <a:solidFill>
            <a:srgbClr val="121B2E"/>
          </a:solidFill>
          <a:ln/>
        </p:spPr>
      </p:sp>
      <p:sp>
        <p:nvSpPr>
          <p:cNvPr id="20" name="Text 18"/>
          <p:cNvSpPr txBox="1"/>
          <p:nvPr/>
        </p:nvSpPr>
        <p:spPr>
          <a:xfrm>
            <a:off x="685800" y="2944368"/>
            <a:ext cx="1673352" cy="566928"/>
          </a:xfrm>
          <a:prstGeom prst="rect">
            <a:avLst/>
          </a:prstGeom>
          <a:noFill/>
          <a:ln/>
        </p:spPr>
        <p:txBody>
          <a:bodyPr wrap="square" lIns="0" tIns="0" rIns="0" bIns="0" rtlCol="0" anchor="ctr"/>
          <a:lstStyle/>
          <a:p>
            <a:pPr algn="l" indent="0" marL="0">
              <a:buNone/>
            </a:pPr>
            <a:r>
              <a:rPr lang="en-US" sz="1050" dirty="0">
                <a:solidFill>
                  <a:srgbClr val="C7D0DE"/>
                </a:solidFill>
                <a:latin typeface="Helvetica Neue" pitchFamily="34" charset="0"/>
                <a:ea typeface="Helvetica Neue" pitchFamily="34" charset="-122"/>
                <a:cs typeface="Helvetica Neue" pitchFamily="34" charset="-120"/>
              </a:rPr>
              <a:t>FActScore (Min et al., 2023)</a:t>
            </a:r>
            <a:endParaRPr lang="en-US" sz="1050" dirty="0"/>
          </a:p>
        </p:txBody>
      </p:sp>
      <p:sp>
        <p:nvSpPr>
          <p:cNvPr id="21" name="Text 19"/>
          <p:cNvSpPr txBox="1"/>
          <p:nvPr/>
        </p:nvSpPr>
        <p:spPr>
          <a:xfrm>
            <a:off x="2560320" y="2944368"/>
            <a:ext cx="1399032" cy="566928"/>
          </a:xfrm>
          <a:prstGeom prst="rect">
            <a:avLst/>
          </a:prstGeom>
          <a:noFill/>
          <a:ln/>
        </p:spPr>
        <p:txBody>
          <a:bodyPr wrap="square" lIns="0" tIns="0" rIns="0" bIns="0" rtlCol="0" anchor="ctr"/>
          <a:lstStyle/>
          <a:p>
            <a:pPr algn="l" indent="0" marL="0">
              <a:buNone/>
            </a:pPr>
            <a:r>
              <a:rPr lang="en-US" sz="1050" dirty="0">
                <a:solidFill>
                  <a:srgbClr val="C7D0DE"/>
                </a:solidFill>
                <a:latin typeface="Helvetica Neue" pitchFamily="34" charset="0"/>
                <a:ea typeface="Helvetica Neue" pitchFamily="34" charset="-122"/>
                <a:cs typeface="Helvetica Neue" pitchFamily="34" charset="-120"/>
              </a:rPr>
              <a:t>Knowledge base</a:t>
            </a:r>
            <a:endParaRPr lang="en-US" sz="1050" dirty="0"/>
          </a:p>
        </p:txBody>
      </p:sp>
      <p:sp>
        <p:nvSpPr>
          <p:cNvPr id="22" name="Text 20"/>
          <p:cNvSpPr txBox="1"/>
          <p:nvPr/>
        </p:nvSpPr>
        <p:spPr>
          <a:xfrm>
            <a:off x="4160520" y="2944368"/>
            <a:ext cx="713232" cy="566928"/>
          </a:xfrm>
          <a:prstGeom prst="rect">
            <a:avLst/>
          </a:prstGeom>
          <a:noFill/>
          <a:ln/>
        </p:spPr>
        <p:txBody>
          <a:bodyPr wrap="square" lIns="0" tIns="0" rIns="0" bIns="0" rtlCol="0" anchor="ctr"/>
          <a:lstStyle/>
          <a:p>
            <a:pPr algn="l" indent="0" marL="0">
              <a:buNone/>
            </a:pPr>
            <a:r>
              <a:rPr lang="en-US" sz="1050" dirty="0">
                <a:solidFill>
                  <a:srgbClr val="C7D0DE"/>
                </a:solidFill>
                <a:latin typeface="Helvetica Neue" pitchFamily="34" charset="0"/>
                <a:ea typeface="Helvetica Neue" pitchFamily="34" charset="-122"/>
                <a:cs typeface="Helvetica Neue" pitchFamily="34" charset="-120"/>
              </a:rPr>
              <a:t>Offline</a:t>
            </a:r>
            <a:endParaRPr lang="en-US" sz="1050" dirty="0"/>
          </a:p>
        </p:txBody>
      </p:sp>
      <p:sp>
        <p:nvSpPr>
          <p:cNvPr id="23" name="Text 21"/>
          <p:cNvSpPr txBox="1"/>
          <p:nvPr/>
        </p:nvSpPr>
        <p:spPr>
          <a:xfrm>
            <a:off x="5074920" y="2944368"/>
            <a:ext cx="1901952" cy="566928"/>
          </a:xfrm>
          <a:prstGeom prst="rect">
            <a:avLst/>
          </a:prstGeom>
          <a:noFill/>
          <a:ln/>
        </p:spPr>
        <p:txBody>
          <a:bodyPr wrap="square" lIns="0" tIns="0" rIns="0" bIns="0" rtlCol="0" anchor="ctr"/>
          <a:lstStyle/>
          <a:p>
            <a:pPr algn="l" indent="0" marL="0">
              <a:buNone/>
            </a:pPr>
            <a:r>
              <a:rPr lang="en-US" sz="1050" dirty="0">
                <a:solidFill>
                  <a:srgbClr val="C7D0DE"/>
                </a:solidFill>
                <a:latin typeface="Helvetica Neue" pitchFamily="34" charset="0"/>
                <a:ea typeface="Helvetica Neue" pitchFamily="34" charset="-122"/>
                <a:cs typeface="Helvetica Neue" pitchFamily="34" charset="-120"/>
              </a:rPr>
              <a:t>Per-claim precision score</a:t>
            </a:r>
            <a:endParaRPr lang="en-US" sz="1050" dirty="0"/>
          </a:p>
        </p:txBody>
      </p:sp>
      <p:sp>
        <p:nvSpPr>
          <p:cNvPr id="24" name="Shape 22"/>
          <p:cNvSpPr/>
          <p:nvPr/>
        </p:nvSpPr>
        <p:spPr>
          <a:xfrm>
            <a:off x="548640" y="3511296"/>
            <a:ext cx="6492240" cy="566928"/>
          </a:xfrm>
          <a:prstGeom prst="rect">
            <a:avLst/>
          </a:prstGeom>
          <a:solidFill>
            <a:srgbClr val="18233A"/>
          </a:solidFill>
          <a:ln/>
        </p:spPr>
      </p:sp>
      <p:sp>
        <p:nvSpPr>
          <p:cNvPr id="25" name="Text 23"/>
          <p:cNvSpPr txBox="1"/>
          <p:nvPr/>
        </p:nvSpPr>
        <p:spPr>
          <a:xfrm>
            <a:off x="685800" y="3511296"/>
            <a:ext cx="1673352" cy="566928"/>
          </a:xfrm>
          <a:prstGeom prst="rect">
            <a:avLst/>
          </a:prstGeom>
          <a:noFill/>
          <a:ln/>
        </p:spPr>
        <p:txBody>
          <a:bodyPr wrap="square" lIns="0" tIns="0" rIns="0" bIns="0" rtlCol="0" anchor="ctr"/>
          <a:lstStyle/>
          <a:p>
            <a:pPr algn="l" indent="0" marL="0">
              <a:buNone/>
            </a:pPr>
            <a:r>
              <a:rPr lang="en-US" sz="1050" dirty="0">
                <a:solidFill>
                  <a:srgbClr val="C7D0DE"/>
                </a:solidFill>
                <a:latin typeface="Helvetica Neue" pitchFamily="34" charset="0"/>
                <a:ea typeface="Helvetica Neue" pitchFamily="34" charset="-122"/>
                <a:cs typeface="Helvetica Neue" pitchFamily="34" charset="-120"/>
              </a:rPr>
              <a:t>TRUE (Honovich et al., 2022)</a:t>
            </a:r>
            <a:endParaRPr lang="en-US" sz="1050" dirty="0"/>
          </a:p>
        </p:txBody>
      </p:sp>
      <p:sp>
        <p:nvSpPr>
          <p:cNvPr id="26" name="Text 24"/>
          <p:cNvSpPr txBox="1"/>
          <p:nvPr/>
        </p:nvSpPr>
        <p:spPr>
          <a:xfrm>
            <a:off x="2560320" y="3511296"/>
            <a:ext cx="1399032" cy="566928"/>
          </a:xfrm>
          <a:prstGeom prst="rect">
            <a:avLst/>
          </a:prstGeom>
          <a:noFill/>
          <a:ln/>
        </p:spPr>
        <p:txBody>
          <a:bodyPr wrap="square" lIns="0" tIns="0" rIns="0" bIns="0" rtlCol="0" anchor="ctr"/>
          <a:lstStyle/>
          <a:p>
            <a:pPr algn="l" indent="0" marL="0">
              <a:buNone/>
            </a:pPr>
            <a:r>
              <a:rPr lang="en-US" sz="1050" dirty="0">
                <a:solidFill>
                  <a:srgbClr val="C7D0DE"/>
                </a:solidFill>
                <a:latin typeface="Helvetica Neue" pitchFamily="34" charset="0"/>
                <a:ea typeface="Helvetica Neue" pitchFamily="34" charset="-122"/>
                <a:cs typeface="Helvetica Neue" pitchFamily="34" charset="-120"/>
              </a:rPr>
              <a:t>Source document</a:t>
            </a:r>
            <a:endParaRPr lang="en-US" sz="1050" dirty="0"/>
          </a:p>
        </p:txBody>
      </p:sp>
      <p:sp>
        <p:nvSpPr>
          <p:cNvPr id="27" name="Text 25"/>
          <p:cNvSpPr txBox="1"/>
          <p:nvPr/>
        </p:nvSpPr>
        <p:spPr>
          <a:xfrm>
            <a:off x="4160520" y="3511296"/>
            <a:ext cx="713232" cy="566928"/>
          </a:xfrm>
          <a:prstGeom prst="rect">
            <a:avLst/>
          </a:prstGeom>
          <a:noFill/>
          <a:ln/>
        </p:spPr>
        <p:txBody>
          <a:bodyPr wrap="square" lIns="0" tIns="0" rIns="0" bIns="0" rtlCol="0" anchor="ctr"/>
          <a:lstStyle/>
          <a:p>
            <a:pPr algn="l" indent="0" marL="0">
              <a:buNone/>
            </a:pPr>
            <a:r>
              <a:rPr lang="en-US" sz="1050" dirty="0">
                <a:solidFill>
                  <a:srgbClr val="C7D0DE"/>
                </a:solidFill>
                <a:latin typeface="Helvetica Neue" pitchFamily="34" charset="0"/>
                <a:ea typeface="Helvetica Neue" pitchFamily="34" charset="-122"/>
                <a:cs typeface="Helvetica Neue" pitchFamily="34" charset="-120"/>
              </a:rPr>
              <a:t>Offline</a:t>
            </a:r>
            <a:endParaRPr lang="en-US" sz="1050" dirty="0"/>
          </a:p>
        </p:txBody>
      </p:sp>
      <p:sp>
        <p:nvSpPr>
          <p:cNvPr id="28" name="Text 26"/>
          <p:cNvSpPr txBox="1"/>
          <p:nvPr/>
        </p:nvSpPr>
        <p:spPr>
          <a:xfrm>
            <a:off x="5074920" y="3511296"/>
            <a:ext cx="1901952" cy="566928"/>
          </a:xfrm>
          <a:prstGeom prst="rect">
            <a:avLst/>
          </a:prstGeom>
          <a:noFill/>
          <a:ln/>
        </p:spPr>
        <p:txBody>
          <a:bodyPr wrap="square" lIns="0" tIns="0" rIns="0" bIns="0" rtlCol="0" anchor="ctr"/>
          <a:lstStyle/>
          <a:p>
            <a:pPr algn="l" indent="0" marL="0">
              <a:buNone/>
            </a:pPr>
            <a:r>
              <a:rPr lang="en-US" sz="1050" dirty="0">
                <a:solidFill>
                  <a:srgbClr val="C7D0DE"/>
                </a:solidFill>
                <a:latin typeface="Helvetica Neue" pitchFamily="34" charset="0"/>
                <a:ea typeface="Helvetica Neue" pitchFamily="34" charset="-122"/>
                <a:cs typeface="Helvetica Neue" pitchFamily="34" charset="-120"/>
              </a:rPr>
              <a:t>Consistency score</a:t>
            </a:r>
            <a:endParaRPr lang="en-US" sz="1050" dirty="0"/>
          </a:p>
        </p:txBody>
      </p:sp>
      <p:sp>
        <p:nvSpPr>
          <p:cNvPr id="29" name="Shape 27"/>
          <p:cNvSpPr/>
          <p:nvPr/>
        </p:nvSpPr>
        <p:spPr>
          <a:xfrm>
            <a:off x="548640" y="4078224"/>
            <a:ext cx="6492240" cy="566928"/>
          </a:xfrm>
          <a:prstGeom prst="rect">
            <a:avLst/>
          </a:prstGeom>
          <a:solidFill>
            <a:srgbClr val="0F3D3A"/>
          </a:solidFill>
          <a:ln w="12700">
            <a:solidFill>
              <a:srgbClr val="2DD4BF"/>
            </a:solidFill>
            <a:prstDash val="solid"/>
          </a:ln>
        </p:spPr>
      </p:sp>
      <p:sp>
        <p:nvSpPr>
          <p:cNvPr id="30" name="Text 28"/>
          <p:cNvSpPr txBox="1"/>
          <p:nvPr/>
        </p:nvSpPr>
        <p:spPr>
          <a:xfrm>
            <a:off x="685800" y="4078224"/>
            <a:ext cx="1673352" cy="566928"/>
          </a:xfrm>
          <a:prstGeom prst="rect">
            <a:avLst/>
          </a:prstGeom>
          <a:noFill/>
          <a:ln/>
        </p:spPr>
        <p:txBody>
          <a:bodyPr wrap="square" lIns="0" tIns="0" rIns="0" bIns="0" rtlCol="0" anchor="ctr"/>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ReasonGuard (this thesis)</a:t>
            </a:r>
            <a:endParaRPr lang="en-US" sz="1050" dirty="0"/>
          </a:p>
        </p:txBody>
      </p:sp>
      <p:sp>
        <p:nvSpPr>
          <p:cNvPr id="31" name="Text 29"/>
          <p:cNvSpPr txBox="1"/>
          <p:nvPr/>
        </p:nvSpPr>
        <p:spPr>
          <a:xfrm>
            <a:off x="2560320" y="4078224"/>
            <a:ext cx="1399032" cy="566928"/>
          </a:xfrm>
          <a:prstGeom prst="rect">
            <a:avLst/>
          </a:prstGeom>
          <a:noFill/>
          <a:ln/>
        </p:spPr>
        <p:txBody>
          <a:bodyPr wrap="square" lIns="0" tIns="0" rIns="0" bIns="0" rtlCol="0" anchor="ctr"/>
          <a:lstStyle/>
          <a:p>
            <a:pPr algn="l" indent="0" marL="0">
              <a:buNone/>
            </a:pPr>
            <a:r>
              <a:rPr lang="en-US" sz="1050" dirty="0">
                <a:solidFill>
                  <a:srgbClr val="E9EEF6"/>
                </a:solidFill>
                <a:latin typeface="Helvetica Neue" pitchFamily="34" charset="0"/>
                <a:ea typeface="Helvetica Neue" pitchFamily="34" charset="-122"/>
                <a:cs typeface="Helvetica Neue" pitchFamily="34" charset="-120"/>
              </a:rPr>
              <a:t>Formal verified bound</a:t>
            </a:r>
            <a:endParaRPr lang="en-US" sz="1050" dirty="0"/>
          </a:p>
        </p:txBody>
      </p:sp>
      <p:sp>
        <p:nvSpPr>
          <p:cNvPr id="32" name="Text 30"/>
          <p:cNvSpPr txBox="1"/>
          <p:nvPr/>
        </p:nvSpPr>
        <p:spPr>
          <a:xfrm>
            <a:off x="4160520" y="4078224"/>
            <a:ext cx="713232" cy="566928"/>
          </a:xfrm>
          <a:prstGeom prst="rect">
            <a:avLst/>
          </a:prstGeom>
          <a:noFill/>
          <a:ln/>
        </p:spPr>
        <p:txBody>
          <a:bodyPr wrap="square" lIns="0" tIns="0" rIns="0" bIns="0" rtlCol="0" anchor="ctr"/>
          <a:lstStyle/>
          <a:p>
            <a:pPr algn="l" indent="0" marL="0">
              <a:buNone/>
            </a:pPr>
            <a:r>
              <a:rPr lang="en-US" sz="1050" dirty="0">
                <a:solidFill>
                  <a:srgbClr val="E9EEF6"/>
                </a:solidFill>
                <a:latin typeface="Helvetica Neue" pitchFamily="34" charset="0"/>
                <a:ea typeface="Helvetica Neue" pitchFamily="34" charset="-122"/>
                <a:cs typeface="Helvetica Neue" pitchFamily="34" charset="-120"/>
              </a:rPr>
              <a:t>Runtime</a:t>
            </a:r>
            <a:endParaRPr lang="en-US" sz="1050" dirty="0"/>
          </a:p>
        </p:txBody>
      </p:sp>
      <p:sp>
        <p:nvSpPr>
          <p:cNvPr id="33" name="Text 31"/>
          <p:cNvSpPr txBox="1"/>
          <p:nvPr/>
        </p:nvSpPr>
        <p:spPr>
          <a:xfrm>
            <a:off x="5074920" y="4078224"/>
            <a:ext cx="1901952" cy="566928"/>
          </a:xfrm>
          <a:prstGeom prst="rect">
            <a:avLst/>
          </a:prstGeom>
          <a:noFill/>
          <a:ln/>
        </p:spPr>
        <p:txBody>
          <a:bodyPr wrap="square" lIns="0" tIns="0" rIns="0" bIns="0" rtlCol="0" anchor="ctr"/>
          <a:lstStyle/>
          <a:p>
            <a:pPr algn="l" indent="0" marL="0">
              <a:buNone/>
            </a:pPr>
            <a:r>
              <a:rPr lang="en-US" sz="1050" dirty="0">
                <a:solidFill>
                  <a:srgbClr val="E9EEF6"/>
                </a:solidFill>
                <a:latin typeface="Helvetica Neue" pitchFamily="34" charset="0"/>
                <a:ea typeface="Helvetica Neue" pitchFamily="34" charset="-122"/>
                <a:cs typeface="Helvetica Neue" pitchFamily="34" charset="-120"/>
              </a:rPr>
              <a:t>V1–V5 category + severity</a:t>
            </a:r>
            <a:endParaRPr lang="en-US" sz="1050" dirty="0"/>
          </a:p>
        </p:txBody>
      </p:sp>
      <p:sp>
        <p:nvSpPr>
          <p:cNvPr id="34" name="Text 32"/>
          <p:cNvSpPr txBox="1"/>
          <p:nvPr/>
        </p:nvSpPr>
        <p:spPr>
          <a:xfrm>
            <a:off x="548640" y="4919472"/>
            <a:ext cx="6492240" cy="1097280"/>
          </a:xfrm>
          <a:prstGeom prst="rect">
            <a:avLst/>
          </a:prstGeom>
          <a:noFill/>
          <a:ln/>
        </p:spPr>
        <p:txBody>
          <a:bodyPr wrap="square" lIns="0" tIns="0" rIns="0" bIns="0" rtlCol="0" anchor="t"/>
          <a:lstStyle/>
          <a:p>
            <a:pPr algn="l" indent="0" marL="0">
              <a:buNone/>
            </a:pPr>
            <a:r>
              <a:rPr lang="en-US" sz="1150" b="1" dirty="0">
                <a:solidFill>
                  <a:srgbClr val="E9EEF6"/>
                </a:solidFill>
                <a:latin typeface="Helvetica Neue" pitchFamily="34" charset="0"/>
                <a:ea typeface="Helvetica Neue" pitchFamily="34" charset="-122"/>
                <a:cs typeface="Helvetica Neue" pitchFamily="34" charset="-120"/>
              </a:rPr>
              <a:t>Why this matters operationally: </a:t>
            </a:r>
            <a:pPr algn="l" indent="0" marL="0">
              <a:buNone/>
            </a:pPr>
            <a:r>
              <a:rPr lang="en-US" sz="1150" dirty="0">
                <a:solidFill>
                  <a:srgbClr val="93A0B8"/>
                </a:solidFill>
                <a:latin typeface="Helvetica Neue" pitchFamily="34" charset="0"/>
                <a:ea typeface="Helvetica Neue" pitchFamily="34" charset="-122"/>
                <a:cs typeface="Helvetica Neue" pitchFamily="34" charset="-120"/>
              </a:rPr>
              <a:t>an aggregate faithfulness score tells you which model errs least on average; it says nothing about the explanation currently on the operator's screen. ReasonGuard returns </a:t>
            </a:r>
            <a:pPr algn="l" indent="0" marL="0">
              <a:buNone/>
            </a:pPr>
            <a:r>
              <a:rPr lang="en-US" sz="1150" i="1" dirty="0">
                <a:solidFill>
                  <a:srgbClr val="C7D0DE"/>
                </a:solidFill>
                <a:latin typeface="Helvetica Neue" pitchFamily="34" charset="0"/>
                <a:ea typeface="Helvetica Neue" pitchFamily="34" charset="-122"/>
                <a:cs typeface="Helvetica Neue" pitchFamily="34" charset="-120"/>
              </a:rPr>
              <a:t>which</a:t>
            </a:r>
            <a:pPr algn="l" indent="0" marL="0">
              <a:buNone/>
            </a:pPr>
            <a:r>
              <a:rPr lang="en-US" sz="1150" dirty="0">
                <a:solidFill>
                  <a:srgbClr val="93A0B8"/>
                </a:solidFill>
                <a:latin typeface="Helvetica Neue" pitchFamily="34" charset="0"/>
                <a:ea typeface="Helvetica Neue" pitchFamily="34" charset="-122"/>
                <a:cs typeface="Helvetica Neue" pitchFamily="34" charset="-120"/>
              </a:rPr>
              <a:t> violation occurred, so the explanation can be withheld, flagged or regenerated.</a:t>
            </a:r>
            <a:endParaRPr lang="en-US" sz="1150" dirty="0"/>
          </a:p>
        </p:txBody>
      </p:sp>
      <p:sp>
        <p:nvSpPr>
          <p:cNvPr id="35" name="Shape 33"/>
          <p:cNvSpPr/>
          <p:nvPr/>
        </p:nvSpPr>
        <p:spPr>
          <a:xfrm>
            <a:off x="7360920" y="1810512"/>
            <a:ext cx="4282135" cy="1389888"/>
          </a:xfrm>
          <a:prstGeom prst="roundRect">
            <a:avLst>
              <a:gd name="adj" fmla="val 5263"/>
            </a:avLst>
          </a:prstGeom>
          <a:solidFill>
            <a:srgbClr val="121B2E"/>
          </a:solidFill>
          <a:ln w="9525">
            <a:solidFill>
              <a:srgbClr val="2A3752"/>
            </a:solidFill>
            <a:prstDash val="solid"/>
          </a:ln>
        </p:spPr>
      </p:sp>
      <p:sp>
        <p:nvSpPr>
          <p:cNvPr id="36" name="Text 34"/>
          <p:cNvSpPr txBox="1"/>
          <p:nvPr/>
        </p:nvSpPr>
        <p:spPr>
          <a:xfrm>
            <a:off x="7562088" y="1956816"/>
            <a:ext cx="3916375" cy="219456"/>
          </a:xfrm>
          <a:prstGeom prst="rect">
            <a:avLst/>
          </a:prstGeom>
          <a:noFill/>
          <a:ln/>
        </p:spPr>
        <p:txBody>
          <a:bodyPr wrap="square" lIns="0" tIns="0" rIns="0" bIns="0" rtlCol="0" anchor="t"/>
          <a:lstStyle/>
          <a:p>
            <a:pPr algn="l" indent="0" marL="0">
              <a:buNone/>
            </a:pPr>
            <a:r>
              <a:rPr lang="en-US" sz="900" spc="100" kern="0" dirty="0">
                <a:solidFill>
                  <a:srgbClr val="2DD4BF"/>
                </a:solidFill>
                <a:latin typeface="Consolas" pitchFamily="34" charset="0"/>
                <a:ea typeface="Consolas" pitchFamily="34" charset="-122"/>
                <a:cs typeface="Consolas" pitchFamily="34" charset="-120"/>
              </a:rPr>
              <a:t>DOMAIN</a:t>
            </a:r>
            <a:endParaRPr lang="en-US" sz="900" dirty="0"/>
          </a:p>
        </p:txBody>
      </p:sp>
      <p:sp>
        <p:nvSpPr>
          <p:cNvPr id="37" name="Text 35"/>
          <p:cNvSpPr txBox="1"/>
          <p:nvPr/>
        </p:nvSpPr>
        <p:spPr>
          <a:xfrm>
            <a:off x="7562088" y="2212848"/>
            <a:ext cx="3879799" cy="932688"/>
          </a:xfrm>
          <a:prstGeom prst="rect">
            <a:avLst/>
          </a:prstGeom>
          <a:noFill/>
          <a:ln/>
        </p:spPr>
        <p:txBody>
          <a:bodyPr wrap="square" lIns="0" tIns="0" rIns="0" bIns="0" rtlCol="0" anchor="t"/>
          <a:lstStyle/>
          <a:p>
            <a:pPr algn="l" indent="0" marL="0">
              <a:lnSpc>
                <a:spcPct val="108000"/>
              </a:lnSpc>
              <a:buNone/>
            </a:pPr>
            <a:r>
              <a:rPr lang="en-US" sz="1050" dirty="0">
                <a:solidFill>
                  <a:srgbClr val="C7D0DE"/>
                </a:solidFill>
                <a:latin typeface="Helvetica Neue" pitchFamily="34" charset="0"/>
                <a:ea typeface="Helvetica Neue" pitchFamily="34" charset="-122"/>
                <a:cs typeface="Helvetica Neue" pitchFamily="34" charset="-120"/>
              </a:rPr>
              <a:t>IEC-104 smart-grid traffic from a NES@FIT testbed (Brno). ICS protocols were standardised decades ago without authentication; attacks on energy infrastructure are real, and time between malicious traffic and damage is short.</a:t>
            </a:r>
            <a:endParaRPr lang="en-US" sz="1050" dirty="0"/>
          </a:p>
        </p:txBody>
      </p:sp>
      <p:sp>
        <p:nvSpPr>
          <p:cNvPr id="38" name="Shape 36"/>
          <p:cNvSpPr/>
          <p:nvPr/>
        </p:nvSpPr>
        <p:spPr>
          <a:xfrm>
            <a:off x="7360920" y="3328416"/>
            <a:ext cx="4282135" cy="1389888"/>
          </a:xfrm>
          <a:prstGeom prst="roundRect">
            <a:avLst>
              <a:gd name="adj" fmla="val 5263"/>
            </a:avLst>
          </a:prstGeom>
          <a:solidFill>
            <a:srgbClr val="121B2E"/>
          </a:solidFill>
          <a:ln w="9525">
            <a:solidFill>
              <a:srgbClr val="2A3752"/>
            </a:solidFill>
            <a:prstDash val="solid"/>
          </a:ln>
        </p:spPr>
      </p:sp>
      <p:sp>
        <p:nvSpPr>
          <p:cNvPr id="39" name="Text 37"/>
          <p:cNvSpPr txBox="1"/>
          <p:nvPr/>
        </p:nvSpPr>
        <p:spPr>
          <a:xfrm>
            <a:off x="7562088" y="3474720"/>
            <a:ext cx="3916375" cy="219456"/>
          </a:xfrm>
          <a:prstGeom prst="rect">
            <a:avLst/>
          </a:prstGeom>
          <a:noFill/>
          <a:ln/>
        </p:spPr>
        <p:txBody>
          <a:bodyPr wrap="square" lIns="0" tIns="0" rIns="0" bIns="0" rtlCol="0" anchor="t"/>
          <a:lstStyle/>
          <a:p>
            <a:pPr algn="l" indent="0" marL="0">
              <a:buNone/>
            </a:pPr>
            <a:r>
              <a:rPr lang="en-US" sz="900" spc="100" kern="0" dirty="0">
                <a:solidFill>
                  <a:srgbClr val="2DD4BF"/>
                </a:solidFill>
                <a:latin typeface="Consolas" pitchFamily="34" charset="0"/>
                <a:ea typeface="Consolas" pitchFamily="34" charset="-122"/>
                <a:cs typeface="Consolas" pitchFamily="34" charset="-120"/>
              </a:rPr>
              <a:t>GOVERNANCE</a:t>
            </a:r>
            <a:endParaRPr lang="en-US" sz="900" dirty="0"/>
          </a:p>
        </p:txBody>
      </p:sp>
      <p:sp>
        <p:nvSpPr>
          <p:cNvPr id="40" name="Text 38"/>
          <p:cNvSpPr txBox="1"/>
          <p:nvPr/>
        </p:nvSpPr>
        <p:spPr>
          <a:xfrm>
            <a:off x="7562088" y="3730752"/>
            <a:ext cx="3879799" cy="932688"/>
          </a:xfrm>
          <a:prstGeom prst="rect">
            <a:avLst/>
          </a:prstGeom>
          <a:noFill/>
          <a:ln/>
        </p:spPr>
        <p:txBody>
          <a:bodyPr wrap="square" lIns="0" tIns="0" rIns="0" bIns="0" rtlCol="0" anchor="t"/>
          <a:lstStyle/>
          <a:p>
            <a:pPr algn="l" indent="0" marL="0">
              <a:lnSpc>
                <a:spcPct val="108000"/>
              </a:lnSpc>
              <a:buNone/>
            </a:pPr>
            <a:r>
              <a:rPr lang="en-US" sz="1050" dirty="0">
                <a:solidFill>
                  <a:srgbClr val="C7D0DE"/>
                </a:solidFill>
                <a:latin typeface="Helvetica Neue" pitchFamily="34" charset="0"/>
                <a:ea typeface="Helvetica Neue" pitchFamily="34" charset="-122"/>
                <a:cs typeface="Helvetica Neue" pitchFamily="34" charset="-120"/>
              </a:rPr>
              <a:t>EU AI Act: safety components of critical infrastructure are high-risk (Annex III, point 2) → Art. 13 transparency and Art. 17 quality management. ReasonGuard can contribute evidence towards these obligations — the thesis does not claim legal compliance.</a:t>
            </a:r>
            <a:endParaRPr lang="en-US" sz="1050" dirty="0"/>
          </a:p>
        </p:txBody>
      </p:sp>
      <p:sp>
        <p:nvSpPr>
          <p:cNvPr id="41" name="Shape 39"/>
          <p:cNvSpPr/>
          <p:nvPr/>
        </p:nvSpPr>
        <p:spPr>
          <a:xfrm>
            <a:off x="7360920" y="4846320"/>
            <a:ext cx="4282135" cy="1389888"/>
          </a:xfrm>
          <a:prstGeom prst="roundRect">
            <a:avLst>
              <a:gd name="adj" fmla="val 5263"/>
            </a:avLst>
          </a:prstGeom>
          <a:solidFill>
            <a:srgbClr val="121B2E"/>
          </a:solidFill>
          <a:ln w="9525">
            <a:solidFill>
              <a:srgbClr val="2A3752"/>
            </a:solidFill>
            <a:prstDash val="solid"/>
          </a:ln>
        </p:spPr>
      </p:sp>
      <p:sp>
        <p:nvSpPr>
          <p:cNvPr id="42" name="Text 40"/>
          <p:cNvSpPr txBox="1"/>
          <p:nvPr/>
        </p:nvSpPr>
        <p:spPr>
          <a:xfrm>
            <a:off x="7562088" y="4992624"/>
            <a:ext cx="3916375" cy="219456"/>
          </a:xfrm>
          <a:prstGeom prst="rect">
            <a:avLst/>
          </a:prstGeom>
          <a:noFill/>
          <a:ln/>
        </p:spPr>
        <p:txBody>
          <a:bodyPr wrap="square" lIns="0" tIns="0" rIns="0" bIns="0" rtlCol="0" anchor="t"/>
          <a:lstStyle/>
          <a:p>
            <a:pPr algn="l" indent="0" marL="0">
              <a:buNone/>
            </a:pPr>
            <a:r>
              <a:rPr lang="en-US" sz="900" spc="100" kern="0" dirty="0">
                <a:solidFill>
                  <a:srgbClr val="2DD4BF"/>
                </a:solidFill>
                <a:latin typeface="Consolas" pitchFamily="34" charset="0"/>
                <a:ea typeface="Consolas" pitchFamily="34" charset="-122"/>
                <a:cs typeface="Consolas" pitchFamily="34" charset="-120"/>
              </a:rPr>
              <a:t>RESEARCH GAP</a:t>
            </a:r>
            <a:endParaRPr lang="en-US" sz="900" dirty="0"/>
          </a:p>
        </p:txBody>
      </p:sp>
      <p:sp>
        <p:nvSpPr>
          <p:cNvPr id="43" name="Text 41"/>
          <p:cNvSpPr txBox="1"/>
          <p:nvPr/>
        </p:nvSpPr>
        <p:spPr>
          <a:xfrm>
            <a:off x="7562088" y="5248656"/>
            <a:ext cx="3879799" cy="932688"/>
          </a:xfrm>
          <a:prstGeom prst="rect">
            <a:avLst/>
          </a:prstGeom>
          <a:noFill/>
          <a:ln/>
        </p:spPr>
        <p:txBody>
          <a:bodyPr wrap="square" lIns="0" tIns="0" rIns="0" bIns="0" rtlCol="0" anchor="t"/>
          <a:lstStyle/>
          <a:p>
            <a:pPr algn="l" indent="0" marL="0">
              <a:lnSpc>
                <a:spcPct val="108000"/>
              </a:lnSpc>
              <a:buNone/>
            </a:pPr>
            <a:r>
              <a:rPr lang="en-US" sz="1050" dirty="0">
                <a:solidFill>
                  <a:srgbClr val="C7D0DE"/>
                </a:solidFill>
                <a:latin typeface="Helvetica Neue" pitchFamily="34" charset="0"/>
                <a:ea typeface="Helvetica Neue" pitchFamily="34" charset="-122"/>
                <a:cs typeface="Helvetica Neue" pitchFamily="34" charset="-120"/>
              </a:rPr>
              <a:t>The problem falls between two communities: NLP measures faithfulness against documents; formal methods guarantee the verdict. Nothing checks the explanation against the verdict.</a:t>
            </a:r>
            <a:endParaRPr lang="en-US" sz="10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indent="0" marL="0">
              <a:buNone/>
            </a:pPr>
            <a:r>
              <a:rPr lang="en-US" sz="1050" spc="200" kern="0" dirty="0">
                <a:solidFill>
                  <a:srgbClr val="2DD4BF"/>
                </a:solidFill>
                <a:latin typeface="Consolas" pitchFamily="34" charset="0"/>
                <a:ea typeface="Consolas" pitchFamily="34" charset="-122"/>
                <a:cs typeface="Consolas" pitchFamily="34" charset="-120"/>
              </a:rPr>
              <a:t>03 · RESEARCH QUESTIONS</a:t>
            </a:r>
            <a:endParaRPr lang="en-US" sz="1050" dirty="0"/>
          </a:p>
        </p:txBody>
      </p:sp>
      <p:sp>
        <p:nvSpPr>
          <p:cNvPr id="3" name="Text 1"/>
          <p:cNvSpPr txBox="1"/>
          <p:nvPr/>
        </p:nvSpPr>
        <p:spPr>
          <a:xfrm>
            <a:off x="548640" y="603504"/>
            <a:ext cx="11094415" cy="566928"/>
          </a:xfrm>
          <a:prstGeom prst="rect">
            <a:avLst/>
          </a:prstGeom>
          <a:noFill/>
          <a:ln/>
        </p:spPr>
        <p:txBody>
          <a:bodyPr wrap="square" lIns="0" tIns="0" rIns="0" bIns="0" rtlCol="0" anchor="t"/>
          <a:lstStyle/>
          <a:p>
            <a:pPr indent="0" marL="0">
              <a:buNone/>
            </a:pPr>
            <a:r>
              <a:rPr lang="en-US" sz="2700" b="1" dirty="0">
                <a:solidFill>
                  <a:srgbClr val="E9EEF6"/>
                </a:solidFill>
                <a:latin typeface="Helvetica Neue" pitchFamily="34" charset="0"/>
                <a:ea typeface="Helvetica Neue" pitchFamily="34" charset="-122"/>
                <a:cs typeface="Helvetica Neue" pitchFamily="34" charset="-120"/>
              </a:rPr>
              <a:t>Research questions</a:t>
            </a:r>
            <a:endParaRPr lang="en-US" sz="27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350" dirty="0">
                <a:solidFill>
                  <a:srgbClr val="93A0B8"/>
                </a:solidFill>
                <a:latin typeface="Helvetica Neue" pitchFamily="34" charset="0"/>
                <a:ea typeface="Helvetica Neue" pitchFamily="34" charset="-122"/>
                <a:cs typeface="Helvetica Neue" pitchFamily="34" charset="-120"/>
              </a:rPr>
              <a:t>Central question: Can formally verified system outputs be used as runtime verification bounds to detect and classify violations of AI reasoning — and is this actionable and reliable for safety-critical use?</a:t>
            </a:r>
            <a:endParaRPr lang="en-US" sz="1350" dirty="0"/>
          </a:p>
        </p:txBody>
      </p:sp>
      <p:sp>
        <p:nvSpPr>
          <p:cNvPr id="5" name="Text 3"/>
          <p:cNvSpPr txBox="1"/>
          <p:nvPr/>
        </p:nvSpPr>
        <p:spPr>
          <a:xfrm>
            <a:off x="548640" y="6473952"/>
            <a:ext cx="8778240" cy="219456"/>
          </a:xfrm>
          <a:prstGeom prst="rect">
            <a:avLst/>
          </a:prstGeom>
          <a:noFill/>
          <a:ln/>
        </p:spPr>
        <p:txBody>
          <a:bodyPr wrap="square" lIns="0" tIns="0" rIns="0" bIns="0" rtlCol="0" anchor="ctr"/>
          <a:lstStyle/>
          <a:p>
            <a:pPr indent="0" marL="0">
              <a:buNone/>
            </a:pPr>
            <a:r>
              <a:rPr lang="en-US" sz="850" dirty="0">
                <a:solidFill>
                  <a:srgbClr val="5C6A85"/>
                </a:solidFill>
                <a:latin typeface="Helvetica Neue" pitchFamily="34" charset="0"/>
                <a:ea typeface="Helvetica Neue" pitchFamily="34" charset="-122"/>
                <a:cs typeface="Helvetica Neue" pitchFamily="34" charset="-120"/>
              </a:rPr>
              <a:t>ReasonGuard  ·  Runtime Verification of AI Reasoning Faithfulness  ·  R. Bilalov  ·  SRH University Hamburg / FIT VUT Brno</a:t>
            </a:r>
            <a:endParaRPr lang="en-US" sz="850" dirty="0"/>
          </a:p>
        </p:txBody>
      </p:sp>
      <p:sp>
        <p:nvSpPr>
          <p:cNvPr id="6" name="Text 4"/>
          <p:cNvSpPr txBox="1"/>
          <p:nvPr/>
        </p:nvSpPr>
        <p:spPr>
          <a:xfrm>
            <a:off x="10545775" y="6473952"/>
            <a:ext cx="1097280" cy="219456"/>
          </a:xfrm>
          <a:prstGeom prst="rect">
            <a:avLst/>
          </a:prstGeom>
          <a:noFill/>
          <a:ln/>
        </p:spPr>
        <p:txBody>
          <a:bodyPr wrap="square" lIns="0" tIns="0" rIns="0" bIns="0" rtlCol="0" anchor="ctr"/>
          <a:lstStyle/>
          <a:p>
            <a:pPr algn="r" indent="0" marL="0">
              <a:buNone/>
            </a:pPr>
            <a:r>
              <a:rPr lang="en-US" sz="900" dirty="0">
                <a:solidFill>
                  <a:srgbClr val="5C6A85"/>
                </a:solidFill>
                <a:latin typeface="Consolas" pitchFamily="34" charset="0"/>
                <a:ea typeface="Consolas" pitchFamily="34" charset="-122"/>
                <a:cs typeface="Consolas" pitchFamily="34" charset="-120"/>
              </a:rPr>
              <a:t>4 / 18</a:t>
            </a:r>
            <a:endParaRPr lang="en-US" sz="900" dirty="0"/>
          </a:p>
        </p:txBody>
      </p:sp>
      <p:sp>
        <p:nvSpPr>
          <p:cNvPr id="7" name="Shape 5"/>
          <p:cNvSpPr/>
          <p:nvPr/>
        </p:nvSpPr>
        <p:spPr>
          <a:xfrm>
            <a:off x="548640" y="1874520"/>
            <a:ext cx="2087209" cy="3063240"/>
          </a:xfrm>
          <a:prstGeom prst="roundRect">
            <a:avLst>
              <a:gd name="adj" fmla="val 3505"/>
            </a:avLst>
          </a:prstGeom>
          <a:solidFill>
            <a:srgbClr val="121B2E"/>
          </a:solidFill>
          <a:ln w="9525">
            <a:solidFill>
              <a:srgbClr val="2A3752"/>
            </a:solidFill>
            <a:prstDash val="solid"/>
          </a:ln>
        </p:spPr>
      </p:sp>
      <p:sp>
        <p:nvSpPr>
          <p:cNvPr id="8" name="Text 6"/>
          <p:cNvSpPr txBox="1"/>
          <p:nvPr/>
        </p:nvSpPr>
        <p:spPr>
          <a:xfrm>
            <a:off x="749808" y="2057400"/>
            <a:ext cx="1721449" cy="457200"/>
          </a:xfrm>
          <a:prstGeom prst="rect">
            <a:avLst/>
          </a:prstGeom>
          <a:noFill/>
          <a:ln/>
        </p:spPr>
        <p:txBody>
          <a:bodyPr wrap="square" lIns="0" tIns="0" rIns="0" bIns="0" rtlCol="0" anchor="t"/>
          <a:lstStyle/>
          <a:p>
            <a:pPr algn="l" indent="0" marL="0">
              <a:buNone/>
            </a:pPr>
            <a:r>
              <a:rPr lang="en-US" sz="2200" b="1" dirty="0">
                <a:solidFill>
                  <a:srgbClr val="2DD4BF"/>
                </a:solidFill>
                <a:latin typeface="Consolas" pitchFamily="34" charset="0"/>
                <a:ea typeface="Consolas" pitchFamily="34" charset="-122"/>
                <a:cs typeface="Consolas" pitchFamily="34" charset="-120"/>
              </a:rPr>
              <a:t>RQ1</a:t>
            </a:r>
            <a:endParaRPr lang="en-US" sz="2200" dirty="0"/>
          </a:p>
        </p:txBody>
      </p:sp>
      <p:sp>
        <p:nvSpPr>
          <p:cNvPr id="9" name="Text 7"/>
          <p:cNvSpPr txBox="1"/>
          <p:nvPr/>
        </p:nvSpPr>
        <p:spPr>
          <a:xfrm>
            <a:off x="749808" y="2587752"/>
            <a:ext cx="1721449" cy="457200"/>
          </a:xfrm>
          <a:prstGeom prst="rect">
            <a:avLst/>
          </a:prstGeom>
          <a:noFill/>
          <a:ln/>
        </p:spPr>
        <p:txBody>
          <a:bodyPr wrap="square" lIns="0" tIns="0" rIns="0" bIns="0" rtlCol="0" anchor="t"/>
          <a:lstStyle/>
          <a:p>
            <a:pPr algn="l" indent="0" marL="0">
              <a:buNone/>
            </a:pPr>
            <a:r>
              <a:rPr lang="en-US" sz="1300" b="1" dirty="0">
                <a:solidFill>
                  <a:srgbClr val="E9EEF6"/>
                </a:solidFill>
                <a:latin typeface="Helvetica Neue" pitchFamily="34" charset="0"/>
                <a:ea typeface="Helvetica Neue" pitchFamily="34" charset="-122"/>
                <a:cs typeface="Helvetica Neue" pitchFamily="34" charset="-120"/>
              </a:rPr>
              <a:t>Bound representation</a:t>
            </a:r>
            <a:endParaRPr lang="en-US" sz="1300" dirty="0"/>
          </a:p>
        </p:txBody>
      </p:sp>
      <p:sp>
        <p:nvSpPr>
          <p:cNvPr id="10" name="Text 8"/>
          <p:cNvSpPr txBox="1"/>
          <p:nvPr/>
        </p:nvSpPr>
        <p:spPr>
          <a:xfrm>
            <a:off x="749808" y="3063240"/>
            <a:ext cx="1703161" cy="1280160"/>
          </a:xfrm>
          <a:prstGeom prst="rect">
            <a:avLst/>
          </a:prstGeom>
          <a:noFill/>
          <a:ln/>
        </p:spPr>
        <p:txBody>
          <a:bodyPr wrap="square" lIns="0" tIns="0" rIns="0" bIns="0" rtlCol="0" anchor="t"/>
          <a:lstStyle/>
          <a:p>
            <a:pPr algn="l" indent="0" marL="0">
              <a:lnSpc>
                <a:spcPct val="108000"/>
              </a:lnSpc>
              <a:buNone/>
            </a:pPr>
            <a:r>
              <a:rPr lang="en-US" sz="1150" dirty="0">
                <a:solidFill>
                  <a:srgbClr val="C7D0DE"/>
                </a:solidFill>
                <a:latin typeface="Helvetica Neue" pitchFamily="34" charset="0"/>
                <a:ea typeface="Helvetica Neue" pitchFamily="34" charset="-122"/>
                <a:cs typeface="Helvetica Neue" pitchFamily="34" charset="-120"/>
              </a:rPr>
              <a:t>How can automaton-based detection results be structured into formal bounds usable at runtime?</a:t>
            </a:r>
            <a:endParaRPr lang="en-US" sz="1150" dirty="0"/>
          </a:p>
        </p:txBody>
      </p:sp>
      <p:sp>
        <p:nvSpPr>
          <p:cNvPr id="11" name="Shape 9"/>
          <p:cNvSpPr/>
          <p:nvPr/>
        </p:nvSpPr>
        <p:spPr>
          <a:xfrm>
            <a:off x="749808" y="4370832"/>
            <a:ext cx="1684873" cy="0"/>
          </a:xfrm>
          <a:prstGeom prst="line">
            <a:avLst/>
          </a:prstGeom>
          <a:noFill/>
          <a:ln w="6350">
            <a:solidFill>
              <a:srgbClr val="2A3752"/>
            </a:solidFill>
            <a:prstDash val="solid"/>
          </a:ln>
        </p:spPr>
      </p:sp>
      <p:sp>
        <p:nvSpPr>
          <p:cNvPr id="12" name="Text 10"/>
          <p:cNvSpPr txBox="1"/>
          <p:nvPr/>
        </p:nvSpPr>
        <p:spPr>
          <a:xfrm>
            <a:off x="749808" y="4480560"/>
            <a:ext cx="1721449" cy="320040"/>
          </a:xfrm>
          <a:prstGeom prst="rect">
            <a:avLst/>
          </a:prstGeom>
          <a:noFill/>
          <a:ln/>
        </p:spPr>
        <p:txBody>
          <a:bodyPr wrap="square" lIns="0" tIns="0" rIns="0" bIns="0" rtlCol="0" anchor="t"/>
          <a:lstStyle/>
          <a:p>
            <a:pPr algn="l" indent="0" marL="0">
              <a:buNone/>
            </a:pPr>
            <a:r>
              <a:rPr lang="en-US" sz="850" dirty="0">
                <a:solidFill>
                  <a:srgbClr val="93A0B8"/>
                </a:solidFill>
                <a:latin typeface="Consolas" pitchFamily="34" charset="0"/>
                <a:ea typeface="Consolas" pitchFamily="34" charset="-122"/>
                <a:cs typeface="Consolas" pitchFamily="34" charset="-120"/>
              </a:rPr>
              <a:t>Ch. 3 · bound schema</a:t>
            </a:r>
            <a:endParaRPr lang="en-US" sz="850" dirty="0"/>
          </a:p>
        </p:txBody>
      </p:sp>
      <p:sp>
        <p:nvSpPr>
          <p:cNvPr id="13" name="Shape 11"/>
          <p:cNvSpPr/>
          <p:nvPr/>
        </p:nvSpPr>
        <p:spPr>
          <a:xfrm>
            <a:off x="2800441" y="1874520"/>
            <a:ext cx="2087209" cy="3063240"/>
          </a:xfrm>
          <a:prstGeom prst="roundRect">
            <a:avLst>
              <a:gd name="adj" fmla="val 3505"/>
            </a:avLst>
          </a:prstGeom>
          <a:solidFill>
            <a:srgbClr val="121B2E"/>
          </a:solidFill>
          <a:ln w="9525">
            <a:solidFill>
              <a:srgbClr val="2A3752"/>
            </a:solidFill>
            <a:prstDash val="solid"/>
          </a:ln>
        </p:spPr>
      </p:sp>
      <p:sp>
        <p:nvSpPr>
          <p:cNvPr id="14" name="Text 12"/>
          <p:cNvSpPr txBox="1"/>
          <p:nvPr/>
        </p:nvSpPr>
        <p:spPr>
          <a:xfrm>
            <a:off x="3001609" y="2057400"/>
            <a:ext cx="1721449" cy="457200"/>
          </a:xfrm>
          <a:prstGeom prst="rect">
            <a:avLst/>
          </a:prstGeom>
          <a:noFill/>
          <a:ln/>
        </p:spPr>
        <p:txBody>
          <a:bodyPr wrap="square" lIns="0" tIns="0" rIns="0" bIns="0" rtlCol="0" anchor="t"/>
          <a:lstStyle/>
          <a:p>
            <a:pPr algn="l" indent="0" marL="0">
              <a:buNone/>
            </a:pPr>
            <a:r>
              <a:rPr lang="en-US" sz="2200" b="1" dirty="0">
                <a:solidFill>
                  <a:srgbClr val="2DD4BF"/>
                </a:solidFill>
                <a:latin typeface="Consolas" pitchFamily="34" charset="0"/>
                <a:ea typeface="Consolas" pitchFamily="34" charset="-122"/>
                <a:cs typeface="Consolas" pitchFamily="34" charset="-120"/>
              </a:rPr>
              <a:t>RQ2</a:t>
            </a:r>
            <a:endParaRPr lang="en-US" sz="2200" dirty="0"/>
          </a:p>
        </p:txBody>
      </p:sp>
      <p:sp>
        <p:nvSpPr>
          <p:cNvPr id="15" name="Text 13"/>
          <p:cNvSpPr txBox="1"/>
          <p:nvPr/>
        </p:nvSpPr>
        <p:spPr>
          <a:xfrm>
            <a:off x="3001609" y="2587752"/>
            <a:ext cx="1721449" cy="457200"/>
          </a:xfrm>
          <a:prstGeom prst="rect">
            <a:avLst/>
          </a:prstGeom>
          <a:noFill/>
          <a:ln/>
        </p:spPr>
        <p:txBody>
          <a:bodyPr wrap="square" lIns="0" tIns="0" rIns="0" bIns="0" rtlCol="0" anchor="t"/>
          <a:lstStyle/>
          <a:p>
            <a:pPr algn="l" indent="0" marL="0">
              <a:buNone/>
            </a:pPr>
            <a:r>
              <a:rPr lang="en-US" sz="1300" b="1" dirty="0">
                <a:solidFill>
                  <a:srgbClr val="E9EEF6"/>
                </a:solidFill>
                <a:latin typeface="Helvetica Neue" pitchFamily="34" charset="0"/>
                <a:ea typeface="Helvetica Neue" pitchFamily="34" charset="-122"/>
                <a:cs typeface="Helvetica Neue" pitchFamily="34" charset="-120"/>
              </a:rPr>
              <a:t>Violation taxonomy</a:t>
            </a:r>
            <a:endParaRPr lang="en-US" sz="1300" dirty="0"/>
          </a:p>
        </p:txBody>
      </p:sp>
      <p:sp>
        <p:nvSpPr>
          <p:cNvPr id="16" name="Text 14"/>
          <p:cNvSpPr txBox="1"/>
          <p:nvPr/>
        </p:nvSpPr>
        <p:spPr>
          <a:xfrm>
            <a:off x="3001609" y="3063240"/>
            <a:ext cx="1703161" cy="1280160"/>
          </a:xfrm>
          <a:prstGeom prst="rect">
            <a:avLst/>
          </a:prstGeom>
          <a:noFill/>
          <a:ln/>
        </p:spPr>
        <p:txBody>
          <a:bodyPr wrap="square" lIns="0" tIns="0" rIns="0" bIns="0" rtlCol="0" anchor="t"/>
          <a:lstStyle/>
          <a:p>
            <a:pPr algn="l" indent="0" marL="0">
              <a:lnSpc>
                <a:spcPct val="108000"/>
              </a:lnSpc>
              <a:buNone/>
            </a:pPr>
            <a:r>
              <a:rPr lang="en-US" sz="1150" dirty="0">
                <a:solidFill>
                  <a:srgbClr val="C7D0DE"/>
                </a:solidFill>
                <a:latin typeface="Helvetica Neue" pitchFamily="34" charset="0"/>
                <a:ea typeface="Helvetica Neue" pitchFamily="34" charset="-122"/>
                <a:cs typeface="Helvetica Neue" pitchFamily="34" charset="-120"/>
              </a:rPr>
              <a:t>How can violations of AI reasoning against such bounds be categorised for ICS anomaly explanation?</a:t>
            </a:r>
            <a:endParaRPr lang="en-US" sz="1150" dirty="0"/>
          </a:p>
        </p:txBody>
      </p:sp>
      <p:sp>
        <p:nvSpPr>
          <p:cNvPr id="17" name="Shape 15"/>
          <p:cNvSpPr/>
          <p:nvPr/>
        </p:nvSpPr>
        <p:spPr>
          <a:xfrm>
            <a:off x="3001609" y="4370832"/>
            <a:ext cx="1684873" cy="0"/>
          </a:xfrm>
          <a:prstGeom prst="line">
            <a:avLst/>
          </a:prstGeom>
          <a:noFill/>
          <a:ln w="6350">
            <a:solidFill>
              <a:srgbClr val="2A3752"/>
            </a:solidFill>
            <a:prstDash val="solid"/>
          </a:ln>
        </p:spPr>
      </p:sp>
      <p:sp>
        <p:nvSpPr>
          <p:cNvPr id="18" name="Text 16"/>
          <p:cNvSpPr txBox="1"/>
          <p:nvPr/>
        </p:nvSpPr>
        <p:spPr>
          <a:xfrm>
            <a:off x="3001609" y="4480560"/>
            <a:ext cx="1721449" cy="320040"/>
          </a:xfrm>
          <a:prstGeom prst="rect">
            <a:avLst/>
          </a:prstGeom>
          <a:noFill/>
          <a:ln/>
        </p:spPr>
        <p:txBody>
          <a:bodyPr wrap="square" lIns="0" tIns="0" rIns="0" bIns="0" rtlCol="0" anchor="t"/>
          <a:lstStyle/>
          <a:p>
            <a:pPr algn="l" indent="0" marL="0">
              <a:buNone/>
            </a:pPr>
            <a:r>
              <a:rPr lang="en-US" sz="850" dirty="0">
                <a:solidFill>
                  <a:srgbClr val="93A0B8"/>
                </a:solidFill>
                <a:latin typeface="Consolas" pitchFamily="34" charset="0"/>
                <a:ea typeface="Consolas" pitchFamily="34" charset="-122"/>
                <a:cs typeface="Consolas" pitchFamily="34" charset="-120"/>
              </a:rPr>
              <a:t>Ch. 3 · V1–V5</a:t>
            </a:r>
            <a:endParaRPr lang="en-US" sz="850" dirty="0"/>
          </a:p>
        </p:txBody>
      </p:sp>
      <p:sp>
        <p:nvSpPr>
          <p:cNvPr id="19" name="Shape 17"/>
          <p:cNvSpPr/>
          <p:nvPr/>
        </p:nvSpPr>
        <p:spPr>
          <a:xfrm>
            <a:off x="5052243" y="1874520"/>
            <a:ext cx="2087209" cy="3063240"/>
          </a:xfrm>
          <a:prstGeom prst="roundRect">
            <a:avLst>
              <a:gd name="adj" fmla="val 3505"/>
            </a:avLst>
          </a:prstGeom>
          <a:solidFill>
            <a:srgbClr val="121B2E"/>
          </a:solidFill>
          <a:ln w="9525">
            <a:solidFill>
              <a:srgbClr val="2A3752"/>
            </a:solidFill>
            <a:prstDash val="solid"/>
          </a:ln>
        </p:spPr>
      </p:sp>
      <p:sp>
        <p:nvSpPr>
          <p:cNvPr id="20" name="Text 18"/>
          <p:cNvSpPr txBox="1"/>
          <p:nvPr/>
        </p:nvSpPr>
        <p:spPr>
          <a:xfrm>
            <a:off x="5253411" y="2057400"/>
            <a:ext cx="1721449" cy="457200"/>
          </a:xfrm>
          <a:prstGeom prst="rect">
            <a:avLst/>
          </a:prstGeom>
          <a:noFill/>
          <a:ln/>
        </p:spPr>
        <p:txBody>
          <a:bodyPr wrap="square" lIns="0" tIns="0" rIns="0" bIns="0" rtlCol="0" anchor="t"/>
          <a:lstStyle/>
          <a:p>
            <a:pPr algn="l" indent="0" marL="0">
              <a:buNone/>
            </a:pPr>
            <a:r>
              <a:rPr lang="en-US" sz="2200" b="1" dirty="0">
                <a:solidFill>
                  <a:srgbClr val="F5A524"/>
                </a:solidFill>
                <a:latin typeface="Consolas" pitchFamily="34" charset="0"/>
                <a:ea typeface="Consolas" pitchFamily="34" charset="-122"/>
                <a:cs typeface="Consolas" pitchFamily="34" charset="-120"/>
              </a:rPr>
              <a:t>RQ3</a:t>
            </a:r>
            <a:endParaRPr lang="en-US" sz="2200" dirty="0"/>
          </a:p>
        </p:txBody>
      </p:sp>
      <p:sp>
        <p:nvSpPr>
          <p:cNvPr id="21" name="Text 19"/>
          <p:cNvSpPr txBox="1"/>
          <p:nvPr/>
        </p:nvSpPr>
        <p:spPr>
          <a:xfrm>
            <a:off x="5253411" y="2587752"/>
            <a:ext cx="1721449" cy="457200"/>
          </a:xfrm>
          <a:prstGeom prst="rect">
            <a:avLst/>
          </a:prstGeom>
          <a:noFill/>
          <a:ln/>
        </p:spPr>
        <p:txBody>
          <a:bodyPr wrap="square" lIns="0" tIns="0" rIns="0" bIns="0" rtlCol="0" anchor="t"/>
          <a:lstStyle/>
          <a:p>
            <a:pPr algn="l" indent="0" marL="0">
              <a:buNone/>
            </a:pPr>
            <a:r>
              <a:rPr lang="en-US" sz="1300" b="1" dirty="0">
                <a:solidFill>
                  <a:srgbClr val="E9EEF6"/>
                </a:solidFill>
                <a:latin typeface="Helvetica Neue" pitchFamily="34" charset="0"/>
                <a:ea typeface="Helvetica Neue" pitchFamily="34" charset="-122"/>
                <a:cs typeface="Helvetica Neue" pitchFamily="34" charset="-120"/>
              </a:rPr>
              <a:t>Detector reliability</a:t>
            </a:r>
            <a:endParaRPr lang="en-US" sz="1300" dirty="0"/>
          </a:p>
        </p:txBody>
      </p:sp>
      <p:sp>
        <p:nvSpPr>
          <p:cNvPr id="22" name="Text 20"/>
          <p:cNvSpPr txBox="1"/>
          <p:nvPr/>
        </p:nvSpPr>
        <p:spPr>
          <a:xfrm>
            <a:off x="5253411" y="3063240"/>
            <a:ext cx="1703161" cy="1280160"/>
          </a:xfrm>
          <a:prstGeom prst="rect">
            <a:avLst/>
          </a:prstGeom>
          <a:noFill/>
          <a:ln/>
        </p:spPr>
        <p:txBody>
          <a:bodyPr wrap="square" lIns="0" tIns="0" rIns="0" bIns="0" rtlCol="0" anchor="t"/>
          <a:lstStyle/>
          <a:p>
            <a:pPr algn="l" indent="0" marL="0">
              <a:lnSpc>
                <a:spcPct val="108000"/>
              </a:lnSpc>
              <a:buNone/>
            </a:pPr>
            <a:r>
              <a:rPr lang="en-US" sz="1150" dirty="0">
                <a:solidFill>
                  <a:srgbClr val="C7D0DE"/>
                </a:solidFill>
                <a:latin typeface="Helvetica Neue" pitchFamily="34" charset="0"/>
                <a:ea typeface="Helvetica Neue" pitchFamily="34" charset="-122"/>
                <a:cs typeface="Helvetica Neue" pitchFamily="34" charset="-120"/>
              </a:rPr>
              <a:t>How accurately and reliably does ReasonGuard detect violations across event types and local / cloud LLMs?</a:t>
            </a:r>
            <a:endParaRPr lang="en-US" sz="1150" dirty="0"/>
          </a:p>
        </p:txBody>
      </p:sp>
      <p:sp>
        <p:nvSpPr>
          <p:cNvPr id="23" name="Shape 21"/>
          <p:cNvSpPr/>
          <p:nvPr/>
        </p:nvSpPr>
        <p:spPr>
          <a:xfrm>
            <a:off x="5253411" y="4370832"/>
            <a:ext cx="1684873" cy="0"/>
          </a:xfrm>
          <a:prstGeom prst="line">
            <a:avLst/>
          </a:prstGeom>
          <a:noFill/>
          <a:ln w="6350">
            <a:solidFill>
              <a:srgbClr val="2A3752"/>
            </a:solidFill>
            <a:prstDash val="solid"/>
          </a:ln>
        </p:spPr>
      </p:sp>
      <p:sp>
        <p:nvSpPr>
          <p:cNvPr id="24" name="Text 22"/>
          <p:cNvSpPr txBox="1"/>
          <p:nvPr/>
        </p:nvSpPr>
        <p:spPr>
          <a:xfrm>
            <a:off x="5253411" y="4480560"/>
            <a:ext cx="1721449" cy="320040"/>
          </a:xfrm>
          <a:prstGeom prst="rect">
            <a:avLst/>
          </a:prstGeom>
          <a:noFill/>
          <a:ln/>
        </p:spPr>
        <p:txBody>
          <a:bodyPr wrap="square" lIns="0" tIns="0" rIns="0" bIns="0" rtlCol="0" anchor="t"/>
          <a:lstStyle/>
          <a:p>
            <a:pPr algn="l" indent="0" marL="0">
              <a:buNone/>
            </a:pPr>
            <a:r>
              <a:rPr lang="en-US" sz="850" dirty="0">
                <a:solidFill>
                  <a:srgbClr val="93A0B8"/>
                </a:solidFill>
                <a:latin typeface="Consolas" pitchFamily="34" charset="0"/>
                <a:ea typeface="Consolas" pitchFamily="34" charset="-122"/>
                <a:cs typeface="Consolas" pitchFamily="34" charset="-120"/>
              </a:rPr>
              <a:t>Ch. 4 · annotated set</a:t>
            </a:r>
            <a:endParaRPr lang="en-US" sz="850" dirty="0"/>
          </a:p>
        </p:txBody>
      </p:sp>
      <p:sp>
        <p:nvSpPr>
          <p:cNvPr id="25" name="Shape 23"/>
          <p:cNvSpPr/>
          <p:nvPr/>
        </p:nvSpPr>
        <p:spPr>
          <a:xfrm>
            <a:off x="7304044" y="1874520"/>
            <a:ext cx="2087209" cy="3063240"/>
          </a:xfrm>
          <a:prstGeom prst="roundRect">
            <a:avLst>
              <a:gd name="adj" fmla="val 3505"/>
            </a:avLst>
          </a:prstGeom>
          <a:solidFill>
            <a:srgbClr val="121B2E"/>
          </a:solidFill>
          <a:ln w="9525">
            <a:solidFill>
              <a:srgbClr val="2A3752"/>
            </a:solidFill>
            <a:prstDash val="solid"/>
          </a:ln>
        </p:spPr>
      </p:sp>
      <p:sp>
        <p:nvSpPr>
          <p:cNvPr id="26" name="Text 24"/>
          <p:cNvSpPr txBox="1"/>
          <p:nvPr/>
        </p:nvSpPr>
        <p:spPr>
          <a:xfrm>
            <a:off x="7505212" y="2057400"/>
            <a:ext cx="1721449" cy="457200"/>
          </a:xfrm>
          <a:prstGeom prst="rect">
            <a:avLst/>
          </a:prstGeom>
          <a:noFill/>
          <a:ln/>
        </p:spPr>
        <p:txBody>
          <a:bodyPr wrap="square" lIns="0" tIns="0" rIns="0" bIns="0" rtlCol="0" anchor="t"/>
          <a:lstStyle/>
          <a:p>
            <a:pPr algn="l" indent="0" marL="0">
              <a:buNone/>
            </a:pPr>
            <a:r>
              <a:rPr lang="en-US" sz="2200" b="1" dirty="0">
                <a:solidFill>
                  <a:srgbClr val="F5A524"/>
                </a:solidFill>
                <a:latin typeface="Consolas" pitchFamily="34" charset="0"/>
                <a:ea typeface="Consolas" pitchFamily="34" charset="-122"/>
                <a:cs typeface="Consolas" pitchFamily="34" charset="-120"/>
              </a:rPr>
              <a:t>RQ4</a:t>
            </a:r>
            <a:endParaRPr lang="en-US" sz="2200" dirty="0"/>
          </a:p>
        </p:txBody>
      </p:sp>
      <p:sp>
        <p:nvSpPr>
          <p:cNvPr id="27" name="Text 25"/>
          <p:cNvSpPr txBox="1"/>
          <p:nvPr/>
        </p:nvSpPr>
        <p:spPr>
          <a:xfrm>
            <a:off x="7505212" y="2587752"/>
            <a:ext cx="1721449" cy="457200"/>
          </a:xfrm>
          <a:prstGeom prst="rect">
            <a:avLst/>
          </a:prstGeom>
          <a:noFill/>
          <a:ln/>
        </p:spPr>
        <p:txBody>
          <a:bodyPr wrap="square" lIns="0" tIns="0" rIns="0" bIns="0" rtlCol="0" anchor="t"/>
          <a:lstStyle/>
          <a:p>
            <a:pPr algn="l" indent="0" marL="0">
              <a:buNone/>
            </a:pPr>
            <a:r>
              <a:rPr lang="en-US" sz="1300" b="1" dirty="0">
                <a:solidFill>
                  <a:srgbClr val="E9EEF6"/>
                </a:solidFill>
                <a:latin typeface="Helvetica Neue" pitchFamily="34" charset="0"/>
                <a:ea typeface="Helvetica Neue" pitchFamily="34" charset="-122"/>
                <a:cs typeface="Helvetica Neue" pitchFamily="34" charset="-120"/>
              </a:rPr>
              <a:t>Conditions for violation</a:t>
            </a:r>
            <a:endParaRPr lang="en-US" sz="1300" dirty="0"/>
          </a:p>
        </p:txBody>
      </p:sp>
      <p:sp>
        <p:nvSpPr>
          <p:cNvPr id="28" name="Text 26"/>
          <p:cNvSpPr txBox="1"/>
          <p:nvPr/>
        </p:nvSpPr>
        <p:spPr>
          <a:xfrm>
            <a:off x="7505212" y="3063240"/>
            <a:ext cx="1703161" cy="1280160"/>
          </a:xfrm>
          <a:prstGeom prst="rect">
            <a:avLst/>
          </a:prstGeom>
          <a:noFill/>
          <a:ln/>
        </p:spPr>
        <p:txBody>
          <a:bodyPr wrap="square" lIns="0" tIns="0" rIns="0" bIns="0" rtlCol="0" anchor="t"/>
          <a:lstStyle/>
          <a:p>
            <a:pPr algn="l" indent="0" marL="0">
              <a:lnSpc>
                <a:spcPct val="108000"/>
              </a:lnSpc>
              <a:buNone/>
            </a:pPr>
            <a:r>
              <a:rPr lang="en-US" sz="1150" dirty="0">
                <a:solidFill>
                  <a:srgbClr val="C7D0DE"/>
                </a:solidFill>
                <a:latin typeface="Helvetica Neue" pitchFamily="34" charset="0"/>
                <a:ea typeface="Helvetica Neue" pitchFamily="34" charset="-122"/>
                <a:cs typeface="Helvetica Neue" pitchFamily="34" charset="-120"/>
              </a:rPr>
              <a:t>Under which circumstances is AI reasoning most likely to violate the bounds — model, event type?</a:t>
            </a:r>
            <a:endParaRPr lang="en-US" sz="1150" dirty="0"/>
          </a:p>
        </p:txBody>
      </p:sp>
      <p:sp>
        <p:nvSpPr>
          <p:cNvPr id="29" name="Shape 27"/>
          <p:cNvSpPr/>
          <p:nvPr/>
        </p:nvSpPr>
        <p:spPr>
          <a:xfrm>
            <a:off x="7505212" y="4370832"/>
            <a:ext cx="1684873" cy="0"/>
          </a:xfrm>
          <a:prstGeom prst="line">
            <a:avLst/>
          </a:prstGeom>
          <a:noFill/>
          <a:ln w="6350">
            <a:solidFill>
              <a:srgbClr val="2A3752"/>
            </a:solidFill>
            <a:prstDash val="solid"/>
          </a:ln>
        </p:spPr>
      </p:sp>
      <p:sp>
        <p:nvSpPr>
          <p:cNvPr id="30" name="Text 28"/>
          <p:cNvSpPr txBox="1"/>
          <p:nvPr/>
        </p:nvSpPr>
        <p:spPr>
          <a:xfrm>
            <a:off x="7505212" y="4480560"/>
            <a:ext cx="1721449" cy="320040"/>
          </a:xfrm>
          <a:prstGeom prst="rect">
            <a:avLst/>
          </a:prstGeom>
          <a:noFill/>
          <a:ln/>
        </p:spPr>
        <p:txBody>
          <a:bodyPr wrap="square" lIns="0" tIns="0" rIns="0" bIns="0" rtlCol="0" anchor="t"/>
          <a:lstStyle/>
          <a:p>
            <a:pPr algn="l" indent="0" marL="0">
              <a:buNone/>
            </a:pPr>
            <a:r>
              <a:rPr lang="en-US" sz="850" dirty="0">
                <a:solidFill>
                  <a:srgbClr val="93A0B8"/>
                </a:solidFill>
                <a:latin typeface="Consolas" pitchFamily="34" charset="0"/>
                <a:ea typeface="Consolas" pitchFamily="34" charset="-122"/>
                <a:cs typeface="Consolas" pitchFamily="34" charset="-120"/>
              </a:rPr>
              <a:t>Ch. 4 · χ² association</a:t>
            </a:r>
            <a:endParaRPr lang="en-US" sz="850" dirty="0"/>
          </a:p>
        </p:txBody>
      </p:sp>
      <p:sp>
        <p:nvSpPr>
          <p:cNvPr id="31" name="Shape 29"/>
          <p:cNvSpPr/>
          <p:nvPr/>
        </p:nvSpPr>
        <p:spPr>
          <a:xfrm>
            <a:off x="9555846" y="1874520"/>
            <a:ext cx="2087209" cy="3063240"/>
          </a:xfrm>
          <a:prstGeom prst="roundRect">
            <a:avLst>
              <a:gd name="adj" fmla="val 3505"/>
            </a:avLst>
          </a:prstGeom>
          <a:solidFill>
            <a:srgbClr val="121B2E"/>
          </a:solidFill>
          <a:ln w="9525">
            <a:solidFill>
              <a:srgbClr val="2A3752"/>
            </a:solidFill>
            <a:prstDash val="solid"/>
          </a:ln>
        </p:spPr>
      </p:sp>
      <p:sp>
        <p:nvSpPr>
          <p:cNvPr id="32" name="Text 30"/>
          <p:cNvSpPr txBox="1"/>
          <p:nvPr/>
        </p:nvSpPr>
        <p:spPr>
          <a:xfrm>
            <a:off x="9757014" y="2057400"/>
            <a:ext cx="1721449" cy="457200"/>
          </a:xfrm>
          <a:prstGeom prst="rect">
            <a:avLst/>
          </a:prstGeom>
          <a:noFill/>
          <a:ln/>
        </p:spPr>
        <p:txBody>
          <a:bodyPr wrap="square" lIns="0" tIns="0" rIns="0" bIns="0" rtlCol="0" anchor="t"/>
          <a:lstStyle/>
          <a:p>
            <a:pPr algn="l" indent="0" marL="0">
              <a:buNone/>
            </a:pPr>
            <a:r>
              <a:rPr lang="en-US" sz="2200" b="1" dirty="0">
                <a:solidFill>
                  <a:srgbClr val="C7D0DE"/>
                </a:solidFill>
                <a:latin typeface="Consolas" pitchFamily="34" charset="0"/>
                <a:ea typeface="Consolas" pitchFamily="34" charset="-122"/>
                <a:cs typeface="Consolas" pitchFamily="34" charset="-120"/>
              </a:rPr>
              <a:t>RQ5</a:t>
            </a:r>
            <a:endParaRPr lang="en-US" sz="2200" dirty="0"/>
          </a:p>
        </p:txBody>
      </p:sp>
      <p:sp>
        <p:nvSpPr>
          <p:cNvPr id="33" name="Text 31"/>
          <p:cNvSpPr txBox="1"/>
          <p:nvPr/>
        </p:nvSpPr>
        <p:spPr>
          <a:xfrm>
            <a:off x="9757014" y="2587752"/>
            <a:ext cx="1721449" cy="457200"/>
          </a:xfrm>
          <a:prstGeom prst="rect">
            <a:avLst/>
          </a:prstGeom>
          <a:noFill/>
          <a:ln/>
        </p:spPr>
        <p:txBody>
          <a:bodyPr wrap="square" lIns="0" tIns="0" rIns="0" bIns="0" rtlCol="0" anchor="t"/>
          <a:lstStyle/>
          <a:p>
            <a:pPr algn="l" indent="0" marL="0">
              <a:buNone/>
            </a:pPr>
            <a:r>
              <a:rPr lang="en-US" sz="1300" b="1" dirty="0">
                <a:solidFill>
                  <a:srgbClr val="E9EEF6"/>
                </a:solidFill>
                <a:latin typeface="Helvetica Neue" pitchFamily="34" charset="0"/>
                <a:ea typeface="Helvetica Neue" pitchFamily="34" charset="-122"/>
                <a:cs typeface="Helvetica Neue" pitchFamily="34" charset="-120"/>
              </a:rPr>
              <a:t>Deployment guidelines</a:t>
            </a:r>
            <a:endParaRPr lang="en-US" sz="1300" dirty="0"/>
          </a:p>
        </p:txBody>
      </p:sp>
      <p:sp>
        <p:nvSpPr>
          <p:cNvPr id="34" name="Text 32"/>
          <p:cNvSpPr txBox="1"/>
          <p:nvPr/>
        </p:nvSpPr>
        <p:spPr>
          <a:xfrm>
            <a:off x="9757014" y="3063240"/>
            <a:ext cx="1703161" cy="1280160"/>
          </a:xfrm>
          <a:prstGeom prst="rect">
            <a:avLst/>
          </a:prstGeom>
          <a:noFill/>
          <a:ln/>
        </p:spPr>
        <p:txBody>
          <a:bodyPr wrap="square" lIns="0" tIns="0" rIns="0" bIns="0" rtlCol="0" anchor="t"/>
          <a:lstStyle/>
          <a:p>
            <a:pPr algn="l" indent="0" marL="0">
              <a:lnSpc>
                <a:spcPct val="108000"/>
              </a:lnSpc>
              <a:buNone/>
            </a:pPr>
            <a:r>
              <a:rPr lang="en-US" sz="1150" dirty="0">
                <a:solidFill>
                  <a:srgbClr val="C7D0DE"/>
                </a:solidFill>
                <a:latin typeface="Helvetica Neue" pitchFamily="34" charset="0"/>
                <a:ea typeface="Helvetica Neue" pitchFamily="34" charset="-122"/>
                <a:cs typeface="Helvetica Neue" pitchFamily="34" charset="-120"/>
              </a:rPr>
              <a:t>Which guidelines follow, and how can they support EU AI Act transparency and quality-management requirements?</a:t>
            </a:r>
            <a:endParaRPr lang="en-US" sz="1150" dirty="0"/>
          </a:p>
        </p:txBody>
      </p:sp>
      <p:sp>
        <p:nvSpPr>
          <p:cNvPr id="35" name="Shape 33"/>
          <p:cNvSpPr/>
          <p:nvPr/>
        </p:nvSpPr>
        <p:spPr>
          <a:xfrm>
            <a:off x="9757014" y="4370832"/>
            <a:ext cx="1684873" cy="0"/>
          </a:xfrm>
          <a:prstGeom prst="line">
            <a:avLst/>
          </a:prstGeom>
          <a:noFill/>
          <a:ln w="6350">
            <a:solidFill>
              <a:srgbClr val="2A3752"/>
            </a:solidFill>
            <a:prstDash val="solid"/>
          </a:ln>
        </p:spPr>
      </p:sp>
      <p:sp>
        <p:nvSpPr>
          <p:cNvPr id="36" name="Text 34"/>
          <p:cNvSpPr txBox="1"/>
          <p:nvPr/>
        </p:nvSpPr>
        <p:spPr>
          <a:xfrm>
            <a:off x="9757014" y="4480560"/>
            <a:ext cx="1721449" cy="320040"/>
          </a:xfrm>
          <a:prstGeom prst="rect">
            <a:avLst/>
          </a:prstGeom>
          <a:noFill/>
          <a:ln/>
        </p:spPr>
        <p:txBody>
          <a:bodyPr wrap="square" lIns="0" tIns="0" rIns="0" bIns="0" rtlCol="0" anchor="t"/>
          <a:lstStyle/>
          <a:p>
            <a:pPr algn="l" indent="0" marL="0">
              <a:buNone/>
            </a:pPr>
            <a:r>
              <a:rPr lang="en-US" sz="850" dirty="0">
                <a:solidFill>
                  <a:srgbClr val="93A0B8"/>
                </a:solidFill>
                <a:latin typeface="Consolas" pitchFamily="34" charset="0"/>
                <a:ea typeface="Consolas" pitchFamily="34" charset="-122"/>
                <a:cs typeface="Consolas" pitchFamily="34" charset="-120"/>
              </a:rPr>
              <a:t>Ch. 5 · Art. 13 / 17</a:t>
            </a:r>
            <a:endParaRPr lang="en-US" sz="850" dirty="0"/>
          </a:p>
        </p:txBody>
      </p:sp>
      <p:sp>
        <p:nvSpPr>
          <p:cNvPr id="37" name="Text 35"/>
          <p:cNvSpPr txBox="1"/>
          <p:nvPr/>
        </p:nvSpPr>
        <p:spPr>
          <a:xfrm>
            <a:off x="548640" y="5212080"/>
            <a:ext cx="11094415" cy="457200"/>
          </a:xfrm>
          <a:prstGeom prst="rect">
            <a:avLst/>
          </a:prstGeom>
          <a:noFill/>
          <a:ln/>
        </p:spPr>
        <p:txBody>
          <a:bodyPr wrap="square" lIns="0" tIns="0" rIns="0" bIns="0" rtlCol="0" anchor="t"/>
          <a:lstStyle/>
          <a:p>
            <a:pPr algn="l" indent="0" marL="0">
              <a:buNone/>
            </a:pPr>
            <a:r>
              <a:rPr lang="en-US" sz="1100" dirty="0">
                <a:solidFill>
                  <a:srgbClr val="93A0B8"/>
                </a:solidFill>
                <a:latin typeface="Helvetica Neue" pitchFamily="34" charset="0"/>
                <a:ea typeface="Helvetica Neue" pitchFamily="34" charset="-122"/>
                <a:cs typeface="Helvetica Neue" pitchFamily="34" charset="-120"/>
              </a:rPr>
              <a:t>Design questions (RQ1–RQ2) are answered constructively in the methodology; </a:t>
            </a:r>
            <a:pPr algn="l" indent="0" marL="0">
              <a:buNone/>
            </a:pPr>
            <a:r>
              <a:rPr lang="en-US" sz="1100" dirty="0">
                <a:solidFill>
                  <a:srgbClr val="93A0B8"/>
                </a:solidFill>
                <a:latin typeface="Helvetica Neue" pitchFamily="34" charset="0"/>
                <a:ea typeface="Helvetica Neue" pitchFamily="34" charset="-122"/>
                <a:cs typeface="Helvetica Neue" pitchFamily="34" charset="-120"/>
              </a:rPr>
              <a:t>empirical questions (RQ3–RQ4) by the evaluation; </a:t>
            </a:r>
            <a:pPr algn="l" indent="0" marL="0">
              <a:buNone/>
            </a:pPr>
            <a:r>
              <a:rPr lang="en-US" sz="1100" dirty="0">
                <a:solidFill>
                  <a:srgbClr val="93A0B8"/>
                </a:solidFill>
                <a:latin typeface="Helvetica Neue" pitchFamily="34" charset="0"/>
                <a:ea typeface="Helvetica Neue" pitchFamily="34" charset="-122"/>
                <a:cs typeface="Helvetica Neue" pitchFamily="34" charset="-120"/>
              </a:rPr>
              <a:t>RQ5 synthesises both into deployment guidelines.</a:t>
            </a:r>
            <a:endParaRPr lang="en-US" sz="11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indent="0" marL="0">
              <a:buNone/>
            </a:pPr>
            <a:r>
              <a:rPr lang="en-US" sz="1050" spc="200" kern="0" dirty="0">
                <a:solidFill>
                  <a:srgbClr val="2DD4BF"/>
                </a:solidFill>
                <a:latin typeface="Consolas" pitchFamily="34" charset="0"/>
                <a:ea typeface="Consolas" pitchFamily="34" charset="-122"/>
                <a:cs typeface="Consolas" pitchFamily="34" charset="-120"/>
              </a:rPr>
              <a:t>04 · CORE IDEA</a:t>
            </a:r>
            <a:endParaRPr lang="en-US" sz="1050" dirty="0"/>
          </a:p>
        </p:txBody>
      </p:sp>
      <p:sp>
        <p:nvSpPr>
          <p:cNvPr id="3" name="Text 1"/>
          <p:cNvSpPr txBox="1"/>
          <p:nvPr/>
        </p:nvSpPr>
        <p:spPr>
          <a:xfrm>
            <a:off x="548640" y="603504"/>
            <a:ext cx="11094415" cy="566928"/>
          </a:xfrm>
          <a:prstGeom prst="rect">
            <a:avLst/>
          </a:prstGeom>
          <a:noFill/>
          <a:ln/>
        </p:spPr>
        <p:txBody>
          <a:bodyPr wrap="square" lIns="0" tIns="0" rIns="0" bIns="0" rtlCol="0" anchor="t"/>
          <a:lstStyle/>
          <a:p>
            <a:pPr indent="0" marL="0">
              <a:buNone/>
            </a:pPr>
            <a:r>
              <a:rPr lang="en-US" sz="2350" b="1" dirty="0">
                <a:solidFill>
                  <a:srgbClr val="E9EEF6"/>
                </a:solidFill>
                <a:latin typeface="Helvetica Neue" pitchFamily="34" charset="0"/>
                <a:ea typeface="Helvetica Neue" pitchFamily="34" charset="-122"/>
                <a:cs typeface="Helvetica Neue" pitchFamily="34" charset="-120"/>
              </a:rPr>
              <a:t>The verdict becomes a specification the explanation must satisfy</a:t>
            </a:r>
            <a:endParaRPr lang="en-US" sz="235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350" dirty="0">
                <a:solidFill>
                  <a:srgbClr val="93A0B8"/>
                </a:solidFill>
                <a:latin typeface="Helvetica Neue" pitchFamily="34" charset="0"/>
                <a:ea typeface="Helvetica Neue" pitchFamily="34" charset="-122"/>
                <a:cs typeface="Helvetica Neue" pitchFamily="34" charset="-120"/>
              </a:rPr>
              <a:t>Runtime verification re-cast for AI-generated text: the execution under inspection is the explanation, the specification is the bound, the monitor is ReasonGuard's verifier.</a:t>
            </a:r>
            <a:endParaRPr lang="en-US" sz="1350" dirty="0"/>
          </a:p>
        </p:txBody>
      </p:sp>
      <p:sp>
        <p:nvSpPr>
          <p:cNvPr id="5" name="Text 3"/>
          <p:cNvSpPr txBox="1"/>
          <p:nvPr/>
        </p:nvSpPr>
        <p:spPr>
          <a:xfrm>
            <a:off x="548640" y="6473952"/>
            <a:ext cx="8778240" cy="219456"/>
          </a:xfrm>
          <a:prstGeom prst="rect">
            <a:avLst/>
          </a:prstGeom>
          <a:noFill/>
          <a:ln/>
        </p:spPr>
        <p:txBody>
          <a:bodyPr wrap="square" lIns="0" tIns="0" rIns="0" bIns="0" rtlCol="0" anchor="ctr"/>
          <a:lstStyle/>
          <a:p>
            <a:pPr indent="0" marL="0">
              <a:buNone/>
            </a:pPr>
            <a:r>
              <a:rPr lang="en-US" sz="850" dirty="0">
                <a:solidFill>
                  <a:srgbClr val="5C6A85"/>
                </a:solidFill>
                <a:latin typeface="Helvetica Neue" pitchFamily="34" charset="0"/>
                <a:ea typeface="Helvetica Neue" pitchFamily="34" charset="-122"/>
                <a:cs typeface="Helvetica Neue" pitchFamily="34" charset="-120"/>
              </a:rPr>
              <a:t>ReasonGuard  ·  Runtime Verification of AI Reasoning Faithfulness  ·  R. Bilalov  ·  SRH University Hamburg / FIT VUT Brno</a:t>
            </a:r>
            <a:endParaRPr lang="en-US" sz="850" dirty="0"/>
          </a:p>
        </p:txBody>
      </p:sp>
      <p:sp>
        <p:nvSpPr>
          <p:cNvPr id="6" name="Text 4"/>
          <p:cNvSpPr txBox="1"/>
          <p:nvPr/>
        </p:nvSpPr>
        <p:spPr>
          <a:xfrm>
            <a:off x="548640" y="6272784"/>
            <a:ext cx="9997135" cy="201168"/>
          </a:xfrm>
          <a:prstGeom prst="rect">
            <a:avLst/>
          </a:prstGeom>
          <a:noFill/>
          <a:ln/>
        </p:spPr>
        <p:txBody>
          <a:bodyPr wrap="square" lIns="0" tIns="0" rIns="0" bIns="0" rtlCol="0" anchor="ctr"/>
          <a:lstStyle/>
          <a:p>
            <a:pPr indent="0" marL="0">
              <a:buNone/>
            </a:pPr>
            <a:r>
              <a:rPr lang="en-US" sz="850" i="1" dirty="0">
                <a:solidFill>
                  <a:srgbClr val="5C6A85"/>
                </a:solidFill>
                <a:latin typeface="Helvetica Neue" pitchFamily="34" charset="0"/>
                <a:ea typeface="Helvetica Neue" pitchFamily="34" charset="-122"/>
                <a:cs typeface="Helvetica Neue" pitchFamily="34" charset="-120"/>
              </a:rPr>
              <a:t>Runtime-verification framing after Leucker &amp; Schallhart (2009). Faithfulness is a safety property: one false assertion refutes it.</a:t>
            </a:r>
            <a:endParaRPr lang="en-US" sz="850" dirty="0"/>
          </a:p>
        </p:txBody>
      </p:sp>
      <p:sp>
        <p:nvSpPr>
          <p:cNvPr id="7" name="Text 5"/>
          <p:cNvSpPr txBox="1"/>
          <p:nvPr/>
        </p:nvSpPr>
        <p:spPr>
          <a:xfrm>
            <a:off x="10545775" y="6473952"/>
            <a:ext cx="1097280" cy="219456"/>
          </a:xfrm>
          <a:prstGeom prst="rect">
            <a:avLst/>
          </a:prstGeom>
          <a:noFill/>
          <a:ln/>
        </p:spPr>
        <p:txBody>
          <a:bodyPr wrap="square" lIns="0" tIns="0" rIns="0" bIns="0" rtlCol="0" anchor="ctr"/>
          <a:lstStyle/>
          <a:p>
            <a:pPr algn="r" indent="0" marL="0">
              <a:buNone/>
            </a:pPr>
            <a:r>
              <a:rPr lang="en-US" sz="900" dirty="0">
                <a:solidFill>
                  <a:srgbClr val="5C6A85"/>
                </a:solidFill>
                <a:latin typeface="Consolas" pitchFamily="34" charset="0"/>
                <a:ea typeface="Consolas" pitchFamily="34" charset="-122"/>
                <a:cs typeface="Consolas" pitchFamily="34" charset="-120"/>
              </a:rPr>
              <a:t>5 / 18</a:t>
            </a:r>
            <a:endParaRPr lang="en-US" sz="900" dirty="0"/>
          </a:p>
        </p:txBody>
      </p:sp>
      <p:sp>
        <p:nvSpPr>
          <p:cNvPr id="8" name="Shape 6"/>
          <p:cNvSpPr/>
          <p:nvPr/>
        </p:nvSpPr>
        <p:spPr>
          <a:xfrm>
            <a:off x="548640" y="1920240"/>
            <a:ext cx="3246120" cy="1371600"/>
          </a:xfrm>
          <a:prstGeom prst="roundRect">
            <a:avLst>
              <a:gd name="adj" fmla="val 5333"/>
            </a:avLst>
          </a:prstGeom>
          <a:solidFill>
            <a:srgbClr val="121B2E"/>
          </a:solidFill>
          <a:ln w="15875">
            <a:solidFill>
              <a:srgbClr val="2DD4BF"/>
            </a:solidFill>
            <a:prstDash val="solid"/>
          </a:ln>
        </p:spPr>
      </p:sp>
      <p:sp>
        <p:nvSpPr>
          <p:cNvPr id="9" name="Text 7"/>
          <p:cNvSpPr txBox="1"/>
          <p:nvPr/>
        </p:nvSpPr>
        <p:spPr>
          <a:xfrm>
            <a:off x="749808" y="2066544"/>
            <a:ext cx="2880360" cy="219456"/>
          </a:xfrm>
          <a:prstGeom prst="rect">
            <a:avLst/>
          </a:prstGeom>
          <a:noFill/>
          <a:ln/>
        </p:spPr>
        <p:txBody>
          <a:bodyPr wrap="square" lIns="0" tIns="0" rIns="0" bIns="0" rtlCol="0" anchor="t"/>
          <a:lstStyle/>
          <a:p>
            <a:pPr algn="l" indent="0" marL="0">
              <a:buNone/>
            </a:pPr>
            <a:r>
              <a:rPr lang="en-US" sz="900" spc="100" kern="0" dirty="0">
                <a:solidFill>
                  <a:srgbClr val="2DD4BF"/>
                </a:solidFill>
                <a:latin typeface="Consolas" pitchFamily="34" charset="0"/>
                <a:ea typeface="Consolas" pitchFamily="34" charset="-122"/>
                <a:cs typeface="Consolas" pitchFamily="34" charset="-120"/>
              </a:rPr>
              <a:t>SPECIFICATION</a:t>
            </a:r>
            <a:endParaRPr lang="en-US" sz="900" dirty="0"/>
          </a:p>
        </p:txBody>
      </p:sp>
      <p:sp>
        <p:nvSpPr>
          <p:cNvPr id="10" name="Text 8"/>
          <p:cNvSpPr txBox="1"/>
          <p:nvPr/>
        </p:nvSpPr>
        <p:spPr>
          <a:xfrm>
            <a:off x="749808" y="2322576"/>
            <a:ext cx="2880360" cy="365760"/>
          </a:xfrm>
          <a:prstGeom prst="rect">
            <a:avLst/>
          </a:prstGeom>
          <a:noFill/>
          <a:ln/>
        </p:spPr>
        <p:txBody>
          <a:bodyPr wrap="square" lIns="0" tIns="0" rIns="0" bIns="0" rtlCol="0" anchor="t"/>
          <a:lstStyle/>
          <a:p>
            <a:pPr algn="l" indent="0" marL="0">
              <a:buNone/>
            </a:pPr>
            <a:r>
              <a:rPr lang="en-US" sz="1500" b="1" dirty="0">
                <a:solidFill>
                  <a:srgbClr val="E9EEF6"/>
                </a:solidFill>
                <a:latin typeface="Helvetica Neue" pitchFamily="34" charset="0"/>
                <a:ea typeface="Helvetica Neue" pitchFamily="34" charset="-122"/>
                <a:cs typeface="Helvetica Neue" pitchFamily="34" charset="-120"/>
              </a:rPr>
              <a:t>Formal bound (JSON)</a:t>
            </a:r>
            <a:endParaRPr lang="en-US" sz="1500" dirty="0"/>
          </a:p>
        </p:txBody>
      </p:sp>
      <p:sp>
        <p:nvSpPr>
          <p:cNvPr id="11" name="Text 9"/>
          <p:cNvSpPr txBox="1"/>
          <p:nvPr/>
        </p:nvSpPr>
        <p:spPr>
          <a:xfrm>
            <a:off x="749808" y="2706624"/>
            <a:ext cx="2862072" cy="548640"/>
          </a:xfrm>
          <a:prstGeom prst="rect">
            <a:avLst/>
          </a:prstGeom>
          <a:noFill/>
          <a:ln/>
        </p:spPr>
        <p:txBody>
          <a:bodyPr wrap="square" lIns="0" tIns="0" rIns="0" bIns="0" rtlCol="0" anchor="t"/>
          <a:lstStyle/>
          <a:p>
            <a:pPr algn="l" indent="0" marL="0">
              <a:lnSpc>
                <a:spcPct val="105000"/>
              </a:lnSpc>
              <a:buNone/>
            </a:pPr>
            <a:r>
              <a:rPr lang="en-US" sz="1000" dirty="0">
                <a:solidFill>
                  <a:srgbClr val="93A0B8"/>
                </a:solidFill>
                <a:latin typeface="Helvetica Neue" pitchFamily="34" charset="0"/>
                <a:ea typeface="Helvetica Neue" pitchFamily="34" charset="-122"/>
                <a:cs typeface="Helvetica Neue" pitchFamily="34" charset="-120"/>
              </a:rPr>
              <a:t>observable features · allowed / required / forbidden claims · machine-checkable flags</a:t>
            </a:r>
            <a:endParaRPr lang="en-US" sz="1000" dirty="0"/>
          </a:p>
        </p:txBody>
      </p:sp>
      <p:sp>
        <p:nvSpPr>
          <p:cNvPr id="12" name="Shape 10"/>
          <p:cNvSpPr/>
          <p:nvPr/>
        </p:nvSpPr>
        <p:spPr>
          <a:xfrm>
            <a:off x="4617720" y="1920240"/>
            <a:ext cx="3246120" cy="1371600"/>
          </a:xfrm>
          <a:prstGeom prst="roundRect">
            <a:avLst>
              <a:gd name="adj" fmla="val 5333"/>
            </a:avLst>
          </a:prstGeom>
          <a:solidFill>
            <a:srgbClr val="121B2E"/>
          </a:solidFill>
          <a:ln w="9525">
            <a:solidFill>
              <a:srgbClr val="2A3752"/>
            </a:solidFill>
            <a:prstDash val="solid"/>
          </a:ln>
        </p:spPr>
      </p:sp>
      <p:sp>
        <p:nvSpPr>
          <p:cNvPr id="13" name="Text 11"/>
          <p:cNvSpPr txBox="1"/>
          <p:nvPr/>
        </p:nvSpPr>
        <p:spPr>
          <a:xfrm>
            <a:off x="4818888" y="2066544"/>
            <a:ext cx="2880360" cy="219456"/>
          </a:xfrm>
          <a:prstGeom prst="rect">
            <a:avLst/>
          </a:prstGeom>
          <a:noFill/>
          <a:ln/>
        </p:spPr>
        <p:txBody>
          <a:bodyPr wrap="square" lIns="0" tIns="0" rIns="0" bIns="0" rtlCol="0" anchor="t"/>
          <a:lstStyle/>
          <a:p>
            <a:pPr algn="l" indent="0" marL="0">
              <a:buNone/>
            </a:pPr>
            <a:r>
              <a:rPr lang="en-US" sz="900" spc="100" kern="0" dirty="0">
                <a:solidFill>
                  <a:srgbClr val="E9EEF6"/>
                </a:solidFill>
                <a:latin typeface="Consolas" pitchFamily="34" charset="0"/>
                <a:ea typeface="Consolas" pitchFamily="34" charset="-122"/>
                <a:cs typeface="Consolas" pitchFamily="34" charset="-120"/>
              </a:rPr>
              <a:t>MONITOR</a:t>
            </a:r>
            <a:endParaRPr lang="en-US" sz="900" dirty="0"/>
          </a:p>
        </p:txBody>
      </p:sp>
      <p:sp>
        <p:nvSpPr>
          <p:cNvPr id="14" name="Text 12"/>
          <p:cNvSpPr txBox="1"/>
          <p:nvPr/>
        </p:nvSpPr>
        <p:spPr>
          <a:xfrm>
            <a:off x="4818888" y="2322576"/>
            <a:ext cx="2880360" cy="365760"/>
          </a:xfrm>
          <a:prstGeom prst="rect">
            <a:avLst/>
          </a:prstGeom>
          <a:noFill/>
          <a:ln/>
        </p:spPr>
        <p:txBody>
          <a:bodyPr wrap="square" lIns="0" tIns="0" rIns="0" bIns="0" rtlCol="0" anchor="t"/>
          <a:lstStyle/>
          <a:p>
            <a:pPr algn="l" indent="0" marL="0">
              <a:buNone/>
            </a:pPr>
            <a:r>
              <a:rPr lang="en-US" sz="1500" b="1" dirty="0">
                <a:solidFill>
                  <a:srgbClr val="E9EEF6"/>
                </a:solidFill>
                <a:latin typeface="Helvetica Neue" pitchFamily="34" charset="0"/>
                <a:ea typeface="Helvetica Neue" pitchFamily="34" charset="-122"/>
                <a:cs typeface="Helvetica Neue" pitchFamily="34" charset="-120"/>
              </a:rPr>
              <a:t>ReasonGuard verifier</a:t>
            </a:r>
            <a:endParaRPr lang="en-US" sz="1500" dirty="0"/>
          </a:p>
        </p:txBody>
      </p:sp>
      <p:sp>
        <p:nvSpPr>
          <p:cNvPr id="15" name="Text 13"/>
          <p:cNvSpPr txBox="1"/>
          <p:nvPr/>
        </p:nvSpPr>
        <p:spPr>
          <a:xfrm>
            <a:off x="4818888" y="2706624"/>
            <a:ext cx="2862072" cy="548640"/>
          </a:xfrm>
          <a:prstGeom prst="rect">
            <a:avLst/>
          </a:prstGeom>
          <a:noFill/>
          <a:ln/>
        </p:spPr>
        <p:txBody>
          <a:bodyPr wrap="square" lIns="0" tIns="0" rIns="0" bIns="0" rtlCol="0" anchor="t"/>
          <a:lstStyle/>
          <a:p>
            <a:pPr algn="l" indent="0" marL="0">
              <a:lnSpc>
                <a:spcPct val="105000"/>
              </a:lnSpc>
              <a:buNone/>
            </a:pPr>
            <a:r>
              <a:rPr lang="en-US" sz="1000" dirty="0">
                <a:solidFill>
                  <a:srgbClr val="93A0B8"/>
                </a:solidFill>
                <a:latin typeface="Helvetica Neue" pitchFamily="34" charset="0"/>
                <a:ea typeface="Helvetica Neue" pitchFamily="34" charset="-122"/>
                <a:cs typeface="Helvetica Neue" pitchFamily="34" charset="-120"/>
              </a:rPr>
              <a:t>extract claims → compare with bound → classify V1–V5 · deterministic, single pass</a:t>
            </a:r>
            <a:endParaRPr lang="en-US" sz="1000" dirty="0"/>
          </a:p>
        </p:txBody>
      </p:sp>
      <p:sp>
        <p:nvSpPr>
          <p:cNvPr id="16" name="Shape 14"/>
          <p:cNvSpPr/>
          <p:nvPr/>
        </p:nvSpPr>
        <p:spPr>
          <a:xfrm>
            <a:off x="8686800" y="1920240"/>
            <a:ext cx="3246120" cy="1371600"/>
          </a:xfrm>
          <a:prstGeom prst="roundRect">
            <a:avLst>
              <a:gd name="adj" fmla="val 5333"/>
            </a:avLst>
          </a:prstGeom>
          <a:solidFill>
            <a:srgbClr val="121B2E"/>
          </a:solidFill>
          <a:ln w="15875">
            <a:solidFill>
              <a:srgbClr val="F5A524"/>
            </a:solidFill>
            <a:prstDash val="solid"/>
          </a:ln>
        </p:spPr>
      </p:sp>
      <p:sp>
        <p:nvSpPr>
          <p:cNvPr id="17" name="Text 15"/>
          <p:cNvSpPr txBox="1"/>
          <p:nvPr/>
        </p:nvSpPr>
        <p:spPr>
          <a:xfrm>
            <a:off x="8887968" y="2066544"/>
            <a:ext cx="2880360" cy="219456"/>
          </a:xfrm>
          <a:prstGeom prst="rect">
            <a:avLst/>
          </a:prstGeom>
          <a:noFill/>
          <a:ln/>
        </p:spPr>
        <p:txBody>
          <a:bodyPr wrap="square" lIns="0" tIns="0" rIns="0" bIns="0" rtlCol="0" anchor="t"/>
          <a:lstStyle/>
          <a:p>
            <a:pPr algn="l" indent="0" marL="0">
              <a:buNone/>
            </a:pPr>
            <a:r>
              <a:rPr lang="en-US" sz="900" spc="100" kern="0" dirty="0">
                <a:solidFill>
                  <a:srgbClr val="F5A524"/>
                </a:solidFill>
                <a:latin typeface="Consolas" pitchFamily="34" charset="0"/>
                <a:ea typeface="Consolas" pitchFamily="34" charset="-122"/>
                <a:cs typeface="Consolas" pitchFamily="34" charset="-120"/>
              </a:rPr>
              <a:t>EXECUTION UNDER INSPECTION</a:t>
            </a:r>
            <a:endParaRPr lang="en-US" sz="900" dirty="0"/>
          </a:p>
        </p:txBody>
      </p:sp>
      <p:sp>
        <p:nvSpPr>
          <p:cNvPr id="18" name="Text 16"/>
          <p:cNvSpPr txBox="1"/>
          <p:nvPr/>
        </p:nvSpPr>
        <p:spPr>
          <a:xfrm>
            <a:off x="8887968" y="2322576"/>
            <a:ext cx="2880360" cy="365760"/>
          </a:xfrm>
          <a:prstGeom prst="rect">
            <a:avLst/>
          </a:prstGeom>
          <a:noFill/>
          <a:ln/>
        </p:spPr>
        <p:txBody>
          <a:bodyPr wrap="square" lIns="0" tIns="0" rIns="0" bIns="0" rtlCol="0" anchor="t"/>
          <a:lstStyle/>
          <a:p>
            <a:pPr algn="l" indent="0" marL="0">
              <a:buNone/>
            </a:pPr>
            <a:r>
              <a:rPr lang="en-US" sz="1500" b="1" dirty="0">
                <a:solidFill>
                  <a:srgbClr val="E9EEF6"/>
                </a:solidFill>
                <a:latin typeface="Helvetica Neue" pitchFamily="34" charset="0"/>
                <a:ea typeface="Helvetica Neue" pitchFamily="34" charset="-122"/>
                <a:cs typeface="Helvetica Neue" pitchFamily="34" charset="-120"/>
              </a:rPr>
              <a:t>LLM explanation</a:t>
            </a:r>
            <a:endParaRPr lang="en-US" sz="1500" dirty="0"/>
          </a:p>
        </p:txBody>
      </p:sp>
      <p:sp>
        <p:nvSpPr>
          <p:cNvPr id="19" name="Text 17"/>
          <p:cNvSpPr txBox="1"/>
          <p:nvPr/>
        </p:nvSpPr>
        <p:spPr>
          <a:xfrm>
            <a:off x="8887968" y="2706624"/>
            <a:ext cx="2862072" cy="548640"/>
          </a:xfrm>
          <a:prstGeom prst="rect">
            <a:avLst/>
          </a:prstGeom>
          <a:noFill/>
          <a:ln/>
        </p:spPr>
        <p:txBody>
          <a:bodyPr wrap="square" lIns="0" tIns="0" rIns="0" bIns="0" rtlCol="0" anchor="t"/>
          <a:lstStyle/>
          <a:p>
            <a:pPr algn="l" indent="0" marL="0">
              <a:lnSpc>
                <a:spcPct val="105000"/>
              </a:lnSpc>
              <a:buNone/>
            </a:pPr>
            <a:r>
              <a:rPr lang="en-US" sz="1000" dirty="0">
                <a:solidFill>
                  <a:srgbClr val="93A0B8"/>
                </a:solidFill>
                <a:latin typeface="Helvetica Neue" pitchFamily="34" charset="0"/>
                <a:ea typeface="Helvetica Neue" pitchFamily="34" charset="-122"/>
                <a:cs typeface="Helvetica Neue" pitchFamily="34" charset="-120"/>
              </a:rPr>
              <a:t>complete generated text, 3–5 sentences, produced from the same bound</a:t>
            </a:r>
            <a:endParaRPr lang="en-US" sz="1000" dirty="0"/>
          </a:p>
        </p:txBody>
      </p:sp>
      <p:sp>
        <p:nvSpPr>
          <p:cNvPr id="20" name="Shape 18"/>
          <p:cNvSpPr/>
          <p:nvPr/>
        </p:nvSpPr>
        <p:spPr>
          <a:xfrm>
            <a:off x="3867912" y="2606040"/>
            <a:ext cx="676656" cy="0"/>
          </a:xfrm>
          <a:prstGeom prst="line">
            <a:avLst/>
          </a:prstGeom>
          <a:noFill/>
          <a:ln w="22225">
            <a:solidFill>
              <a:srgbClr val="2DD4BF"/>
            </a:solidFill>
            <a:prstDash val="solid"/>
            <a:tailEnd type="triangle"/>
          </a:ln>
        </p:spPr>
      </p:sp>
      <p:sp>
        <p:nvSpPr>
          <p:cNvPr id="21" name="Text 19"/>
          <p:cNvSpPr txBox="1"/>
          <p:nvPr/>
        </p:nvSpPr>
        <p:spPr>
          <a:xfrm>
            <a:off x="3867912" y="2304288"/>
            <a:ext cx="676656" cy="228600"/>
          </a:xfrm>
          <a:prstGeom prst="rect">
            <a:avLst/>
          </a:prstGeom>
          <a:noFill/>
          <a:ln/>
        </p:spPr>
        <p:txBody>
          <a:bodyPr wrap="square" lIns="0" tIns="0" rIns="0" bIns="0" rtlCol="0" anchor="t"/>
          <a:lstStyle/>
          <a:p>
            <a:pPr algn="ctr" indent="0" marL="0">
              <a:buNone/>
            </a:pPr>
            <a:r>
              <a:rPr lang="en-US" sz="850" dirty="0">
                <a:solidFill>
                  <a:srgbClr val="2DD4BF"/>
                </a:solidFill>
                <a:latin typeface="Consolas" pitchFamily="34" charset="0"/>
                <a:ea typeface="Consolas" pitchFamily="34" charset="-122"/>
                <a:cs typeface="Consolas" pitchFamily="34" charset="-120"/>
              </a:rPr>
              <a:t>bound</a:t>
            </a:r>
            <a:endParaRPr lang="en-US" sz="850" dirty="0"/>
          </a:p>
        </p:txBody>
      </p:sp>
      <p:sp>
        <p:nvSpPr>
          <p:cNvPr id="22" name="Shape 20"/>
          <p:cNvSpPr/>
          <p:nvPr/>
        </p:nvSpPr>
        <p:spPr>
          <a:xfrm flipH="1">
            <a:off x="7936992" y="2606040"/>
            <a:ext cx="676656" cy="0"/>
          </a:xfrm>
          <a:prstGeom prst="line">
            <a:avLst/>
          </a:prstGeom>
          <a:noFill/>
          <a:ln w="22225">
            <a:solidFill>
              <a:srgbClr val="F5A524"/>
            </a:solidFill>
            <a:prstDash val="solid"/>
            <a:tailEnd type="triangle"/>
          </a:ln>
        </p:spPr>
      </p:sp>
      <p:sp>
        <p:nvSpPr>
          <p:cNvPr id="23" name="Text 21"/>
          <p:cNvSpPr txBox="1"/>
          <p:nvPr/>
        </p:nvSpPr>
        <p:spPr>
          <a:xfrm>
            <a:off x="7882128" y="2304288"/>
            <a:ext cx="786384" cy="228600"/>
          </a:xfrm>
          <a:prstGeom prst="rect">
            <a:avLst/>
          </a:prstGeom>
          <a:noFill/>
          <a:ln/>
        </p:spPr>
        <p:txBody>
          <a:bodyPr wrap="square" lIns="0" tIns="0" rIns="0" bIns="0" rtlCol="0" anchor="t"/>
          <a:lstStyle/>
          <a:p>
            <a:pPr algn="ctr" indent="0" marL="0">
              <a:buNone/>
            </a:pPr>
            <a:r>
              <a:rPr lang="en-US" sz="850" dirty="0">
                <a:solidFill>
                  <a:srgbClr val="F5A524"/>
                </a:solidFill>
                <a:latin typeface="Consolas" pitchFamily="34" charset="0"/>
                <a:ea typeface="Consolas" pitchFamily="34" charset="-122"/>
                <a:cs typeface="Consolas" pitchFamily="34" charset="-120"/>
              </a:rPr>
              <a:t>explanation</a:t>
            </a:r>
            <a:endParaRPr lang="en-US" sz="850" dirty="0"/>
          </a:p>
        </p:txBody>
      </p:sp>
      <p:sp>
        <p:nvSpPr>
          <p:cNvPr id="24" name="Shape 22"/>
          <p:cNvSpPr/>
          <p:nvPr/>
        </p:nvSpPr>
        <p:spPr>
          <a:xfrm>
            <a:off x="6240780" y="3337560"/>
            <a:ext cx="0" cy="365760"/>
          </a:xfrm>
          <a:prstGeom prst="line">
            <a:avLst/>
          </a:prstGeom>
          <a:noFill/>
          <a:ln w="19050">
            <a:solidFill>
              <a:srgbClr val="93A0B8"/>
            </a:solidFill>
            <a:prstDash val="solid"/>
            <a:tailEnd type="triangle"/>
          </a:ln>
        </p:spPr>
      </p:sp>
      <p:sp>
        <p:nvSpPr>
          <p:cNvPr id="25" name="Shape 23"/>
          <p:cNvSpPr/>
          <p:nvPr/>
        </p:nvSpPr>
        <p:spPr>
          <a:xfrm>
            <a:off x="4069080" y="3749040"/>
            <a:ext cx="4343400" cy="960120"/>
          </a:xfrm>
          <a:prstGeom prst="roundRect">
            <a:avLst>
              <a:gd name="adj" fmla="val 7619"/>
            </a:avLst>
          </a:prstGeom>
          <a:solidFill>
            <a:srgbClr val="18233A"/>
          </a:solidFill>
          <a:ln w="9525">
            <a:solidFill>
              <a:srgbClr val="2A3752"/>
            </a:solidFill>
            <a:prstDash val="solid"/>
          </a:ln>
        </p:spPr>
      </p:sp>
      <p:sp>
        <p:nvSpPr>
          <p:cNvPr id="26" name="Text 24"/>
          <p:cNvSpPr txBox="1"/>
          <p:nvPr/>
        </p:nvSpPr>
        <p:spPr>
          <a:xfrm>
            <a:off x="4251960" y="3877056"/>
            <a:ext cx="1828800" cy="219456"/>
          </a:xfrm>
          <a:prstGeom prst="rect">
            <a:avLst/>
          </a:prstGeom>
          <a:noFill/>
          <a:ln/>
        </p:spPr>
        <p:txBody>
          <a:bodyPr wrap="square" lIns="0" tIns="0" rIns="0" bIns="0" rtlCol="0" anchor="t"/>
          <a:lstStyle/>
          <a:p>
            <a:pPr algn="l" indent="0" marL="0">
              <a:buNone/>
            </a:pPr>
            <a:r>
              <a:rPr lang="en-US" sz="900" spc="100" kern="0" dirty="0">
                <a:solidFill>
                  <a:srgbClr val="C7D0DE"/>
                </a:solidFill>
                <a:latin typeface="Consolas" pitchFamily="34" charset="0"/>
                <a:ea typeface="Consolas" pitchFamily="34" charset="-122"/>
                <a:cs typeface="Consolas" pitchFamily="34" charset="-120"/>
              </a:rPr>
              <a:t>VERDICT</a:t>
            </a:r>
            <a:endParaRPr lang="en-US" sz="900" dirty="0"/>
          </a:p>
        </p:txBody>
      </p:sp>
      <p:sp>
        <p:nvSpPr>
          <p:cNvPr id="27" name="Shape 25"/>
          <p:cNvSpPr/>
          <p:nvPr/>
        </p:nvSpPr>
        <p:spPr>
          <a:xfrm>
            <a:off x="4251960" y="4160520"/>
            <a:ext cx="1188720" cy="256032"/>
          </a:xfrm>
          <a:prstGeom prst="roundRect">
            <a:avLst>
              <a:gd name="adj" fmla="val 53571"/>
            </a:avLst>
          </a:prstGeom>
          <a:solidFill>
            <a:srgbClr val="0F3D3A"/>
          </a:solidFill>
          <a:ln w="7620">
            <a:solidFill>
              <a:srgbClr val="2DD4BF"/>
            </a:solidFill>
            <a:prstDash val="solid"/>
          </a:ln>
        </p:spPr>
      </p:sp>
      <p:sp>
        <p:nvSpPr>
          <p:cNvPr id="28" name="Text 26"/>
          <p:cNvSpPr txBox="1"/>
          <p:nvPr/>
        </p:nvSpPr>
        <p:spPr>
          <a:xfrm>
            <a:off x="4251960" y="4160520"/>
            <a:ext cx="1188720" cy="256032"/>
          </a:xfrm>
          <a:prstGeom prst="rect">
            <a:avLst/>
          </a:prstGeom>
          <a:noFill/>
          <a:ln/>
        </p:spPr>
        <p:txBody>
          <a:bodyPr wrap="square" lIns="0" tIns="0" rIns="0" bIns="0" rtlCol="0" anchor="ctr"/>
          <a:lstStyle/>
          <a:p>
            <a:pPr algn="ctr" indent="0" marL="0">
              <a:buNone/>
            </a:pPr>
            <a:r>
              <a:rPr lang="en-US" sz="850" b="1" dirty="0">
                <a:solidFill>
                  <a:srgbClr val="2DD4BF"/>
                </a:solidFill>
                <a:latin typeface="Helvetica Neue" pitchFamily="34" charset="0"/>
                <a:ea typeface="Helvetica Neue" pitchFamily="34" charset="-122"/>
                <a:cs typeface="Helvetica Neue" pitchFamily="34" charset="-120"/>
              </a:rPr>
              <a:t>NONE · faithful</a:t>
            </a:r>
            <a:endParaRPr lang="en-US" sz="850" dirty="0"/>
          </a:p>
        </p:txBody>
      </p:sp>
      <p:sp>
        <p:nvSpPr>
          <p:cNvPr id="29" name="Shape 27"/>
          <p:cNvSpPr/>
          <p:nvPr/>
        </p:nvSpPr>
        <p:spPr>
          <a:xfrm>
            <a:off x="5532120" y="4160520"/>
            <a:ext cx="1280160" cy="256032"/>
          </a:xfrm>
          <a:prstGeom prst="roundRect">
            <a:avLst>
              <a:gd name="adj" fmla="val 53571"/>
            </a:avLst>
          </a:prstGeom>
          <a:solidFill>
            <a:srgbClr val="4A3410"/>
          </a:solidFill>
          <a:ln w="7620">
            <a:solidFill>
              <a:srgbClr val="F5A524"/>
            </a:solidFill>
            <a:prstDash val="solid"/>
          </a:ln>
        </p:spPr>
      </p:sp>
      <p:sp>
        <p:nvSpPr>
          <p:cNvPr id="30" name="Text 28"/>
          <p:cNvSpPr txBox="1"/>
          <p:nvPr/>
        </p:nvSpPr>
        <p:spPr>
          <a:xfrm>
            <a:off x="5532120" y="4160520"/>
            <a:ext cx="1280160" cy="256032"/>
          </a:xfrm>
          <a:prstGeom prst="rect">
            <a:avLst/>
          </a:prstGeom>
          <a:noFill/>
          <a:ln/>
        </p:spPr>
        <p:txBody>
          <a:bodyPr wrap="square" lIns="0" tIns="0" rIns="0" bIns="0" rtlCol="0" anchor="ctr"/>
          <a:lstStyle/>
          <a:p>
            <a:pPr algn="ctr" indent="0" marL="0">
              <a:buNone/>
            </a:pPr>
            <a:r>
              <a:rPr lang="en-US" sz="850" b="1" dirty="0">
                <a:solidFill>
                  <a:srgbClr val="F5A524"/>
                </a:solidFill>
                <a:latin typeface="Helvetica Neue" pitchFamily="34" charset="0"/>
                <a:ea typeface="Helvetica Neue" pitchFamily="34" charset="-122"/>
                <a:cs typeface="Helvetica Neue" pitchFamily="34" charset="-120"/>
              </a:rPr>
              <a:t>V1–V5 + severity</a:t>
            </a:r>
            <a:endParaRPr lang="en-US" sz="850" dirty="0"/>
          </a:p>
        </p:txBody>
      </p:sp>
      <p:sp>
        <p:nvSpPr>
          <p:cNvPr id="31" name="Text 29"/>
          <p:cNvSpPr txBox="1"/>
          <p:nvPr/>
        </p:nvSpPr>
        <p:spPr>
          <a:xfrm>
            <a:off x="6903720" y="4114800"/>
            <a:ext cx="1325880" cy="457200"/>
          </a:xfrm>
          <a:prstGeom prst="rect">
            <a:avLst/>
          </a:prstGeom>
          <a:noFill/>
          <a:ln/>
        </p:spPr>
        <p:txBody>
          <a:bodyPr wrap="square" lIns="0" tIns="0" rIns="0" bIns="0" rtlCol="0" anchor="t"/>
          <a:lstStyle/>
          <a:p>
            <a:pPr algn="l" indent="0" marL="0">
              <a:lnSpc>
                <a:spcPct val="105000"/>
              </a:lnSpc>
              <a:buNone/>
            </a:pPr>
            <a:r>
              <a:rPr lang="en-US" sz="900" dirty="0">
                <a:solidFill>
                  <a:srgbClr val="93A0B8"/>
                </a:solidFill>
                <a:latin typeface="Helvetica Neue" pitchFamily="34" charset="0"/>
                <a:ea typeface="Helvetica Neue" pitchFamily="34" charset="-122"/>
                <a:cs typeface="Helvetica Neue" pitchFamily="34" charset="-120"/>
              </a:rPr>
              <a:t>→ withhold · flag for review · show with caveat</a:t>
            </a:r>
            <a:endParaRPr lang="en-US" sz="900" dirty="0"/>
          </a:p>
        </p:txBody>
      </p:sp>
      <p:sp>
        <p:nvSpPr>
          <p:cNvPr id="32" name="Shape 30"/>
          <p:cNvSpPr/>
          <p:nvPr/>
        </p:nvSpPr>
        <p:spPr>
          <a:xfrm>
            <a:off x="548640" y="3749040"/>
            <a:ext cx="3246120" cy="960120"/>
          </a:xfrm>
          <a:prstGeom prst="roundRect">
            <a:avLst>
              <a:gd name="adj" fmla="val 7619"/>
            </a:avLst>
          </a:prstGeom>
          <a:solidFill>
            <a:srgbClr val="121B2E"/>
          </a:solidFill>
          <a:ln w="9525">
            <a:solidFill>
              <a:srgbClr val="2A3752"/>
            </a:solidFill>
            <a:prstDash val="solid"/>
          </a:ln>
        </p:spPr>
      </p:sp>
      <p:sp>
        <p:nvSpPr>
          <p:cNvPr id="33" name="Text 31"/>
          <p:cNvSpPr txBox="1"/>
          <p:nvPr/>
        </p:nvSpPr>
        <p:spPr>
          <a:xfrm>
            <a:off x="749808" y="3877056"/>
            <a:ext cx="2880360" cy="777240"/>
          </a:xfrm>
          <a:prstGeom prst="rect">
            <a:avLst/>
          </a:prstGeom>
          <a:noFill/>
          <a:ln/>
        </p:spPr>
        <p:txBody>
          <a:bodyPr wrap="square" lIns="0" tIns="0" rIns="0" bIns="0" rtlCol="0" anchor="t"/>
          <a:lstStyle/>
          <a:p>
            <a:pPr algn="l" indent="0" marL="0">
              <a:buNone/>
            </a:pPr>
            <a:r>
              <a:rPr lang="en-US" sz="1150" b="1" dirty="0">
                <a:solidFill>
                  <a:srgbClr val="E9EEF6"/>
                </a:solidFill>
                <a:latin typeface="Helvetica Neue" pitchFamily="34" charset="0"/>
                <a:ea typeface="Helvetica Neue" pitchFamily="34" charset="-122"/>
                <a:cs typeface="Helvetica Neue" pitchFamily="34" charset="-120"/>
              </a:rPr>
              <a:t>Deterministic &amp; auditable</a:t>
            </a:r>
            <a:endParaRPr lang="en-US" sz="1150" dirty="0"/>
          </a:p>
          <a:p>
            <a:pPr algn="l" indent="0" marL="0">
              <a:buNone/>
            </a:pPr>
            <a:r>
              <a:rPr lang="en-US" sz="1000" dirty="0">
                <a:solidFill>
                  <a:srgbClr val="93A0B8"/>
                </a:solidFill>
                <a:latin typeface="Helvetica Neue" pitchFamily="34" charset="0"/>
                <a:ea typeface="Helvetica Neue" pitchFamily="34" charset="-122"/>
                <a:cs typeface="Helvetica Neue" pitchFamily="34" charset="-120"/>
              </a:rPr>
              <a:t>Same input → same claims → same verdict. Per-claim reasons are stored with (bound, explanation, verdict).</a:t>
            </a:r>
            <a:endParaRPr lang="en-US" sz="1150" dirty="0"/>
          </a:p>
        </p:txBody>
      </p:sp>
      <p:sp>
        <p:nvSpPr>
          <p:cNvPr id="34" name="Shape 32"/>
          <p:cNvSpPr/>
          <p:nvPr/>
        </p:nvSpPr>
        <p:spPr>
          <a:xfrm>
            <a:off x="8686800" y="3749040"/>
            <a:ext cx="3246120" cy="960120"/>
          </a:xfrm>
          <a:prstGeom prst="roundRect">
            <a:avLst>
              <a:gd name="adj" fmla="val 7619"/>
            </a:avLst>
          </a:prstGeom>
          <a:solidFill>
            <a:srgbClr val="121B2E"/>
          </a:solidFill>
          <a:ln w="9525">
            <a:solidFill>
              <a:srgbClr val="2A3752"/>
            </a:solidFill>
            <a:prstDash val="solid"/>
          </a:ln>
        </p:spPr>
      </p:sp>
      <p:sp>
        <p:nvSpPr>
          <p:cNvPr id="35" name="Text 33"/>
          <p:cNvSpPr txBox="1"/>
          <p:nvPr/>
        </p:nvSpPr>
        <p:spPr>
          <a:xfrm>
            <a:off x="8887968" y="3877056"/>
            <a:ext cx="2880360" cy="777240"/>
          </a:xfrm>
          <a:prstGeom prst="rect">
            <a:avLst/>
          </a:prstGeom>
          <a:noFill/>
          <a:ln/>
        </p:spPr>
        <p:txBody>
          <a:bodyPr wrap="square" lIns="0" tIns="0" rIns="0" bIns="0" rtlCol="0" anchor="t"/>
          <a:lstStyle/>
          <a:p>
            <a:pPr algn="l" indent="0" marL="0">
              <a:buNone/>
            </a:pPr>
            <a:r>
              <a:rPr lang="en-US" sz="1150" b="1" dirty="0">
                <a:solidFill>
                  <a:srgbClr val="E9EEF6"/>
                </a:solidFill>
                <a:latin typeface="Helvetica Neue" pitchFamily="34" charset="0"/>
                <a:ea typeface="Helvetica Neue" pitchFamily="34" charset="-122"/>
                <a:cs typeface="Helvetica Neue" pitchFamily="34" charset="-120"/>
              </a:rPr>
              <a:t>Fail-closed by design</a:t>
            </a:r>
            <a:endParaRPr lang="en-US" sz="1150" dirty="0"/>
          </a:p>
          <a:p>
            <a:pPr algn="l" indent="0" marL="0">
              <a:buNone/>
            </a:pPr>
            <a:r>
              <a:rPr lang="en-US" sz="1000" dirty="0">
                <a:solidFill>
                  <a:srgbClr val="93A0B8"/>
                </a:solidFill>
                <a:latin typeface="Helvetica Neue" pitchFamily="34" charset="0"/>
                <a:ea typeface="Helvetica Neue" pitchFamily="34" charset="-122"/>
                <a:cs typeface="Helvetica Neue" pitchFamily="34" charset="-120"/>
              </a:rPr>
              <a:t>Without automaton confirmation every machine_constraints flag is false: an unsupported claim is rejected, not tolerated.</a:t>
            </a:r>
            <a:endParaRPr lang="en-US" sz="1150" dirty="0"/>
          </a:p>
        </p:txBody>
      </p:sp>
      <p:sp>
        <p:nvSpPr>
          <p:cNvPr id="36" name="Text 34"/>
          <p:cNvSpPr txBox="1"/>
          <p:nvPr/>
        </p:nvSpPr>
        <p:spPr>
          <a:xfrm>
            <a:off x="548640" y="5257800"/>
            <a:ext cx="11094415" cy="548640"/>
          </a:xfrm>
          <a:prstGeom prst="rect">
            <a:avLst/>
          </a:prstGeom>
          <a:noFill/>
          <a:ln/>
        </p:spPr>
        <p:txBody>
          <a:bodyPr wrap="square" lIns="0" tIns="0" rIns="0" bIns="0" rtlCol="0" anchor="t"/>
          <a:lstStyle/>
          <a:p>
            <a:pPr algn="l" indent="0" marL="0">
              <a:buNone/>
            </a:pPr>
            <a:r>
              <a:rPr lang="en-US" sz="900" dirty="0">
                <a:solidFill>
                  <a:srgbClr val="F5A524"/>
                </a:solidFill>
                <a:latin typeface="Consolas" pitchFamily="34" charset="0"/>
                <a:ea typeface="Consolas" pitchFamily="34" charset="-122"/>
                <a:cs typeface="Consolas" pitchFamily="34" charset="-120"/>
              </a:rPr>
              <a:t>Scope note  </a:t>
            </a:r>
            <a:pPr algn="l" indent="0" marL="0">
              <a:buNone/>
            </a:pPr>
            <a:r>
              <a:rPr lang="en-US" sz="1050" dirty="0">
                <a:solidFill>
                  <a:srgbClr val="93A0B8"/>
                </a:solidFill>
                <a:latin typeface="Helvetica Neue" pitchFamily="34" charset="0"/>
                <a:ea typeface="Helvetica Neue" pitchFamily="34" charset="-122"/>
                <a:cs typeface="Helvetica Neue" pitchFamily="34" charset="-120"/>
              </a:rPr>
              <a:t>The verifier consumes the complete generated text in a single pass. “Runtime” means before the operator sees the explanation — not token-by-token monitoring during decoding (classical RV monitors update verdicts as input evolves; §2.3).</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indent="0" marL="0">
              <a:buNone/>
            </a:pPr>
            <a:r>
              <a:rPr lang="en-US" sz="1050" spc="200" kern="0" dirty="0">
                <a:solidFill>
                  <a:srgbClr val="2DD4BF"/>
                </a:solidFill>
                <a:latin typeface="Consolas" pitchFamily="34" charset="0"/>
                <a:ea typeface="Consolas" pitchFamily="34" charset="-122"/>
                <a:cs typeface="Consolas" pitchFamily="34" charset="-120"/>
              </a:rPr>
              <a:t>05 · SYSTEM ARCHITECTURE</a:t>
            </a:r>
            <a:endParaRPr lang="en-US" sz="1050" dirty="0"/>
          </a:p>
        </p:txBody>
      </p:sp>
      <p:sp>
        <p:nvSpPr>
          <p:cNvPr id="3" name="Text 1"/>
          <p:cNvSpPr txBox="1"/>
          <p:nvPr/>
        </p:nvSpPr>
        <p:spPr>
          <a:xfrm>
            <a:off x="548640" y="603504"/>
            <a:ext cx="11094415" cy="566928"/>
          </a:xfrm>
          <a:prstGeom prst="rect">
            <a:avLst/>
          </a:prstGeom>
          <a:noFill/>
          <a:ln/>
        </p:spPr>
        <p:txBody>
          <a:bodyPr wrap="square" lIns="0" tIns="0" rIns="0" bIns="0" rtlCol="0" anchor="t"/>
          <a:lstStyle/>
          <a:p>
            <a:pPr indent="0" marL="0">
              <a:buNone/>
            </a:pPr>
            <a:r>
              <a:rPr lang="en-US" sz="2100" b="1" dirty="0">
                <a:solidFill>
                  <a:srgbClr val="E9EEF6"/>
                </a:solidFill>
                <a:latin typeface="Helvetica Neue" pitchFamily="34" charset="0"/>
                <a:ea typeface="Helvetica Neue" pitchFamily="34" charset="-122"/>
                <a:cs typeface="Helvetica Neue" pitchFamily="34" charset="-120"/>
              </a:rPr>
              <a:t>Three loosely coupled layers, an inspectable artefact at every stage</a:t>
            </a:r>
            <a:endParaRPr lang="en-US" sz="21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350" dirty="0">
                <a:solidFill>
                  <a:srgbClr val="93A0B8"/>
                </a:solidFill>
                <a:latin typeface="Helvetica Neue" pitchFamily="34" charset="0"/>
                <a:ea typeface="Helvetica Neue" pitchFamily="34" charset="-122"/>
                <a:cs typeface="Helvetica Neue" pitchFamily="34" charset="-120"/>
              </a:rPr>
              <a:t>Open-source Python pipeline (MIT). Module names are the actual source modules; every artefact is a JSONL file that can be inspected, re-run or replaced.</a:t>
            </a:r>
            <a:endParaRPr lang="en-US" sz="1350" dirty="0"/>
          </a:p>
        </p:txBody>
      </p:sp>
      <p:sp>
        <p:nvSpPr>
          <p:cNvPr id="5" name="Text 3"/>
          <p:cNvSpPr txBox="1"/>
          <p:nvPr/>
        </p:nvSpPr>
        <p:spPr>
          <a:xfrm>
            <a:off x="548640" y="6473952"/>
            <a:ext cx="8778240" cy="219456"/>
          </a:xfrm>
          <a:prstGeom prst="rect">
            <a:avLst/>
          </a:prstGeom>
          <a:noFill/>
          <a:ln/>
        </p:spPr>
        <p:txBody>
          <a:bodyPr wrap="square" lIns="0" tIns="0" rIns="0" bIns="0" rtlCol="0" anchor="ctr"/>
          <a:lstStyle/>
          <a:p>
            <a:pPr indent="0" marL="0">
              <a:buNone/>
            </a:pPr>
            <a:r>
              <a:rPr lang="en-US" sz="850" dirty="0">
                <a:solidFill>
                  <a:srgbClr val="5C6A85"/>
                </a:solidFill>
                <a:latin typeface="Helvetica Neue" pitchFamily="34" charset="0"/>
                <a:ea typeface="Helvetica Neue" pitchFamily="34" charset="-122"/>
                <a:cs typeface="Helvetica Neue" pitchFamily="34" charset="-120"/>
              </a:rPr>
              <a:t>ReasonGuard  ·  Runtime Verification of AI Reasoning Faithfulness  ·  R. Bilalov  ·  SRH University Hamburg / FIT VUT Brno</a:t>
            </a:r>
            <a:endParaRPr lang="en-US" sz="850" dirty="0"/>
          </a:p>
        </p:txBody>
      </p:sp>
      <p:sp>
        <p:nvSpPr>
          <p:cNvPr id="6" name="Text 4"/>
          <p:cNvSpPr txBox="1"/>
          <p:nvPr/>
        </p:nvSpPr>
        <p:spPr>
          <a:xfrm>
            <a:off x="10545775" y="6473952"/>
            <a:ext cx="1097280" cy="219456"/>
          </a:xfrm>
          <a:prstGeom prst="rect">
            <a:avLst/>
          </a:prstGeom>
          <a:noFill/>
          <a:ln/>
        </p:spPr>
        <p:txBody>
          <a:bodyPr wrap="square" lIns="0" tIns="0" rIns="0" bIns="0" rtlCol="0" anchor="ctr"/>
          <a:lstStyle/>
          <a:p>
            <a:pPr algn="r" indent="0" marL="0">
              <a:buNone/>
            </a:pPr>
            <a:r>
              <a:rPr lang="en-US" sz="900" dirty="0">
                <a:solidFill>
                  <a:srgbClr val="5C6A85"/>
                </a:solidFill>
                <a:latin typeface="Consolas" pitchFamily="34" charset="0"/>
                <a:ea typeface="Consolas" pitchFamily="34" charset="-122"/>
                <a:cs typeface="Consolas" pitchFamily="34" charset="-120"/>
              </a:rPr>
              <a:t>6 / 18</a:t>
            </a:r>
            <a:endParaRPr lang="en-US" sz="900" dirty="0"/>
          </a:p>
        </p:txBody>
      </p:sp>
      <p:sp>
        <p:nvSpPr>
          <p:cNvPr id="7" name="Shape 5"/>
          <p:cNvSpPr/>
          <p:nvPr/>
        </p:nvSpPr>
        <p:spPr>
          <a:xfrm>
            <a:off x="548640" y="1901952"/>
            <a:ext cx="3429000" cy="3200400"/>
          </a:xfrm>
          <a:prstGeom prst="roundRect">
            <a:avLst>
              <a:gd name="adj" fmla="val 2286"/>
            </a:avLst>
          </a:prstGeom>
          <a:solidFill>
            <a:srgbClr val="121B2E"/>
          </a:solidFill>
          <a:ln w="13970">
            <a:solidFill>
              <a:srgbClr val="2DD4BF"/>
            </a:solidFill>
            <a:prstDash val="solid"/>
          </a:ln>
        </p:spPr>
      </p:sp>
      <p:sp>
        <p:nvSpPr>
          <p:cNvPr id="8" name="Text 6"/>
          <p:cNvSpPr txBox="1"/>
          <p:nvPr/>
        </p:nvSpPr>
        <p:spPr>
          <a:xfrm>
            <a:off x="731520" y="2029968"/>
            <a:ext cx="3063240" cy="219456"/>
          </a:xfrm>
          <a:prstGeom prst="rect">
            <a:avLst/>
          </a:prstGeom>
          <a:noFill/>
          <a:ln/>
        </p:spPr>
        <p:txBody>
          <a:bodyPr wrap="square" lIns="0" tIns="0" rIns="0" bIns="0" rtlCol="0" anchor="t"/>
          <a:lstStyle/>
          <a:p>
            <a:pPr algn="l" indent="0" marL="0">
              <a:buNone/>
            </a:pPr>
            <a:r>
              <a:rPr lang="en-US" sz="950" spc="100" kern="0" dirty="0">
                <a:solidFill>
                  <a:srgbClr val="2DD4BF"/>
                </a:solidFill>
                <a:latin typeface="Consolas" pitchFamily="34" charset="0"/>
                <a:ea typeface="Consolas" pitchFamily="34" charset="-122"/>
                <a:cs typeface="Consolas" pitchFamily="34" charset="-120"/>
              </a:rPr>
              <a:t>FORMAL LAYER</a:t>
            </a:r>
            <a:endParaRPr lang="en-US" sz="950" dirty="0"/>
          </a:p>
        </p:txBody>
      </p:sp>
      <p:sp>
        <p:nvSpPr>
          <p:cNvPr id="9" name="Shape 7"/>
          <p:cNvSpPr/>
          <p:nvPr/>
        </p:nvSpPr>
        <p:spPr>
          <a:xfrm>
            <a:off x="713232" y="2313432"/>
            <a:ext cx="3099816" cy="592074"/>
          </a:xfrm>
          <a:prstGeom prst="rect">
            <a:avLst/>
          </a:prstGeom>
          <a:solidFill>
            <a:srgbClr val="18233A"/>
          </a:solidFill>
          <a:ln w="6350">
            <a:solidFill>
              <a:srgbClr val="1E2A42"/>
            </a:solidFill>
            <a:prstDash val="solid"/>
          </a:ln>
        </p:spPr>
      </p:sp>
      <p:sp>
        <p:nvSpPr>
          <p:cNvPr id="10" name="Text 8"/>
          <p:cNvSpPr txBox="1"/>
          <p:nvPr/>
        </p:nvSpPr>
        <p:spPr>
          <a:xfrm>
            <a:off x="822960" y="2377440"/>
            <a:ext cx="2880360" cy="237744"/>
          </a:xfrm>
          <a:prstGeom prst="rect">
            <a:avLst/>
          </a:prstGeom>
          <a:noFill/>
          <a:ln/>
        </p:spPr>
        <p:txBody>
          <a:bodyPr wrap="square" lIns="0" tIns="0" rIns="0" bIns="0" rtlCol="0" anchor="t"/>
          <a:lstStyle/>
          <a:p>
            <a:pPr algn="l" indent="0" marL="0">
              <a:buNone/>
            </a:pPr>
            <a:r>
              <a:rPr lang="en-US" sz="950" b="1" dirty="0">
                <a:solidFill>
                  <a:srgbClr val="E9EEF6"/>
                </a:solidFill>
                <a:latin typeface="Consolas" pitchFamily="34" charset="0"/>
                <a:ea typeface="Consolas" pitchFamily="34" charset="-122"/>
                <a:cs typeface="Consolas" pitchFamily="34" charset="-120"/>
              </a:rPr>
              <a:t>Raw IEC-104 frames</a:t>
            </a:r>
            <a:endParaRPr lang="en-US" sz="950" dirty="0"/>
          </a:p>
        </p:txBody>
      </p:sp>
      <p:sp>
        <p:nvSpPr>
          <p:cNvPr id="11" name="Text 9"/>
          <p:cNvSpPr txBox="1"/>
          <p:nvPr/>
        </p:nvSpPr>
        <p:spPr>
          <a:xfrm>
            <a:off x="822960" y="2606040"/>
            <a:ext cx="2880360" cy="281178"/>
          </a:xfrm>
          <a:prstGeom prst="rect">
            <a:avLst/>
          </a:prstGeom>
          <a:noFill/>
          <a:ln/>
        </p:spPr>
        <p:txBody>
          <a:bodyPr wrap="square" lIns="0" tIns="0" rIns="0" bIns="0" rtlCol="0" anchor="t"/>
          <a:lstStyle/>
          <a:p>
            <a:pPr algn="l" indent="0" marL="0">
              <a:lnSpc>
                <a:spcPct val="102000"/>
              </a:lnSpc>
              <a:buNone/>
            </a:pPr>
            <a:r>
              <a:rPr lang="en-US" sz="880" dirty="0">
                <a:solidFill>
                  <a:srgbClr val="93A0B8"/>
                </a:solidFill>
                <a:latin typeface="Helvetica Neue" pitchFamily="34" charset="0"/>
                <a:ea typeface="Helvetica Neue" pitchFamily="34" charset="-122"/>
                <a:cs typeface="Helvetica Neue" pitchFamily="34" charset="-120"/>
              </a:rPr>
              <a:t>NES@FIT smart-grid dataset · sample_003.csv · 20,000 atomic rows</a:t>
            </a:r>
            <a:endParaRPr lang="en-US" sz="880" dirty="0"/>
          </a:p>
        </p:txBody>
      </p:sp>
      <p:sp>
        <p:nvSpPr>
          <p:cNvPr id="12" name="Shape 10"/>
          <p:cNvSpPr/>
          <p:nvPr/>
        </p:nvSpPr>
        <p:spPr>
          <a:xfrm>
            <a:off x="2263140" y="2910078"/>
            <a:ext cx="0" cy="100584"/>
          </a:xfrm>
          <a:prstGeom prst="line">
            <a:avLst/>
          </a:prstGeom>
          <a:noFill/>
          <a:ln w="12700">
            <a:solidFill>
              <a:srgbClr val="5C6A85"/>
            </a:solidFill>
            <a:prstDash val="solid"/>
            <a:tailEnd type="triangle"/>
          </a:ln>
        </p:spPr>
      </p:sp>
      <p:sp>
        <p:nvSpPr>
          <p:cNvPr id="13" name="Shape 11"/>
          <p:cNvSpPr/>
          <p:nvPr/>
        </p:nvSpPr>
        <p:spPr>
          <a:xfrm>
            <a:off x="713232" y="3015234"/>
            <a:ext cx="3099816" cy="592074"/>
          </a:xfrm>
          <a:prstGeom prst="rect">
            <a:avLst/>
          </a:prstGeom>
          <a:solidFill>
            <a:srgbClr val="18233A"/>
          </a:solidFill>
          <a:ln w="6350">
            <a:solidFill>
              <a:srgbClr val="1E2A42"/>
            </a:solidFill>
            <a:prstDash val="solid"/>
          </a:ln>
        </p:spPr>
      </p:sp>
      <p:sp>
        <p:nvSpPr>
          <p:cNvPr id="14" name="Text 12"/>
          <p:cNvSpPr txBox="1"/>
          <p:nvPr/>
        </p:nvSpPr>
        <p:spPr>
          <a:xfrm>
            <a:off x="822960" y="3079242"/>
            <a:ext cx="2880360" cy="237744"/>
          </a:xfrm>
          <a:prstGeom prst="rect">
            <a:avLst/>
          </a:prstGeom>
          <a:noFill/>
          <a:ln/>
        </p:spPr>
        <p:txBody>
          <a:bodyPr wrap="square" lIns="0" tIns="0" rIns="0" bIns="0" rtlCol="0" anchor="t"/>
          <a:lstStyle/>
          <a:p>
            <a:pPr algn="l" indent="0" marL="0">
              <a:buNone/>
            </a:pPr>
            <a:r>
              <a:rPr lang="en-US" sz="950" b="1" dirty="0">
                <a:solidFill>
                  <a:srgbClr val="E9EEF6"/>
                </a:solidFill>
                <a:latin typeface="Consolas" pitchFamily="34" charset="0"/>
                <a:ea typeface="Consolas" pitchFamily="34" charset="-122"/>
                <a:cs typeface="Consolas" pitchFamily="34" charset="-120"/>
              </a:rPr>
              <a:t>formal_bound_builder</a:t>
            </a:r>
            <a:endParaRPr lang="en-US" sz="950" dirty="0"/>
          </a:p>
        </p:txBody>
      </p:sp>
      <p:sp>
        <p:nvSpPr>
          <p:cNvPr id="15" name="Text 13"/>
          <p:cNvSpPr txBox="1"/>
          <p:nvPr/>
        </p:nvSpPr>
        <p:spPr>
          <a:xfrm>
            <a:off x="822960" y="3307842"/>
            <a:ext cx="2880360" cy="281178"/>
          </a:xfrm>
          <a:prstGeom prst="rect">
            <a:avLst/>
          </a:prstGeom>
          <a:noFill/>
          <a:ln/>
        </p:spPr>
        <p:txBody>
          <a:bodyPr wrap="square" lIns="0" tIns="0" rIns="0" bIns="0" rtlCol="0" anchor="t"/>
          <a:lstStyle/>
          <a:p>
            <a:pPr algn="l" indent="0" marL="0">
              <a:lnSpc>
                <a:spcPct val="102000"/>
              </a:lnSpc>
              <a:buNone/>
            </a:pPr>
            <a:r>
              <a:rPr lang="en-US" sz="880" dirty="0">
                <a:solidFill>
                  <a:srgbClr val="93A0B8"/>
                </a:solidFill>
                <a:latin typeface="Helvetica Neue" pitchFamily="34" charset="0"/>
                <a:ea typeface="Helvetica Neue" pitchFamily="34" charset="-122"/>
                <a:cs typeface="Helvetica Neue" pitchFamily="34" charset="-120"/>
              </a:rPr>
              <a:t>features (src/dst id, ports, bytes, ASDU fields, frame format) → bound JSON, schema v2.1</a:t>
            </a:r>
            <a:endParaRPr lang="en-US" sz="880" dirty="0"/>
          </a:p>
        </p:txBody>
      </p:sp>
      <p:sp>
        <p:nvSpPr>
          <p:cNvPr id="16" name="Shape 14"/>
          <p:cNvSpPr/>
          <p:nvPr/>
        </p:nvSpPr>
        <p:spPr>
          <a:xfrm>
            <a:off x="2263140" y="3611880"/>
            <a:ext cx="0" cy="100584"/>
          </a:xfrm>
          <a:prstGeom prst="line">
            <a:avLst/>
          </a:prstGeom>
          <a:noFill/>
          <a:ln w="12700">
            <a:solidFill>
              <a:srgbClr val="5C6A85"/>
            </a:solidFill>
            <a:prstDash val="solid"/>
            <a:tailEnd type="triangle"/>
          </a:ln>
        </p:spPr>
      </p:sp>
      <p:sp>
        <p:nvSpPr>
          <p:cNvPr id="17" name="Shape 15"/>
          <p:cNvSpPr/>
          <p:nvPr/>
        </p:nvSpPr>
        <p:spPr>
          <a:xfrm>
            <a:off x="713232" y="3717036"/>
            <a:ext cx="3099816" cy="592074"/>
          </a:xfrm>
          <a:prstGeom prst="rect">
            <a:avLst/>
          </a:prstGeom>
          <a:solidFill>
            <a:srgbClr val="18233A"/>
          </a:solidFill>
          <a:ln w="6350">
            <a:solidFill>
              <a:srgbClr val="1E2A42"/>
            </a:solidFill>
            <a:prstDash val="solid"/>
          </a:ln>
        </p:spPr>
      </p:sp>
      <p:sp>
        <p:nvSpPr>
          <p:cNvPr id="18" name="Text 16"/>
          <p:cNvSpPr txBox="1"/>
          <p:nvPr/>
        </p:nvSpPr>
        <p:spPr>
          <a:xfrm>
            <a:off x="822960" y="3781044"/>
            <a:ext cx="2880360" cy="237744"/>
          </a:xfrm>
          <a:prstGeom prst="rect">
            <a:avLst/>
          </a:prstGeom>
          <a:noFill/>
          <a:ln/>
        </p:spPr>
        <p:txBody>
          <a:bodyPr wrap="square" lIns="0" tIns="0" rIns="0" bIns="0" rtlCol="0" anchor="t"/>
          <a:lstStyle/>
          <a:p>
            <a:pPr algn="l" indent="0" marL="0">
              <a:buNone/>
            </a:pPr>
            <a:r>
              <a:rPr lang="en-US" sz="950" b="1" dirty="0">
                <a:solidFill>
                  <a:srgbClr val="E9EEF6"/>
                </a:solidFill>
                <a:latin typeface="Consolas" pitchFamily="34" charset="0"/>
                <a:ea typeface="Consolas" pitchFamily="34" charset="-122"/>
                <a:cs typeface="Consolas" pitchFamily="34" charset="-120"/>
              </a:rPr>
              <a:t>event_type_classifier  (PROXY)</a:t>
            </a:r>
            <a:endParaRPr lang="en-US" sz="950" dirty="0"/>
          </a:p>
        </p:txBody>
      </p:sp>
      <p:sp>
        <p:nvSpPr>
          <p:cNvPr id="19" name="Text 17"/>
          <p:cNvSpPr txBox="1"/>
          <p:nvPr/>
        </p:nvSpPr>
        <p:spPr>
          <a:xfrm>
            <a:off x="822960" y="4009644"/>
            <a:ext cx="2880360" cy="281178"/>
          </a:xfrm>
          <a:prstGeom prst="rect">
            <a:avLst/>
          </a:prstGeom>
          <a:noFill/>
          <a:ln/>
        </p:spPr>
        <p:txBody>
          <a:bodyPr wrap="square" lIns="0" tIns="0" rIns="0" bIns="0" rtlCol="0" anchor="t"/>
          <a:lstStyle/>
          <a:p>
            <a:pPr algn="l" indent="0" marL="0">
              <a:lnSpc>
                <a:spcPct val="102000"/>
              </a:lnSpc>
              <a:buNone/>
            </a:pPr>
            <a:r>
              <a:rPr lang="en-US" sz="880" dirty="0">
                <a:solidFill>
                  <a:srgbClr val="93A0B8"/>
                </a:solidFill>
                <a:latin typeface="Helvetica Neue" pitchFamily="34" charset="0"/>
                <a:ea typeface="Helvetica Neue" pitchFamily="34" charset="-122"/>
                <a:cs typeface="Helvetica Neue" pitchFamily="34" charset="-120"/>
              </a:rPr>
              <a:t>rule-based labels: normal polling · topology change · network scan · function-code violation</a:t>
            </a:r>
            <a:endParaRPr lang="en-US" sz="880" dirty="0"/>
          </a:p>
        </p:txBody>
      </p:sp>
      <p:sp>
        <p:nvSpPr>
          <p:cNvPr id="20" name="Shape 18"/>
          <p:cNvSpPr/>
          <p:nvPr/>
        </p:nvSpPr>
        <p:spPr>
          <a:xfrm>
            <a:off x="2263140" y="4313682"/>
            <a:ext cx="0" cy="100584"/>
          </a:xfrm>
          <a:prstGeom prst="line">
            <a:avLst/>
          </a:prstGeom>
          <a:noFill/>
          <a:ln w="12700">
            <a:solidFill>
              <a:srgbClr val="5C6A85"/>
            </a:solidFill>
            <a:prstDash val="solid"/>
            <a:tailEnd type="triangle"/>
          </a:ln>
        </p:spPr>
      </p:sp>
      <p:sp>
        <p:nvSpPr>
          <p:cNvPr id="21" name="Shape 19"/>
          <p:cNvSpPr/>
          <p:nvPr/>
        </p:nvSpPr>
        <p:spPr>
          <a:xfrm>
            <a:off x="713232" y="4418838"/>
            <a:ext cx="3099816" cy="592074"/>
          </a:xfrm>
          <a:prstGeom prst="rect">
            <a:avLst/>
          </a:prstGeom>
          <a:solidFill>
            <a:srgbClr val="18233A"/>
          </a:solidFill>
          <a:ln w="6350">
            <a:solidFill>
              <a:srgbClr val="1E2A42"/>
            </a:solidFill>
            <a:prstDash val="solid"/>
          </a:ln>
        </p:spPr>
      </p:sp>
      <p:sp>
        <p:nvSpPr>
          <p:cNvPr id="22" name="Text 20"/>
          <p:cNvSpPr txBox="1"/>
          <p:nvPr/>
        </p:nvSpPr>
        <p:spPr>
          <a:xfrm>
            <a:off x="822960" y="4482846"/>
            <a:ext cx="2880360" cy="237744"/>
          </a:xfrm>
          <a:prstGeom prst="rect">
            <a:avLst/>
          </a:prstGeom>
          <a:noFill/>
          <a:ln/>
        </p:spPr>
        <p:txBody>
          <a:bodyPr wrap="square" lIns="0" tIns="0" rIns="0" bIns="0" rtlCol="0" anchor="t"/>
          <a:lstStyle/>
          <a:p>
            <a:pPr algn="l" indent="0" marL="0">
              <a:buNone/>
            </a:pPr>
            <a:r>
              <a:rPr lang="en-US" sz="950" b="1" dirty="0">
                <a:solidFill>
                  <a:srgbClr val="E9EEF6"/>
                </a:solidFill>
                <a:latin typeface="Consolas" pitchFamily="34" charset="0"/>
                <a:ea typeface="Consolas" pitchFamily="34" charset="-122"/>
                <a:cs typeface="Consolas" pitchFamily="34" charset="-120"/>
              </a:rPr>
              <a:t>Formal bound</a:t>
            </a:r>
            <a:endParaRPr lang="en-US" sz="950" dirty="0"/>
          </a:p>
        </p:txBody>
      </p:sp>
      <p:sp>
        <p:nvSpPr>
          <p:cNvPr id="23" name="Text 21"/>
          <p:cNvSpPr txBox="1"/>
          <p:nvPr/>
        </p:nvSpPr>
        <p:spPr>
          <a:xfrm>
            <a:off x="822960" y="4711446"/>
            <a:ext cx="2880360" cy="281178"/>
          </a:xfrm>
          <a:prstGeom prst="rect">
            <a:avLst/>
          </a:prstGeom>
          <a:noFill/>
          <a:ln/>
        </p:spPr>
        <p:txBody>
          <a:bodyPr wrap="square" lIns="0" tIns="0" rIns="0" bIns="0" rtlCol="0" anchor="t"/>
          <a:lstStyle/>
          <a:p>
            <a:pPr algn="l" indent="0" marL="0">
              <a:lnSpc>
                <a:spcPct val="102000"/>
              </a:lnSpc>
              <a:buNone/>
            </a:pPr>
            <a:r>
              <a:rPr lang="en-US" sz="880" dirty="0">
                <a:solidFill>
                  <a:srgbClr val="93A0B8"/>
                </a:solidFill>
                <a:latin typeface="Helvetica Neue" pitchFamily="34" charset="0"/>
                <a:ea typeface="Helvetica Neue" pitchFamily="34" charset="-122"/>
                <a:cs typeface="Helvetica Neue" pitchFamily="34" charset="-120"/>
              </a:rPr>
              <a:t>allowed / required / forbidden claims · machine_constraints</a:t>
            </a:r>
            <a:endParaRPr lang="en-US" sz="880" dirty="0"/>
          </a:p>
        </p:txBody>
      </p:sp>
      <p:sp>
        <p:nvSpPr>
          <p:cNvPr id="24" name="Shape 22"/>
          <p:cNvSpPr/>
          <p:nvPr/>
        </p:nvSpPr>
        <p:spPr>
          <a:xfrm>
            <a:off x="4379976" y="1901952"/>
            <a:ext cx="3429000" cy="3200400"/>
          </a:xfrm>
          <a:prstGeom prst="roundRect">
            <a:avLst>
              <a:gd name="adj" fmla="val 2286"/>
            </a:avLst>
          </a:prstGeom>
          <a:solidFill>
            <a:srgbClr val="121B2E"/>
          </a:solidFill>
          <a:ln w="13970">
            <a:solidFill>
              <a:srgbClr val="F5A524"/>
            </a:solidFill>
            <a:prstDash val="solid"/>
          </a:ln>
        </p:spPr>
      </p:sp>
      <p:sp>
        <p:nvSpPr>
          <p:cNvPr id="25" name="Text 23"/>
          <p:cNvSpPr txBox="1"/>
          <p:nvPr/>
        </p:nvSpPr>
        <p:spPr>
          <a:xfrm>
            <a:off x="4562856" y="2029968"/>
            <a:ext cx="3063240" cy="219456"/>
          </a:xfrm>
          <a:prstGeom prst="rect">
            <a:avLst/>
          </a:prstGeom>
          <a:noFill/>
          <a:ln/>
        </p:spPr>
        <p:txBody>
          <a:bodyPr wrap="square" lIns="0" tIns="0" rIns="0" bIns="0" rtlCol="0" anchor="t"/>
          <a:lstStyle/>
          <a:p>
            <a:pPr algn="l" indent="0" marL="0">
              <a:buNone/>
            </a:pPr>
            <a:r>
              <a:rPr lang="en-US" sz="950" spc="100" kern="0" dirty="0">
                <a:solidFill>
                  <a:srgbClr val="F5A524"/>
                </a:solidFill>
                <a:latin typeface="Consolas" pitchFamily="34" charset="0"/>
                <a:ea typeface="Consolas" pitchFamily="34" charset="-122"/>
                <a:cs typeface="Consolas" pitchFamily="34" charset="-120"/>
              </a:rPr>
              <a:t>AI LAYER</a:t>
            </a:r>
            <a:endParaRPr lang="en-US" sz="950" dirty="0"/>
          </a:p>
        </p:txBody>
      </p:sp>
      <p:sp>
        <p:nvSpPr>
          <p:cNvPr id="26" name="Shape 24"/>
          <p:cNvSpPr/>
          <p:nvPr/>
        </p:nvSpPr>
        <p:spPr>
          <a:xfrm>
            <a:off x="4544568" y="2313432"/>
            <a:ext cx="3099816" cy="826008"/>
          </a:xfrm>
          <a:prstGeom prst="rect">
            <a:avLst/>
          </a:prstGeom>
          <a:solidFill>
            <a:srgbClr val="18233A"/>
          </a:solidFill>
          <a:ln w="6350">
            <a:solidFill>
              <a:srgbClr val="1E2A42"/>
            </a:solidFill>
            <a:prstDash val="solid"/>
          </a:ln>
        </p:spPr>
      </p:sp>
      <p:sp>
        <p:nvSpPr>
          <p:cNvPr id="27" name="Text 25"/>
          <p:cNvSpPr txBox="1"/>
          <p:nvPr/>
        </p:nvSpPr>
        <p:spPr>
          <a:xfrm>
            <a:off x="4654296" y="2377440"/>
            <a:ext cx="2880360" cy="237744"/>
          </a:xfrm>
          <a:prstGeom prst="rect">
            <a:avLst/>
          </a:prstGeom>
          <a:noFill/>
          <a:ln/>
        </p:spPr>
        <p:txBody>
          <a:bodyPr wrap="square" lIns="0" tIns="0" rIns="0" bIns="0" rtlCol="0" anchor="t"/>
          <a:lstStyle/>
          <a:p>
            <a:pPr algn="l" indent="0" marL="0">
              <a:buNone/>
            </a:pPr>
            <a:r>
              <a:rPr lang="en-US" sz="950" b="1" dirty="0">
                <a:solidFill>
                  <a:srgbClr val="E9EEF6"/>
                </a:solidFill>
                <a:latin typeface="Consolas" pitchFamily="34" charset="0"/>
                <a:ea typeface="Consolas" pitchFamily="34" charset="-122"/>
                <a:cs typeface="Consolas" pitchFamily="34" charset="-120"/>
              </a:rPr>
              <a:t>prompt_builder</a:t>
            </a:r>
            <a:endParaRPr lang="en-US" sz="950" dirty="0"/>
          </a:p>
        </p:txBody>
      </p:sp>
      <p:sp>
        <p:nvSpPr>
          <p:cNvPr id="28" name="Text 26"/>
          <p:cNvSpPr txBox="1"/>
          <p:nvPr/>
        </p:nvSpPr>
        <p:spPr>
          <a:xfrm>
            <a:off x="4654296" y="2606040"/>
            <a:ext cx="2880360" cy="515112"/>
          </a:xfrm>
          <a:prstGeom prst="rect">
            <a:avLst/>
          </a:prstGeom>
          <a:noFill/>
          <a:ln/>
        </p:spPr>
        <p:txBody>
          <a:bodyPr wrap="square" lIns="0" tIns="0" rIns="0" bIns="0" rtlCol="0" anchor="t"/>
          <a:lstStyle/>
          <a:p>
            <a:pPr algn="l" indent="0" marL="0">
              <a:lnSpc>
                <a:spcPct val="102000"/>
              </a:lnSpc>
              <a:buNone/>
            </a:pPr>
            <a:r>
              <a:rPr lang="en-US" sz="880" dirty="0">
                <a:solidFill>
                  <a:srgbClr val="93A0B8"/>
                </a:solidFill>
                <a:latin typeface="Helvetica Neue" pitchFamily="34" charset="0"/>
                <a:ea typeface="Helvetica Neue" pitchFamily="34" charset="-122"/>
                <a:cs typeface="Helvetica Neue" pitchFamily="34" charset="-120"/>
              </a:rPr>
              <a:t>strict system prompt (Appendix B) + bound as JSON · stratified 25 per event type → 100 prompts, fixed seed</a:t>
            </a:r>
            <a:endParaRPr lang="en-US" sz="880" dirty="0"/>
          </a:p>
        </p:txBody>
      </p:sp>
      <p:sp>
        <p:nvSpPr>
          <p:cNvPr id="29" name="Shape 27"/>
          <p:cNvSpPr/>
          <p:nvPr/>
        </p:nvSpPr>
        <p:spPr>
          <a:xfrm>
            <a:off x="6094476" y="3144012"/>
            <a:ext cx="0" cy="100584"/>
          </a:xfrm>
          <a:prstGeom prst="line">
            <a:avLst/>
          </a:prstGeom>
          <a:noFill/>
          <a:ln w="12700">
            <a:solidFill>
              <a:srgbClr val="5C6A85"/>
            </a:solidFill>
            <a:prstDash val="solid"/>
            <a:tailEnd type="triangle"/>
          </a:ln>
        </p:spPr>
      </p:sp>
      <p:sp>
        <p:nvSpPr>
          <p:cNvPr id="30" name="Shape 28"/>
          <p:cNvSpPr/>
          <p:nvPr/>
        </p:nvSpPr>
        <p:spPr>
          <a:xfrm>
            <a:off x="4544568" y="3249168"/>
            <a:ext cx="3099816" cy="826008"/>
          </a:xfrm>
          <a:prstGeom prst="rect">
            <a:avLst/>
          </a:prstGeom>
          <a:solidFill>
            <a:srgbClr val="18233A"/>
          </a:solidFill>
          <a:ln w="6350">
            <a:solidFill>
              <a:srgbClr val="1E2A42"/>
            </a:solidFill>
            <a:prstDash val="solid"/>
          </a:ln>
        </p:spPr>
      </p:sp>
      <p:sp>
        <p:nvSpPr>
          <p:cNvPr id="31" name="Text 29"/>
          <p:cNvSpPr txBox="1"/>
          <p:nvPr/>
        </p:nvSpPr>
        <p:spPr>
          <a:xfrm>
            <a:off x="4654296" y="3313176"/>
            <a:ext cx="2880360" cy="237744"/>
          </a:xfrm>
          <a:prstGeom prst="rect">
            <a:avLst/>
          </a:prstGeom>
          <a:noFill/>
          <a:ln/>
        </p:spPr>
        <p:txBody>
          <a:bodyPr wrap="square" lIns="0" tIns="0" rIns="0" bIns="0" rtlCol="0" anchor="t"/>
          <a:lstStyle/>
          <a:p>
            <a:pPr algn="l" indent="0" marL="0">
              <a:buNone/>
            </a:pPr>
            <a:r>
              <a:rPr lang="en-US" sz="950" b="1" dirty="0">
                <a:solidFill>
                  <a:srgbClr val="E9EEF6"/>
                </a:solidFill>
                <a:latin typeface="Consolas" pitchFamily="34" charset="0"/>
                <a:ea typeface="Consolas" pitchFamily="34" charset="-122"/>
                <a:cs typeface="Consolas" pitchFamily="34" charset="-120"/>
              </a:rPr>
              <a:t>LLM runners</a:t>
            </a:r>
            <a:endParaRPr lang="en-US" sz="950" dirty="0"/>
          </a:p>
        </p:txBody>
      </p:sp>
      <p:sp>
        <p:nvSpPr>
          <p:cNvPr id="32" name="Text 30"/>
          <p:cNvSpPr txBox="1"/>
          <p:nvPr/>
        </p:nvSpPr>
        <p:spPr>
          <a:xfrm>
            <a:off x="4654296" y="3541776"/>
            <a:ext cx="2880360" cy="515112"/>
          </a:xfrm>
          <a:prstGeom prst="rect">
            <a:avLst/>
          </a:prstGeom>
          <a:noFill/>
          <a:ln/>
        </p:spPr>
        <p:txBody>
          <a:bodyPr wrap="square" lIns="0" tIns="0" rIns="0" bIns="0" rtlCol="0" anchor="t"/>
          <a:lstStyle/>
          <a:p>
            <a:pPr algn="l" indent="0" marL="0">
              <a:lnSpc>
                <a:spcPct val="102000"/>
              </a:lnSpc>
              <a:buNone/>
            </a:pPr>
            <a:r>
              <a:rPr lang="en-US" sz="880" dirty="0">
                <a:solidFill>
                  <a:srgbClr val="93A0B8"/>
                </a:solidFill>
                <a:latin typeface="Helvetica Neue" pitchFamily="34" charset="0"/>
                <a:ea typeface="Helvetica Neue" pitchFamily="34" charset="-122"/>
                <a:cs typeface="Helvetica Neue" pitchFamily="34" charset="-120"/>
              </a:rPr>
              <a:t>Ollama, 4-bit, CPU: llama3.1:8b · mistral:7b · phi3:mini  |  cloud: gpt-4o-mini · gemini-2.5-flash-lite</a:t>
            </a:r>
            <a:endParaRPr lang="en-US" sz="880" dirty="0"/>
          </a:p>
        </p:txBody>
      </p:sp>
      <p:sp>
        <p:nvSpPr>
          <p:cNvPr id="33" name="Shape 31"/>
          <p:cNvSpPr/>
          <p:nvPr/>
        </p:nvSpPr>
        <p:spPr>
          <a:xfrm>
            <a:off x="6094476" y="4079748"/>
            <a:ext cx="0" cy="100584"/>
          </a:xfrm>
          <a:prstGeom prst="line">
            <a:avLst/>
          </a:prstGeom>
          <a:noFill/>
          <a:ln w="12700">
            <a:solidFill>
              <a:srgbClr val="5C6A85"/>
            </a:solidFill>
            <a:prstDash val="solid"/>
            <a:tailEnd type="triangle"/>
          </a:ln>
        </p:spPr>
      </p:sp>
      <p:sp>
        <p:nvSpPr>
          <p:cNvPr id="34" name="Shape 32"/>
          <p:cNvSpPr/>
          <p:nvPr/>
        </p:nvSpPr>
        <p:spPr>
          <a:xfrm>
            <a:off x="4544568" y="4184904"/>
            <a:ext cx="3099816" cy="826008"/>
          </a:xfrm>
          <a:prstGeom prst="rect">
            <a:avLst/>
          </a:prstGeom>
          <a:solidFill>
            <a:srgbClr val="18233A"/>
          </a:solidFill>
          <a:ln w="6350">
            <a:solidFill>
              <a:srgbClr val="1E2A42"/>
            </a:solidFill>
            <a:prstDash val="solid"/>
          </a:ln>
        </p:spPr>
      </p:sp>
      <p:sp>
        <p:nvSpPr>
          <p:cNvPr id="35" name="Text 33"/>
          <p:cNvSpPr txBox="1"/>
          <p:nvPr/>
        </p:nvSpPr>
        <p:spPr>
          <a:xfrm>
            <a:off x="4654296" y="4248912"/>
            <a:ext cx="2880360" cy="237744"/>
          </a:xfrm>
          <a:prstGeom prst="rect">
            <a:avLst/>
          </a:prstGeom>
          <a:noFill/>
          <a:ln/>
        </p:spPr>
        <p:txBody>
          <a:bodyPr wrap="square" lIns="0" tIns="0" rIns="0" bIns="0" rtlCol="0" anchor="t"/>
          <a:lstStyle/>
          <a:p>
            <a:pPr algn="l" indent="0" marL="0">
              <a:buNone/>
            </a:pPr>
            <a:r>
              <a:rPr lang="en-US" sz="950" b="1" dirty="0">
                <a:solidFill>
                  <a:srgbClr val="E9EEF6"/>
                </a:solidFill>
                <a:latin typeface="Consolas" pitchFamily="34" charset="0"/>
                <a:ea typeface="Consolas" pitchFamily="34" charset="-122"/>
                <a:cs typeface="Consolas" pitchFamily="34" charset="-120"/>
              </a:rPr>
              <a:t>Explanation</a:t>
            </a:r>
            <a:endParaRPr lang="en-US" sz="950" dirty="0"/>
          </a:p>
        </p:txBody>
      </p:sp>
      <p:sp>
        <p:nvSpPr>
          <p:cNvPr id="36" name="Text 34"/>
          <p:cNvSpPr txBox="1"/>
          <p:nvPr/>
        </p:nvSpPr>
        <p:spPr>
          <a:xfrm>
            <a:off x="4654296" y="4477512"/>
            <a:ext cx="2880360" cy="515112"/>
          </a:xfrm>
          <a:prstGeom prst="rect">
            <a:avLst/>
          </a:prstGeom>
          <a:noFill/>
          <a:ln/>
        </p:spPr>
        <p:txBody>
          <a:bodyPr wrap="square" lIns="0" tIns="0" rIns="0" bIns="0" rtlCol="0" anchor="t"/>
          <a:lstStyle/>
          <a:p>
            <a:pPr algn="l" indent="0" marL="0">
              <a:lnSpc>
                <a:spcPct val="102000"/>
              </a:lnSpc>
              <a:buNone/>
            </a:pPr>
            <a:r>
              <a:rPr lang="en-US" sz="880" dirty="0">
                <a:solidFill>
                  <a:srgbClr val="93A0B8"/>
                </a:solidFill>
                <a:latin typeface="Helvetica Neue" pitchFamily="34" charset="0"/>
                <a:ea typeface="Helvetica Neue" pitchFamily="34" charset="-122"/>
                <a:cs typeface="Helvetica Neue" pitchFamily="34" charset="-120"/>
              </a:rPr>
              <a:t>3–5 sentences, T = 0.1, top-p = 0.9 — identical prompt for every model</a:t>
            </a:r>
            <a:endParaRPr lang="en-US" sz="880" dirty="0"/>
          </a:p>
        </p:txBody>
      </p:sp>
      <p:sp>
        <p:nvSpPr>
          <p:cNvPr id="37" name="Shape 35"/>
          <p:cNvSpPr/>
          <p:nvPr/>
        </p:nvSpPr>
        <p:spPr>
          <a:xfrm>
            <a:off x="8211312" y="1901952"/>
            <a:ext cx="3429000" cy="3200400"/>
          </a:xfrm>
          <a:prstGeom prst="roundRect">
            <a:avLst>
              <a:gd name="adj" fmla="val 2286"/>
            </a:avLst>
          </a:prstGeom>
          <a:solidFill>
            <a:srgbClr val="121B2E"/>
          </a:solidFill>
          <a:ln w="9525">
            <a:solidFill>
              <a:srgbClr val="2A3752"/>
            </a:solidFill>
            <a:prstDash val="solid"/>
          </a:ln>
        </p:spPr>
      </p:sp>
      <p:sp>
        <p:nvSpPr>
          <p:cNvPr id="38" name="Text 36"/>
          <p:cNvSpPr txBox="1"/>
          <p:nvPr/>
        </p:nvSpPr>
        <p:spPr>
          <a:xfrm>
            <a:off x="8394192" y="2029968"/>
            <a:ext cx="3063240" cy="219456"/>
          </a:xfrm>
          <a:prstGeom prst="rect">
            <a:avLst/>
          </a:prstGeom>
          <a:noFill/>
          <a:ln/>
        </p:spPr>
        <p:txBody>
          <a:bodyPr wrap="square" lIns="0" tIns="0" rIns="0" bIns="0" rtlCol="0" anchor="t"/>
          <a:lstStyle/>
          <a:p>
            <a:pPr algn="l" indent="0" marL="0">
              <a:buNone/>
            </a:pPr>
            <a:r>
              <a:rPr lang="en-US" sz="950" spc="100" kern="0" dirty="0">
                <a:solidFill>
                  <a:srgbClr val="C7D0DE"/>
                </a:solidFill>
                <a:latin typeface="Consolas" pitchFamily="34" charset="0"/>
                <a:ea typeface="Consolas" pitchFamily="34" charset="-122"/>
                <a:cs typeface="Consolas" pitchFamily="34" charset="-120"/>
              </a:rPr>
              <a:t>VERIFICATION LAYER</a:t>
            </a:r>
            <a:endParaRPr lang="en-US" sz="950" dirty="0"/>
          </a:p>
        </p:txBody>
      </p:sp>
      <p:sp>
        <p:nvSpPr>
          <p:cNvPr id="39" name="Shape 37"/>
          <p:cNvSpPr/>
          <p:nvPr/>
        </p:nvSpPr>
        <p:spPr>
          <a:xfrm>
            <a:off x="8375904" y="2313432"/>
            <a:ext cx="3099816" cy="592074"/>
          </a:xfrm>
          <a:prstGeom prst="rect">
            <a:avLst/>
          </a:prstGeom>
          <a:solidFill>
            <a:srgbClr val="18233A"/>
          </a:solidFill>
          <a:ln w="6350">
            <a:solidFill>
              <a:srgbClr val="1E2A42"/>
            </a:solidFill>
            <a:prstDash val="solid"/>
          </a:ln>
        </p:spPr>
      </p:sp>
      <p:sp>
        <p:nvSpPr>
          <p:cNvPr id="40" name="Text 38"/>
          <p:cNvSpPr txBox="1"/>
          <p:nvPr/>
        </p:nvSpPr>
        <p:spPr>
          <a:xfrm>
            <a:off x="8485632" y="2377440"/>
            <a:ext cx="2880360" cy="237744"/>
          </a:xfrm>
          <a:prstGeom prst="rect">
            <a:avLst/>
          </a:prstGeom>
          <a:noFill/>
          <a:ln/>
        </p:spPr>
        <p:txBody>
          <a:bodyPr wrap="square" lIns="0" tIns="0" rIns="0" bIns="0" rtlCol="0" anchor="t"/>
          <a:lstStyle/>
          <a:p>
            <a:pPr algn="l" indent="0" marL="0">
              <a:buNone/>
            </a:pPr>
            <a:r>
              <a:rPr lang="en-US" sz="950" b="1" dirty="0">
                <a:solidFill>
                  <a:srgbClr val="E9EEF6"/>
                </a:solidFill>
                <a:latin typeface="Consolas" pitchFamily="34" charset="0"/>
                <a:ea typeface="Consolas" pitchFamily="34" charset="-122"/>
                <a:cs typeface="Consolas" pitchFamily="34" charset="-120"/>
              </a:rPr>
              <a:t>Claim extraction</a:t>
            </a:r>
            <a:endParaRPr lang="en-US" sz="950" dirty="0"/>
          </a:p>
        </p:txBody>
      </p:sp>
      <p:sp>
        <p:nvSpPr>
          <p:cNvPr id="41" name="Text 39"/>
          <p:cNvSpPr txBox="1"/>
          <p:nvPr/>
        </p:nvSpPr>
        <p:spPr>
          <a:xfrm>
            <a:off x="8485632" y="2606040"/>
            <a:ext cx="2880360" cy="281178"/>
          </a:xfrm>
          <a:prstGeom prst="rect">
            <a:avLst/>
          </a:prstGeom>
          <a:noFill/>
          <a:ln/>
        </p:spPr>
        <p:txBody>
          <a:bodyPr wrap="square" lIns="0" tIns="0" rIns="0" bIns="0" rtlCol="0" anchor="t"/>
          <a:lstStyle/>
          <a:p>
            <a:pPr algn="l" indent="0" marL="0">
              <a:lnSpc>
                <a:spcPct val="102000"/>
              </a:lnSpc>
              <a:buNone/>
            </a:pPr>
            <a:r>
              <a:rPr lang="en-US" sz="880" dirty="0">
                <a:solidFill>
                  <a:srgbClr val="93A0B8"/>
                </a:solidFill>
                <a:latin typeface="Helvetica Neue" pitchFamily="34" charset="0"/>
                <a:ea typeface="Helvetica Neue" pitchFamily="34" charset="-122"/>
                <a:cs typeface="Helvetica Neue" pitchFamily="34" charset="-120"/>
              </a:rPr>
              <a:t>spaCy + custom EntityRuler: protocol, direction, frame type, ASDU, endpoints, attack / normality terms</a:t>
            </a:r>
            <a:endParaRPr lang="en-US" sz="880" dirty="0"/>
          </a:p>
        </p:txBody>
      </p:sp>
      <p:sp>
        <p:nvSpPr>
          <p:cNvPr id="42" name="Shape 40"/>
          <p:cNvSpPr/>
          <p:nvPr/>
        </p:nvSpPr>
        <p:spPr>
          <a:xfrm>
            <a:off x="9925812" y="2910078"/>
            <a:ext cx="0" cy="100584"/>
          </a:xfrm>
          <a:prstGeom prst="line">
            <a:avLst/>
          </a:prstGeom>
          <a:noFill/>
          <a:ln w="12700">
            <a:solidFill>
              <a:srgbClr val="5C6A85"/>
            </a:solidFill>
            <a:prstDash val="solid"/>
            <a:tailEnd type="triangle"/>
          </a:ln>
        </p:spPr>
      </p:sp>
      <p:sp>
        <p:nvSpPr>
          <p:cNvPr id="43" name="Shape 41"/>
          <p:cNvSpPr/>
          <p:nvPr/>
        </p:nvSpPr>
        <p:spPr>
          <a:xfrm>
            <a:off x="8375904" y="3015234"/>
            <a:ext cx="3099816" cy="592074"/>
          </a:xfrm>
          <a:prstGeom prst="rect">
            <a:avLst/>
          </a:prstGeom>
          <a:solidFill>
            <a:srgbClr val="18233A"/>
          </a:solidFill>
          <a:ln w="6350">
            <a:solidFill>
              <a:srgbClr val="1E2A42"/>
            </a:solidFill>
            <a:prstDash val="solid"/>
          </a:ln>
        </p:spPr>
      </p:sp>
      <p:sp>
        <p:nvSpPr>
          <p:cNvPr id="44" name="Text 42"/>
          <p:cNvSpPr txBox="1"/>
          <p:nvPr/>
        </p:nvSpPr>
        <p:spPr>
          <a:xfrm>
            <a:off x="8485632" y="3079242"/>
            <a:ext cx="2880360" cy="237744"/>
          </a:xfrm>
          <a:prstGeom prst="rect">
            <a:avLst/>
          </a:prstGeom>
          <a:noFill/>
          <a:ln/>
        </p:spPr>
        <p:txBody>
          <a:bodyPr wrap="square" lIns="0" tIns="0" rIns="0" bIns="0" rtlCol="0" anchor="t"/>
          <a:lstStyle/>
          <a:p>
            <a:pPr algn="l" indent="0" marL="0">
              <a:buNone/>
            </a:pPr>
            <a:r>
              <a:rPr lang="en-US" sz="950" b="1" dirty="0">
                <a:solidFill>
                  <a:srgbClr val="E9EEF6"/>
                </a:solidFill>
                <a:latin typeface="Consolas" pitchFamily="34" charset="0"/>
                <a:ea typeface="Consolas" pitchFamily="34" charset="-122"/>
                <a:cs typeface="Consolas" pitchFamily="34" charset="-120"/>
              </a:rPr>
              <a:t>Bound comparison</a:t>
            </a:r>
            <a:endParaRPr lang="en-US" sz="950" dirty="0"/>
          </a:p>
        </p:txBody>
      </p:sp>
      <p:sp>
        <p:nvSpPr>
          <p:cNvPr id="45" name="Text 43"/>
          <p:cNvSpPr txBox="1"/>
          <p:nvPr/>
        </p:nvSpPr>
        <p:spPr>
          <a:xfrm>
            <a:off x="8485632" y="3307842"/>
            <a:ext cx="2880360" cy="281178"/>
          </a:xfrm>
          <a:prstGeom prst="rect">
            <a:avLst/>
          </a:prstGeom>
          <a:noFill/>
          <a:ln/>
        </p:spPr>
        <p:txBody>
          <a:bodyPr wrap="square" lIns="0" tIns="0" rIns="0" bIns="0" rtlCol="0" anchor="t"/>
          <a:lstStyle/>
          <a:p>
            <a:pPr algn="l" indent="0" marL="0">
              <a:lnSpc>
                <a:spcPct val="102000"/>
              </a:lnSpc>
              <a:buNone/>
            </a:pPr>
            <a:r>
              <a:rPr lang="en-US" sz="880" dirty="0">
                <a:solidFill>
                  <a:srgbClr val="93A0B8"/>
                </a:solidFill>
                <a:latin typeface="Helvetica Neue" pitchFamily="34" charset="0"/>
                <a:ea typeface="Helvetica Neue" pitchFamily="34" charset="-122"/>
                <a:cs typeface="Helvetica Neue" pitchFamily="34" charset="-120"/>
              </a:rPr>
              <a:t>each claim → SUPPORTED · UNSUPPORTED · CONTRADICTED</a:t>
            </a:r>
            <a:endParaRPr lang="en-US" sz="880" dirty="0"/>
          </a:p>
        </p:txBody>
      </p:sp>
      <p:sp>
        <p:nvSpPr>
          <p:cNvPr id="46" name="Shape 44"/>
          <p:cNvSpPr/>
          <p:nvPr/>
        </p:nvSpPr>
        <p:spPr>
          <a:xfrm>
            <a:off x="9925812" y="3611880"/>
            <a:ext cx="0" cy="100584"/>
          </a:xfrm>
          <a:prstGeom prst="line">
            <a:avLst/>
          </a:prstGeom>
          <a:noFill/>
          <a:ln w="12700">
            <a:solidFill>
              <a:srgbClr val="5C6A85"/>
            </a:solidFill>
            <a:prstDash val="solid"/>
            <a:tailEnd type="triangle"/>
          </a:ln>
        </p:spPr>
      </p:sp>
      <p:sp>
        <p:nvSpPr>
          <p:cNvPr id="47" name="Shape 45"/>
          <p:cNvSpPr/>
          <p:nvPr/>
        </p:nvSpPr>
        <p:spPr>
          <a:xfrm>
            <a:off x="8375904" y="3717036"/>
            <a:ext cx="3099816" cy="592074"/>
          </a:xfrm>
          <a:prstGeom prst="rect">
            <a:avLst/>
          </a:prstGeom>
          <a:solidFill>
            <a:srgbClr val="18233A"/>
          </a:solidFill>
          <a:ln w="6350">
            <a:solidFill>
              <a:srgbClr val="1E2A42"/>
            </a:solidFill>
            <a:prstDash val="solid"/>
          </a:ln>
        </p:spPr>
      </p:sp>
      <p:sp>
        <p:nvSpPr>
          <p:cNvPr id="48" name="Text 46"/>
          <p:cNvSpPr txBox="1"/>
          <p:nvPr/>
        </p:nvSpPr>
        <p:spPr>
          <a:xfrm>
            <a:off x="8485632" y="3781044"/>
            <a:ext cx="2880360" cy="237744"/>
          </a:xfrm>
          <a:prstGeom prst="rect">
            <a:avLst/>
          </a:prstGeom>
          <a:noFill/>
          <a:ln/>
        </p:spPr>
        <p:txBody>
          <a:bodyPr wrap="square" lIns="0" tIns="0" rIns="0" bIns="0" rtlCol="0" anchor="t"/>
          <a:lstStyle/>
          <a:p>
            <a:pPr algn="l" indent="0" marL="0">
              <a:buNone/>
            </a:pPr>
            <a:r>
              <a:rPr lang="en-US" sz="950" b="1" dirty="0">
                <a:solidFill>
                  <a:srgbClr val="E9EEF6"/>
                </a:solidFill>
                <a:latin typeface="Consolas" pitchFamily="34" charset="0"/>
                <a:ea typeface="Consolas" pitchFamily="34" charset="-122"/>
                <a:cs typeface="Consolas" pitchFamily="34" charset="-120"/>
              </a:rPr>
              <a:t>Violation classification</a:t>
            </a:r>
            <a:endParaRPr lang="en-US" sz="950" dirty="0"/>
          </a:p>
        </p:txBody>
      </p:sp>
      <p:sp>
        <p:nvSpPr>
          <p:cNvPr id="49" name="Text 47"/>
          <p:cNvSpPr txBox="1"/>
          <p:nvPr/>
        </p:nvSpPr>
        <p:spPr>
          <a:xfrm>
            <a:off x="8485632" y="4009644"/>
            <a:ext cx="2880360" cy="281178"/>
          </a:xfrm>
          <a:prstGeom prst="rect">
            <a:avLst/>
          </a:prstGeom>
          <a:noFill/>
          <a:ln/>
        </p:spPr>
        <p:txBody>
          <a:bodyPr wrap="square" lIns="0" tIns="0" rIns="0" bIns="0" rtlCol="0" anchor="t"/>
          <a:lstStyle/>
          <a:p>
            <a:pPr algn="l" indent="0" marL="0">
              <a:lnSpc>
                <a:spcPct val="102000"/>
              </a:lnSpc>
              <a:buNone/>
            </a:pPr>
            <a:r>
              <a:rPr lang="en-US" sz="880" dirty="0">
                <a:solidFill>
                  <a:srgbClr val="93A0B8"/>
                </a:solidFill>
                <a:latin typeface="Helvetica Neue" pitchFamily="34" charset="0"/>
                <a:ea typeface="Helvetica Neue" pitchFamily="34" charset="-122"/>
                <a:cs typeface="Helvetica Neue" pitchFamily="34" charset="-120"/>
              </a:rPr>
              <a:t>lexicon layer + dependency-parse negation filter → V1–V5 + severity</a:t>
            </a:r>
            <a:endParaRPr lang="en-US" sz="880" dirty="0"/>
          </a:p>
        </p:txBody>
      </p:sp>
      <p:sp>
        <p:nvSpPr>
          <p:cNvPr id="50" name="Shape 48"/>
          <p:cNvSpPr/>
          <p:nvPr/>
        </p:nvSpPr>
        <p:spPr>
          <a:xfrm>
            <a:off x="9925812" y="4313682"/>
            <a:ext cx="0" cy="100584"/>
          </a:xfrm>
          <a:prstGeom prst="line">
            <a:avLst/>
          </a:prstGeom>
          <a:noFill/>
          <a:ln w="12700">
            <a:solidFill>
              <a:srgbClr val="5C6A85"/>
            </a:solidFill>
            <a:prstDash val="solid"/>
            <a:tailEnd type="triangle"/>
          </a:ln>
        </p:spPr>
      </p:sp>
      <p:sp>
        <p:nvSpPr>
          <p:cNvPr id="51" name="Shape 49"/>
          <p:cNvSpPr/>
          <p:nvPr/>
        </p:nvSpPr>
        <p:spPr>
          <a:xfrm>
            <a:off x="8375904" y="4418838"/>
            <a:ext cx="3099816" cy="592074"/>
          </a:xfrm>
          <a:prstGeom prst="rect">
            <a:avLst/>
          </a:prstGeom>
          <a:solidFill>
            <a:srgbClr val="18233A"/>
          </a:solidFill>
          <a:ln w="6350">
            <a:solidFill>
              <a:srgbClr val="1E2A42"/>
            </a:solidFill>
            <a:prstDash val="solid"/>
          </a:ln>
        </p:spPr>
      </p:sp>
      <p:sp>
        <p:nvSpPr>
          <p:cNvPr id="52" name="Text 50"/>
          <p:cNvSpPr txBox="1"/>
          <p:nvPr/>
        </p:nvSpPr>
        <p:spPr>
          <a:xfrm>
            <a:off x="8485632" y="4482846"/>
            <a:ext cx="2880360" cy="237744"/>
          </a:xfrm>
          <a:prstGeom prst="rect">
            <a:avLst/>
          </a:prstGeom>
          <a:noFill/>
          <a:ln/>
        </p:spPr>
        <p:txBody>
          <a:bodyPr wrap="square" lIns="0" tIns="0" rIns="0" bIns="0" rtlCol="0" anchor="t"/>
          <a:lstStyle/>
          <a:p>
            <a:pPr algn="l" indent="0" marL="0">
              <a:buNone/>
            </a:pPr>
            <a:r>
              <a:rPr lang="en-US" sz="950" b="1" dirty="0">
                <a:solidFill>
                  <a:srgbClr val="E9EEF6"/>
                </a:solidFill>
                <a:latin typeface="Consolas" pitchFamily="34" charset="0"/>
                <a:ea typeface="Consolas" pitchFamily="34" charset="-122"/>
                <a:cs typeface="Consolas" pitchFamily="34" charset="-120"/>
              </a:rPr>
              <a:t>Verification report</a:t>
            </a:r>
            <a:endParaRPr lang="en-US" sz="950" dirty="0"/>
          </a:p>
        </p:txBody>
      </p:sp>
      <p:sp>
        <p:nvSpPr>
          <p:cNvPr id="53" name="Text 51"/>
          <p:cNvSpPr txBox="1"/>
          <p:nvPr/>
        </p:nvSpPr>
        <p:spPr>
          <a:xfrm>
            <a:off x="8485632" y="4711446"/>
            <a:ext cx="2880360" cy="281178"/>
          </a:xfrm>
          <a:prstGeom prst="rect">
            <a:avLst/>
          </a:prstGeom>
          <a:noFill/>
          <a:ln/>
        </p:spPr>
        <p:txBody>
          <a:bodyPr wrap="square" lIns="0" tIns="0" rIns="0" bIns="0" rtlCol="0" anchor="t"/>
          <a:lstStyle/>
          <a:p>
            <a:pPr algn="l" indent="0" marL="0">
              <a:lnSpc>
                <a:spcPct val="102000"/>
              </a:lnSpc>
              <a:buNone/>
            </a:pPr>
            <a:r>
              <a:rPr lang="en-US" sz="880" dirty="0">
                <a:solidFill>
                  <a:srgbClr val="93A0B8"/>
                </a:solidFill>
                <a:latin typeface="Helvetica Neue" pitchFamily="34" charset="0"/>
                <a:ea typeface="Helvetica Neue" pitchFamily="34" charset="-122"/>
                <a:cs typeface="Helvetica Neue" pitchFamily="34" charset="-120"/>
              </a:rPr>
              <a:t>per-claim reasons · V1–V5 · severity · JSONL</a:t>
            </a:r>
            <a:endParaRPr lang="en-US" sz="880" dirty="0"/>
          </a:p>
        </p:txBody>
      </p:sp>
      <p:sp>
        <p:nvSpPr>
          <p:cNvPr id="54" name="Shape 52"/>
          <p:cNvSpPr/>
          <p:nvPr/>
        </p:nvSpPr>
        <p:spPr>
          <a:xfrm>
            <a:off x="4023360" y="2953512"/>
            <a:ext cx="310896" cy="0"/>
          </a:xfrm>
          <a:prstGeom prst="line">
            <a:avLst/>
          </a:prstGeom>
          <a:noFill/>
          <a:ln w="22225">
            <a:solidFill>
              <a:srgbClr val="2DD4BF"/>
            </a:solidFill>
            <a:prstDash val="solid"/>
            <a:tailEnd type="triangle"/>
          </a:ln>
        </p:spPr>
      </p:sp>
      <p:sp>
        <p:nvSpPr>
          <p:cNvPr id="55" name="Shape 53"/>
          <p:cNvSpPr/>
          <p:nvPr/>
        </p:nvSpPr>
        <p:spPr>
          <a:xfrm>
            <a:off x="3995928" y="2688336"/>
            <a:ext cx="365760" cy="201168"/>
          </a:xfrm>
          <a:prstGeom prst="rect">
            <a:avLst/>
          </a:prstGeom>
          <a:solidFill>
            <a:srgbClr val="0B1220"/>
          </a:solidFill>
          <a:ln/>
        </p:spPr>
      </p:sp>
      <p:sp>
        <p:nvSpPr>
          <p:cNvPr id="56" name="Text 54"/>
          <p:cNvSpPr txBox="1"/>
          <p:nvPr/>
        </p:nvSpPr>
        <p:spPr>
          <a:xfrm>
            <a:off x="3995928" y="2670048"/>
            <a:ext cx="365760" cy="228600"/>
          </a:xfrm>
          <a:prstGeom prst="rect">
            <a:avLst/>
          </a:prstGeom>
          <a:noFill/>
          <a:ln/>
        </p:spPr>
        <p:txBody>
          <a:bodyPr wrap="square" lIns="0" tIns="0" rIns="0" bIns="0" rtlCol="0" anchor="t"/>
          <a:lstStyle/>
          <a:p>
            <a:pPr algn="ctr" indent="0" marL="0">
              <a:buNone/>
            </a:pPr>
            <a:r>
              <a:rPr lang="en-US" sz="750" dirty="0">
                <a:solidFill>
                  <a:srgbClr val="2DD4BF"/>
                </a:solidFill>
                <a:latin typeface="Consolas" pitchFamily="34" charset="0"/>
                <a:ea typeface="Consolas" pitchFamily="34" charset="-122"/>
                <a:cs typeface="Consolas" pitchFamily="34" charset="-120"/>
              </a:rPr>
              <a:t>bound</a:t>
            </a:r>
            <a:endParaRPr lang="en-US" sz="750" dirty="0"/>
          </a:p>
        </p:txBody>
      </p:sp>
      <p:sp>
        <p:nvSpPr>
          <p:cNvPr id="57" name="Shape 55"/>
          <p:cNvSpPr/>
          <p:nvPr/>
        </p:nvSpPr>
        <p:spPr>
          <a:xfrm>
            <a:off x="7854696" y="2953512"/>
            <a:ext cx="310896" cy="0"/>
          </a:xfrm>
          <a:prstGeom prst="line">
            <a:avLst/>
          </a:prstGeom>
          <a:noFill/>
          <a:ln w="22225">
            <a:solidFill>
              <a:srgbClr val="F5A524"/>
            </a:solidFill>
            <a:prstDash val="solid"/>
            <a:tailEnd type="triangle"/>
          </a:ln>
        </p:spPr>
      </p:sp>
      <p:sp>
        <p:nvSpPr>
          <p:cNvPr id="58" name="Shape 56"/>
          <p:cNvSpPr/>
          <p:nvPr/>
        </p:nvSpPr>
        <p:spPr>
          <a:xfrm>
            <a:off x="7827264" y="2688336"/>
            <a:ext cx="365760" cy="201168"/>
          </a:xfrm>
          <a:prstGeom prst="rect">
            <a:avLst/>
          </a:prstGeom>
          <a:solidFill>
            <a:srgbClr val="0B1220"/>
          </a:solidFill>
          <a:ln/>
        </p:spPr>
      </p:sp>
      <p:sp>
        <p:nvSpPr>
          <p:cNvPr id="59" name="Text 57"/>
          <p:cNvSpPr txBox="1"/>
          <p:nvPr/>
        </p:nvSpPr>
        <p:spPr>
          <a:xfrm>
            <a:off x="7827264" y="2670048"/>
            <a:ext cx="365760" cy="228600"/>
          </a:xfrm>
          <a:prstGeom prst="rect">
            <a:avLst/>
          </a:prstGeom>
          <a:noFill/>
          <a:ln/>
        </p:spPr>
        <p:txBody>
          <a:bodyPr wrap="square" lIns="0" tIns="0" rIns="0" bIns="0" rtlCol="0" anchor="t"/>
          <a:lstStyle/>
          <a:p>
            <a:pPr algn="ctr" indent="0" marL="0">
              <a:buNone/>
            </a:pPr>
            <a:r>
              <a:rPr lang="en-US" sz="750" dirty="0">
                <a:solidFill>
                  <a:srgbClr val="F5A524"/>
                </a:solidFill>
                <a:latin typeface="Consolas" pitchFamily="34" charset="0"/>
                <a:ea typeface="Consolas" pitchFamily="34" charset="-122"/>
                <a:cs typeface="Consolas" pitchFamily="34" charset="-120"/>
              </a:rPr>
              <a:t>expl.</a:t>
            </a:r>
            <a:endParaRPr lang="en-US" sz="750" dirty="0"/>
          </a:p>
        </p:txBody>
      </p:sp>
      <p:sp>
        <p:nvSpPr>
          <p:cNvPr id="60" name="Shape 58"/>
          <p:cNvSpPr/>
          <p:nvPr/>
        </p:nvSpPr>
        <p:spPr>
          <a:xfrm flipV="1">
            <a:off x="2263140" y="1755648"/>
            <a:ext cx="0" cy="128016"/>
          </a:xfrm>
          <a:prstGeom prst="line">
            <a:avLst/>
          </a:prstGeom>
          <a:noFill/>
          <a:ln w="12700">
            <a:solidFill>
              <a:srgbClr val="2DD4BF"/>
            </a:solidFill>
            <a:prstDash val="dash"/>
          </a:ln>
        </p:spPr>
      </p:sp>
      <p:sp>
        <p:nvSpPr>
          <p:cNvPr id="61" name="Shape 59"/>
          <p:cNvSpPr/>
          <p:nvPr/>
        </p:nvSpPr>
        <p:spPr>
          <a:xfrm>
            <a:off x="2263140" y="1755648"/>
            <a:ext cx="7662672" cy="0"/>
          </a:xfrm>
          <a:prstGeom prst="line">
            <a:avLst/>
          </a:prstGeom>
          <a:noFill/>
          <a:ln w="12700">
            <a:solidFill>
              <a:srgbClr val="2DD4BF"/>
            </a:solidFill>
            <a:prstDash val="dash"/>
          </a:ln>
        </p:spPr>
      </p:sp>
      <p:sp>
        <p:nvSpPr>
          <p:cNvPr id="62" name="Shape 60"/>
          <p:cNvSpPr/>
          <p:nvPr/>
        </p:nvSpPr>
        <p:spPr>
          <a:xfrm>
            <a:off x="9925812" y="1755648"/>
            <a:ext cx="0" cy="128016"/>
          </a:xfrm>
          <a:prstGeom prst="line">
            <a:avLst/>
          </a:prstGeom>
          <a:noFill/>
          <a:ln w="12700">
            <a:solidFill>
              <a:srgbClr val="2DD4BF"/>
            </a:solidFill>
            <a:prstDash val="dash"/>
            <a:tailEnd type="triangle"/>
          </a:ln>
        </p:spPr>
      </p:sp>
      <p:sp>
        <p:nvSpPr>
          <p:cNvPr id="63" name="Text 61"/>
          <p:cNvSpPr txBox="1"/>
          <p:nvPr/>
        </p:nvSpPr>
        <p:spPr>
          <a:xfrm>
            <a:off x="5993892" y="1627632"/>
            <a:ext cx="3794760" cy="182880"/>
          </a:xfrm>
          <a:prstGeom prst="rect">
            <a:avLst/>
          </a:prstGeom>
          <a:noFill/>
          <a:ln/>
        </p:spPr>
        <p:txBody>
          <a:bodyPr wrap="square" lIns="0" tIns="0" rIns="0" bIns="0" rtlCol="0" anchor="t"/>
          <a:lstStyle/>
          <a:p>
            <a:pPr algn="r" indent="0" marL="0">
              <a:buNone/>
            </a:pPr>
            <a:r>
              <a:rPr lang="en-US" sz="800" dirty="0">
                <a:solidFill>
                  <a:srgbClr val="2DD4BF"/>
                </a:solidFill>
                <a:latin typeface="Consolas" pitchFamily="34" charset="0"/>
                <a:ea typeface="Consolas" pitchFamily="34" charset="-122"/>
                <a:cs typeface="Consolas" pitchFamily="34" charset="-120"/>
              </a:rPr>
              <a:t>bound is passed unchanged to the verifier</a:t>
            </a:r>
            <a:endParaRPr lang="en-US" sz="800" dirty="0"/>
          </a:p>
        </p:txBody>
      </p:sp>
      <p:sp>
        <p:nvSpPr>
          <p:cNvPr id="64" name="Shape 62"/>
          <p:cNvSpPr/>
          <p:nvPr/>
        </p:nvSpPr>
        <p:spPr>
          <a:xfrm>
            <a:off x="548640" y="5248656"/>
            <a:ext cx="2029968" cy="274320"/>
          </a:xfrm>
          <a:prstGeom prst="roundRect">
            <a:avLst>
              <a:gd name="adj" fmla="val 50000"/>
            </a:avLst>
          </a:prstGeom>
          <a:solidFill>
            <a:srgbClr val="18233A"/>
          </a:solidFill>
          <a:ln w="7620">
            <a:solidFill>
              <a:srgbClr val="93A0B8"/>
            </a:solidFill>
            <a:prstDash val="solid"/>
          </a:ln>
        </p:spPr>
      </p:sp>
      <p:sp>
        <p:nvSpPr>
          <p:cNvPr id="65" name="Text 63"/>
          <p:cNvSpPr txBox="1"/>
          <p:nvPr/>
        </p:nvSpPr>
        <p:spPr>
          <a:xfrm>
            <a:off x="548640" y="5248656"/>
            <a:ext cx="2029968" cy="274320"/>
          </a:xfrm>
          <a:prstGeom prst="rect">
            <a:avLst/>
          </a:prstGeom>
          <a:noFill/>
          <a:ln/>
        </p:spPr>
        <p:txBody>
          <a:bodyPr wrap="square" lIns="0" tIns="0" rIns="0" bIns="0" rtlCol="0" anchor="ctr"/>
          <a:lstStyle/>
          <a:p>
            <a:pPr algn="ctr" indent="0" marL="0">
              <a:buNone/>
            </a:pPr>
            <a:r>
              <a:rPr lang="en-US" sz="850" b="1" dirty="0">
                <a:solidFill>
                  <a:srgbClr val="93A0B8"/>
                </a:solidFill>
                <a:latin typeface="Consolas" pitchFamily="34" charset="0"/>
                <a:ea typeface="Consolas" pitchFamily="34" charset="-122"/>
                <a:cs typeface="Consolas" pitchFamily="34" charset="-120"/>
              </a:rPr>
              <a:t>bounds set  .jsonl</a:t>
            </a:r>
            <a:endParaRPr lang="en-US" sz="850" dirty="0"/>
          </a:p>
        </p:txBody>
      </p:sp>
      <p:sp>
        <p:nvSpPr>
          <p:cNvPr id="66" name="Shape 64"/>
          <p:cNvSpPr/>
          <p:nvPr/>
        </p:nvSpPr>
        <p:spPr>
          <a:xfrm>
            <a:off x="2615184" y="5385816"/>
            <a:ext cx="162992" cy="0"/>
          </a:xfrm>
          <a:prstGeom prst="line">
            <a:avLst/>
          </a:prstGeom>
          <a:noFill/>
          <a:ln w="9525">
            <a:solidFill>
              <a:srgbClr val="5C6A85"/>
            </a:solidFill>
            <a:prstDash val="solid"/>
            <a:tailEnd type="triangle"/>
          </a:ln>
        </p:spPr>
      </p:sp>
      <p:sp>
        <p:nvSpPr>
          <p:cNvPr id="67" name="Shape 65"/>
          <p:cNvSpPr/>
          <p:nvPr/>
        </p:nvSpPr>
        <p:spPr>
          <a:xfrm>
            <a:off x="2814752" y="5248656"/>
            <a:ext cx="2029968" cy="274320"/>
          </a:xfrm>
          <a:prstGeom prst="roundRect">
            <a:avLst>
              <a:gd name="adj" fmla="val 50000"/>
            </a:avLst>
          </a:prstGeom>
          <a:solidFill>
            <a:srgbClr val="18233A"/>
          </a:solidFill>
          <a:ln w="7620">
            <a:solidFill>
              <a:srgbClr val="93A0B8"/>
            </a:solidFill>
            <a:prstDash val="solid"/>
          </a:ln>
        </p:spPr>
      </p:sp>
      <p:sp>
        <p:nvSpPr>
          <p:cNvPr id="68" name="Text 66"/>
          <p:cNvSpPr txBox="1"/>
          <p:nvPr/>
        </p:nvSpPr>
        <p:spPr>
          <a:xfrm>
            <a:off x="2814752" y="5248656"/>
            <a:ext cx="2029968" cy="274320"/>
          </a:xfrm>
          <a:prstGeom prst="rect">
            <a:avLst/>
          </a:prstGeom>
          <a:noFill/>
          <a:ln/>
        </p:spPr>
        <p:txBody>
          <a:bodyPr wrap="square" lIns="0" tIns="0" rIns="0" bIns="0" rtlCol="0" anchor="ctr"/>
          <a:lstStyle/>
          <a:p>
            <a:pPr algn="ctr" indent="0" marL="0">
              <a:buNone/>
            </a:pPr>
            <a:r>
              <a:rPr lang="en-US" sz="850" b="1" dirty="0">
                <a:solidFill>
                  <a:srgbClr val="93A0B8"/>
                </a:solidFill>
                <a:latin typeface="Consolas" pitchFamily="34" charset="0"/>
                <a:ea typeface="Consolas" pitchFamily="34" charset="-122"/>
                <a:cs typeface="Consolas" pitchFamily="34" charset="-120"/>
              </a:rPr>
              <a:t>prompts set  .jsonl</a:t>
            </a:r>
            <a:endParaRPr lang="en-US" sz="850" dirty="0"/>
          </a:p>
        </p:txBody>
      </p:sp>
      <p:sp>
        <p:nvSpPr>
          <p:cNvPr id="69" name="Shape 67"/>
          <p:cNvSpPr/>
          <p:nvPr/>
        </p:nvSpPr>
        <p:spPr>
          <a:xfrm>
            <a:off x="4881296" y="5385816"/>
            <a:ext cx="162992" cy="0"/>
          </a:xfrm>
          <a:prstGeom prst="line">
            <a:avLst/>
          </a:prstGeom>
          <a:noFill/>
          <a:ln w="9525">
            <a:solidFill>
              <a:srgbClr val="5C6A85"/>
            </a:solidFill>
            <a:prstDash val="solid"/>
            <a:tailEnd type="triangle"/>
          </a:ln>
        </p:spPr>
      </p:sp>
      <p:sp>
        <p:nvSpPr>
          <p:cNvPr id="70" name="Shape 68"/>
          <p:cNvSpPr/>
          <p:nvPr/>
        </p:nvSpPr>
        <p:spPr>
          <a:xfrm>
            <a:off x="5080864" y="5248656"/>
            <a:ext cx="2029968" cy="274320"/>
          </a:xfrm>
          <a:prstGeom prst="roundRect">
            <a:avLst>
              <a:gd name="adj" fmla="val 50000"/>
            </a:avLst>
          </a:prstGeom>
          <a:solidFill>
            <a:srgbClr val="18233A"/>
          </a:solidFill>
          <a:ln w="7620">
            <a:solidFill>
              <a:srgbClr val="93A0B8"/>
            </a:solidFill>
            <a:prstDash val="solid"/>
          </a:ln>
        </p:spPr>
      </p:sp>
      <p:sp>
        <p:nvSpPr>
          <p:cNvPr id="71" name="Text 69"/>
          <p:cNvSpPr txBox="1"/>
          <p:nvPr/>
        </p:nvSpPr>
        <p:spPr>
          <a:xfrm>
            <a:off x="5080864" y="5248656"/>
            <a:ext cx="2029968" cy="274320"/>
          </a:xfrm>
          <a:prstGeom prst="rect">
            <a:avLst/>
          </a:prstGeom>
          <a:noFill/>
          <a:ln/>
        </p:spPr>
        <p:txBody>
          <a:bodyPr wrap="square" lIns="0" tIns="0" rIns="0" bIns="0" rtlCol="0" anchor="ctr"/>
          <a:lstStyle/>
          <a:p>
            <a:pPr algn="ctr" indent="0" marL="0">
              <a:buNone/>
            </a:pPr>
            <a:r>
              <a:rPr lang="en-US" sz="850" b="1" dirty="0">
                <a:solidFill>
                  <a:srgbClr val="93A0B8"/>
                </a:solidFill>
                <a:latin typeface="Consolas" pitchFamily="34" charset="0"/>
                <a:ea typeface="Consolas" pitchFamily="34" charset="-122"/>
                <a:cs typeface="Consolas" pitchFamily="34" charset="-120"/>
              </a:rPr>
              <a:t>responses set  .jsonl</a:t>
            </a:r>
            <a:endParaRPr lang="en-US" sz="850" dirty="0"/>
          </a:p>
        </p:txBody>
      </p:sp>
      <p:sp>
        <p:nvSpPr>
          <p:cNvPr id="72" name="Shape 70"/>
          <p:cNvSpPr/>
          <p:nvPr/>
        </p:nvSpPr>
        <p:spPr>
          <a:xfrm>
            <a:off x="7147408" y="5385816"/>
            <a:ext cx="162992" cy="0"/>
          </a:xfrm>
          <a:prstGeom prst="line">
            <a:avLst/>
          </a:prstGeom>
          <a:noFill/>
          <a:ln w="9525">
            <a:solidFill>
              <a:srgbClr val="5C6A85"/>
            </a:solidFill>
            <a:prstDash val="solid"/>
            <a:tailEnd type="triangle"/>
          </a:ln>
        </p:spPr>
      </p:sp>
      <p:sp>
        <p:nvSpPr>
          <p:cNvPr id="73" name="Shape 71"/>
          <p:cNvSpPr/>
          <p:nvPr/>
        </p:nvSpPr>
        <p:spPr>
          <a:xfrm>
            <a:off x="7346975" y="5248656"/>
            <a:ext cx="2029968" cy="274320"/>
          </a:xfrm>
          <a:prstGeom prst="roundRect">
            <a:avLst>
              <a:gd name="adj" fmla="val 50000"/>
            </a:avLst>
          </a:prstGeom>
          <a:solidFill>
            <a:srgbClr val="18233A"/>
          </a:solidFill>
          <a:ln w="7620">
            <a:solidFill>
              <a:srgbClr val="93A0B8"/>
            </a:solidFill>
            <a:prstDash val="solid"/>
          </a:ln>
        </p:spPr>
      </p:sp>
      <p:sp>
        <p:nvSpPr>
          <p:cNvPr id="74" name="Text 72"/>
          <p:cNvSpPr txBox="1"/>
          <p:nvPr/>
        </p:nvSpPr>
        <p:spPr>
          <a:xfrm>
            <a:off x="7346975" y="5248656"/>
            <a:ext cx="2029968" cy="274320"/>
          </a:xfrm>
          <a:prstGeom prst="rect">
            <a:avLst/>
          </a:prstGeom>
          <a:noFill/>
          <a:ln/>
        </p:spPr>
        <p:txBody>
          <a:bodyPr wrap="square" lIns="0" tIns="0" rIns="0" bIns="0" rtlCol="0" anchor="ctr"/>
          <a:lstStyle/>
          <a:p>
            <a:pPr algn="ctr" indent="0" marL="0">
              <a:buNone/>
            </a:pPr>
            <a:r>
              <a:rPr lang="en-US" sz="850" b="1" dirty="0">
                <a:solidFill>
                  <a:srgbClr val="93A0B8"/>
                </a:solidFill>
                <a:latin typeface="Consolas" pitchFamily="34" charset="0"/>
                <a:ea typeface="Consolas" pitchFamily="34" charset="-122"/>
                <a:cs typeface="Consolas" pitchFamily="34" charset="-120"/>
              </a:rPr>
              <a:t>verification report  .jsonl</a:t>
            </a:r>
            <a:endParaRPr lang="en-US" sz="850" dirty="0"/>
          </a:p>
        </p:txBody>
      </p:sp>
      <p:sp>
        <p:nvSpPr>
          <p:cNvPr id="75" name="Shape 73"/>
          <p:cNvSpPr/>
          <p:nvPr/>
        </p:nvSpPr>
        <p:spPr>
          <a:xfrm>
            <a:off x="9413519" y="5385816"/>
            <a:ext cx="162992" cy="0"/>
          </a:xfrm>
          <a:prstGeom prst="line">
            <a:avLst/>
          </a:prstGeom>
          <a:noFill/>
          <a:ln w="9525">
            <a:solidFill>
              <a:srgbClr val="5C6A85"/>
            </a:solidFill>
            <a:prstDash val="solid"/>
            <a:tailEnd type="triangle"/>
          </a:ln>
        </p:spPr>
      </p:sp>
      <p:sp>
        <p:nvSpPr>
          <p:cNvPr id="76" name="Shape 74"/>
          <p:cNvSpPr/>
          <p:nvPr/>
        </p:nvSpPr>
        <p:spPr>
          <a:xfrm>
            <a:off x="9613087" y="5248656"/>
            <a:ext cx="2029968" cy="274320"/>
          </a:xfrm>
          <a:prstGeom prst="roundRect">
            <a:avLst>
              <a:gd name="adj" fmla="val 50000"/>
            </a:avLst>
          </a:prstGeom>
          <a:solidFill>
            <a:srgbClr val="0F3D3A"/>
          </a:solidFill>
          <a:ln w="7620">
            <a:solidFill>
              <a:srgbClr val="2DD4BF"/>
            </a:solidFill>
            <a:prstDash val="solid"/>
          </a:ln>
        </p:spPr>
      </p:sp>
      <p:sp>
        <p:nvSpPr>
          <p:cNvPr id="77" name="Text 75"/>
          <p:cNvSpPr txBox="1"/>
          <p:nvPr/>
        </p:nvSpPr>
        <p:spPr>
          <a:xfrm>
            <a:off x="9613087" y="5248656"/>
            <a:ext cx="2029968" cy="274320"/>
          </a:xfrm>
          <a:prstGeom prst="rect">
            <a:avLst/>
          </a:prstGeom>
          <a:noFill/>
          <a:ln/>
        </p:spPr>
        <p:txBody>
          <a:bodyPr wrap="square" lIns="0" tIns="0" rIns="0" bIns="0" rtlCol="0" anchor="ctr"/>
          <a:lstStyle/>
          <a:p>
            <a:pPr algn="ctr" indent="0" marL="0">
              <a:buNone/>
            </a:pPr>
            <a:r>
              <a:rPr lang="en-US" sz="850" b="1" dirty="0">
                <a:solidFill>
                  <a:srgbClr val="2DD4BF"/>
                </a:solidFill>
                <a:latin typeface="Consolas" pitchFamily="34" charset="0"/>
                <a:ea typeface="Consolas" pitchFamily="34" charset="-122"/>
                <a:cs typeface="Consolas" pitchFamily="34" charset="-120"/>
              </a:rPr>
              <a:t>metrics · χ² · figures</a:t>
            </a:r>
            <a:endParaRPr lang="en-US" sz="850" dirty="0"/>
          </a:p>
        </p:txBody>
      </p:sp>
      <p:sp>
        <p:nvSpPr>
          <p:cNvPr id="78" name="Shape 76"/>
          <p:cNvSpPr/>
          <p:nvPr/>
        </p:nvSpPr>
        <p:spPr>
          <a:xfrm>
            <a:off x="548640" y="5650992"/>
            <a:ext cx="6903720" cy="603504"/>
          </a:xfrm>
          <a:prstGeom prst="roundRect">
            <a:avLst>
              <a:gd name="adj" fmla="val 12121"/>
            </a:avLst>
          </a:prstGeom>
          <a:solidFill>
            <a:srgbClr val="4A3410"/>
          </a:solidFill>
          <a:ln w="11430">
            <a:solidFill>
              <a:srgbClr val="F5A524"/>
            </a:solidFill>
            <a:prstDash val="solid"/>
          </a:ln>
        </p:spPr>
      </p:sp>
      <p:sp>
        <p:nvSpPr>
          <p:cNvPr id="79" name="Shape 77"/>
          <p:cNvSpPr/>
          <p:nvPr/>
        </p:nvSpPr>
        <p:spPr>
          <a:xfrm>
            <a:off x="685800" y="5806440"/>
            <a:ext cx="1234440" cy="274320"/>
          </a:xfrm>
          <a:prstGeom prst="roundRect">
            <a:avLst>
              <a:gd name="adj" fmla="val 50000"/>
            </a:avLst>
          </a:prstGeom>
          <a:solidFill>
            <a:srgbClr val="4A3410"/>
          </a:solidFill>
          <a:ln w="7620">
            <a:solidFill>
              <a:srgbClr val="F5A524"/>
            </a:solidFill>
            <a:prstDash val="solid"/>
          </a:ln>
        </p:spPr>
      </p:sp>
      <p:sp>
        <p:nvSpPr>
          <p:cNvPr id="80" name="Text 78"/>
          <p:cNvSpPr txBox="1"/>
          <p:nvPr/>
        </p:nvSpPr>
        <p:spPr>
          <a:xfrm>
            <a:off x="685800" y="5806440"/>
            <a:ext cx="1234440" cy="274320"/>
          </a:xfrm>
          <a:prstGeom prst="rect">
            <a:avLst/>
          </a:prstGeom>
          <a:noFill/>
          <a:ln/>
        </p:spPr>
        <p:txBody>
          <a:bodyPr wrap="square" lIns="0" tIns="0" rIns="0" bIns="0" rtlCol="0" anchor="ctr"/>
          <a:lstStyle/>
          <a:p>
            <a:pPr algn="ctr" indent="0" marL="0">
              <a:buNone/>
            </a:pPr>
            <a:r>
              <a:rPr lang="en-US" sz="850" b="1" dirty="0">
                <a:solidFill>
                  <a:srgbClr val="F5A524"/>
                </a:solidFill>
                <a:latin typeface="Consolas" pitchFamily="34" charset="0"/>
                <a:ea typeface="Consolas" pitchFamily="34" charset="-122"/>
                <a:cs typeface="Consolas" pitchFamily="34" charset="-120"/>
              </a:rPr>
              <a:t>PROXY REGIME</a:t>
            </a:r>
            <a:endParaRPr lang="en-US" sz="850" dirty="0"/>
          </a:p>
        </p:txBody>
      </p:sp>
      <p:sp>
        <p:nvSpPr>
          <p:cNvPr id="81" name="Text 79"/>
          <p:cNvSpPr txBox="1"/>
          <p:nvPr/>
        </p:nvSpPr>
        <p:spPr>
          <a:xfrm>
            <a:off x="2057400" y="5715000"/>
            <a:ext cx="5303520" cy="512064"/>
          </a:xfrm>
          <a:prstGeom prst="rect">
            <a:avLst/>
          </a:prstGeom>
          <a:noFill/>
          <a:ln/>
        </p:spPr>
        <p:txBody>
          <a:bodyPr wrap="square" lIns="0" tIns="0" rIns="0" bIns="0" rtlCol="0" anchor="t"/>
          <a:lstStyle/>
          <a:p>
            <a:pPr algn="l" indent="0" marL="0">
              <a:lnSpc>
                <a:spcPct val="102000"/>
              </a:lnSpc>
              <a:buNone/>
            </a:pPr>
            <a:r>
              <a:rPr lang="en-US" sz="880" dirty="0">
                <a:solidFill>
                  <a:srgbClr val="C7D0DE"/>
                </a:solidFill>
                <a:latin typeface="Helvetica Neue" pitchFamily="34" charset="0"/>
                <a:ea typeface="Helvetica Neue" pitchFamily="34" charset="-122"/>
                <a:cs typeface="Helvetica Neue" pitchFamily="34" charset="-120"/>
              </a:rPr>
              <a:t>The official NES@FIT automaton schema was unavailable: formal_class and event type come from ReasonGuard's own rule-based classifier, all machine_constraints flags stay false, and every artefact carries the suffix _proxy_until_official_schema.</a:t>
            </a:r>
            <a:endParaRPr lang="en-US" sz="880" dirty="0"/>
          </a:p>
        </p:txBody>
      </p:sp>
      <p:sp>
        <p:nvSpPr>
          <p:cNvPr id="82" name="Shape 80"/>
          <p:cNvSpPr/>
          <p:nvPr/>
        </p:nvSpPr>
        <p:spPr>
          <a:xfrm>
            <a:off x="7635240" y="5650992"/>
            <a:ext cx="4007815" cy="603504"/>
          </a:xfrm>
          <a:prstGeom prst="roundRect">
            <a:avLst>
              <a:gd name="adj" fmla="val 12121"/>
            </a:avLst>
          </a:prstGeom>
          <a:solidFill>
            <a:srgbClr val="18233A"/>
          </a:solidFill>
          <a:ln w="9525">
            <a:solidFill>
              <a:srgbClr val="1E2A42"/>
            </a:solidFill>
            <a:prstDash val="solid"/>
          </a:ln>
        </p:spPr>
      </p:sp>
      <p:sp>
        <p:nvSpPr>
          <p:cNvPr id="83" name="Text 81"/>
          <p:cNvSpPr txBox="1"/>
          <p:nvPr/>
        </p:nvSpPr>
        <p:spPr>
          <a:xfrm>
            <a:off x="7799832" y="5715000"/>
            <a:ext cx="3678631" cy="512064"/>
          </a:xfrm>
          <a:prstGeom prst="rect">
            <a:avLst/>
          </a:prstGeom>
          <a:noFill/>
          <a:ln/>
        </p:spPr>
        <p:txBody>
          <a:bodyPr wrap="square" lIns="0" tIns="0" rIns="0" bIns="0" rtlCol="0" anchor="t"/>
          <a:lstStyle/>
          <a:p>
            <a:pPr algn="l" indent="0" marL="0">
              <a:lnSpc>
                <a:spcPct val="102000"/>
              </a:lnSpc>
              <a:buNone/>
            </a:pPr>
            <a:r>
              <a:rPr lang="en-US" sz="880" dirty="0">
                <a:solidFill>
                  <a:srgbClr val="93A0B8"/>
                </a:solidFill>
                <a:latin typeface="Helvetica Neue" pitchFamily="34" charset="0"/>
                <a:ea typeface="Helvetica Neue" pitchFamily="34" charset="-122"/>
                <a:cs typeface="Helvetica Neue" pitchFamily="34" charset="-120"/>
              </a:rPr>
              <a:t>MLflow tracking — 5 experiments (bounds, prompts, synthetic, model responses, checker) · pytest per module · Streamlit verification dashboard sharing the checker code · Zenodo release</a:t>
            </a:r>
            <a:endParaRPr lang="en-US" sz="88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indent="0" marL="0">
              <a:buNone/>
            </a:pPr>
            <a:r>
              <a:rPr lang="en-US" sz="1050" spc="200" kern="0" dirty="0">
                <a:solidFill>
                  <a:srgbClr val="2DD4BF"/>
                </a:solidFill>
                <a:latin typeface="Consolas" pitchFamily="34" charset="0"/>
                <a:ea typeface="Consolas" pitchFamily="34" charset="-122"/>
                <a:cs typeface="Consolas" pitchFamily="34" charset="-120"/>
              </a:rPr>
              <a:t>06 · REASONING-VIOLATION TAXONOMY</a:t>
            </a:r>
            <a:endParaRPr lang="en-US" sz="1050" dirty="0"/>
          </a:p>
        </p:txBody>
      </p:sp>
      <p:sp>
        <p:nvSpPr>
          <p:cNvPr id="3" name="Text 1"/>
          <p:cNvSpPr txBox="1"/>
          <p:nvPr/>
        </p:nvSpPr>
        <p:spPr>
          <a:xfrm>
            <a:off x="548640" y="603504"/>
            <a:ext cx="11094415" cy="566928"/>
          </a:xfrm>
          <a:prstGeom prst="rect">
            <a:avLst/>
          </a:prstGeom>
          <a:noFill/>
          <a:ln/>
        </p:spPr>
        <p:txBody>
          <a:bodyPr wrap="square" lIns="0" tIns="0" rIns="0" bIns="0" rtlCol="0" anchor="t"/>
          <a:lstStyle/>
          <a:p>
            <a:pPr indent="0" marL="0">
              <a:buNone/>
            </a:pPr>
            <a:r>
              <a:rPr lang="en-US" sz="2350" b="1" dirty="0">
                <a:solidFill>
                  <a:srgbClr val="E9EEF6"/>
                </a:solidFill>
                <a:latin typeface="Helvetica Neue" pitchFamily="34" charset="0"/>
                <a:ea typeface="Helvetica Neue" pitchFamily="34" charset="-122"/>
                <a:cs typeface="Helvetica Neue" pitchFamily="34" charset="-120"/>
              </a:rPr>
              <a:t>Five ways an explanation can violate its bound — V1 to V5</a:t>
            </a:r>
            <a:endParaRPr lang="en-US" sz="235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350" dirty="0">
                <a:solidFill>
                  <a:srgbClr val="93A0B8"/>
                </a:solidFill>
                <a:latin typeface="Helvetica Neue" pitchFamily="34" charset="0"/>
                <a:ea typeface="Helvetica Neue" pitchFamily="34" charset="-122"/>
                <a:cs typeface="Helvetica Neue" pitchFamily="34" charset="-120"/>
              </a:rPr>
              <a:t>Named after their effect on faithfulness; each class has a formal definition, a deterministic detector and a severity (thesis §3.4, Appendix A).</a:t>
            </a:r>
            <a:endParaRPr lang="en-US" sz="1350" dirty="0"/>
          </a:p>
        </p:txBody>
      </p:sp>
      <p:sp>
        <p:nvSpPr>
          <p:cNvPr id="5" name="Text 3"/>
          <p:cNvSpPr txBox="1"/>
          <p:nvPr/>
        </p:nvSpPr>
        <p:spPr>
          <a:xfrm>
            <a:off x="548640" y="6473952"/>
            <a:ext cx="8778240" cy="219456"/>
          </a:xfrm>
          <a:prstGeom prst="rect">
            <a:avLst/>
          </a:prstGeom>
          <a:noFill/>
          <a:ln/>
        </p:spPr>
        <p:txBody>
          <a:bodyPr wrap="square" lIns="0" tIns="0" rIns="0" bIns="0" rtlCol="0" anchor="ctr"/>
          <a:lstStyle/>
          <a:p>
            <a:pPr indent="0" marL="0">
              <a:buNone/>
            </a:pPr>
            <a:r>
              <a:rPr lang="en-US" sz="850" dirty="0">
                <a:solidFill>
                  <a:srgbClr val="5C6A85"/>
                </a:solidFill>
                <a:latin typeface="Helvetica Neue" pitchFamily="34" charset="0"/>
                <a:ea typeface="Helvetica Neue" pitchFamily="34" charset="-122"/>
                <a:cs typeface="Helvetica Neue" pitchFamily="34" charset="-120"/>
              </a:rPr>
              <a:t>ReasonGuard  ·  Runtime Verification of AI Reasoning Faithfulness  ·  R. Bilalov  ·  SRH University Hamburg / FIT VUT Brno</a:t>
            </a:r>
            <a:endParaRPr lang="en-US" sz="850" dirty="0"/>
          </a:p>
        </p:txBody>
      </p:sp>
      <p:sp>
        <p:nvSpPr>
          <p:cNvPr id="6" name="Text 4"/>
          <p:cNvSpPr txBox="1"/>
          <p:nvPr/>
        </p:nvSpPr>
        <p:spPr>
          <a:xfrm>
            <a:off x="548640" y="6272784"/>
            <a:ext cx="9997135" cy="201168"/>
          </a:xfrm>
          <a:prstGeom prst="rect">
            <a:avLst/>
          </a:prstGeom>
          <a:noFill/>
          <a:ln/>
        </p:spPr>
        <p:txBody>
          <a:bodyPr wrap="square" lIns="0" tIns="0" rIns="0" bIns="0" rtlCol="0" anchor="ctr"/>
          <a:lstStyle/>
          <a:p>
            <a:pPr indent="0" marL="0">
              <a:buNone/>
            </a:pPr>
            <a:r>
              <a:rPr lang="en-US" sz="850" i="1" dirty="0">
                <a:solidFill>
                  <a:srgbClr val="5C6A85"/>
                </a:solidFill>
                <a:latin typeface="Helvetica Neue" pitchFamily="34" charset="0"/>
                <a:ea typeface="Helvetica Neue" pitchFamily="34" charset="-122"/>
                <a:cs typeface="Helvetica Neue" pitchFamily="34" charset="-120"/>
              </a:rPr>
              <a:t>Taxonomy grounded in faithfulness research (Maynez et al., 2020) and runtime-verification theory (Leucker &amp; Schallhart, 2009).</a:t>
            </a:r>
            <a:endParaRPr lang="en-US" sz="850" dirty="0"/>
          </a:p>
        </p:txBody>
      </p:sp>
      <p:sp>
        <p:nvSpPr>
          <p:cNvPr id="7" name="Text 5"/>
          <p:cNvSpPr txBox="1"/>
          <p:nvPr/>
        </p:nvSpPr>
        <p:spPr>
          <a:xfrm>
            <a:off x="10545775" y="6473952"/>
            <a:ext cx="1097280" cy="219456"/>
          </a:xfrm>
          <a:prstGeom prst="rect">
            <a:avLst/>
          </a:prstGeom>
          <a:noFill/>
          <a:ln/>
        </p:spPr>
        <p:txBody>
          <a:bodyPr wrap="square" lIns="0" tIns="0" rIns="0" bIns="0" rtlCol="0" anchor="ctr"/>
          <a:lstStyle/>
          <a:p>
            <a:pPr algn="r" indent="0" marL="0">
              <a:buNone/>
            </a:pPr>
            <a:r>
              <a:rPr lang="en-US" sz="900" dirty="0">
                <a:solidFill>
                  <a:srgbClr val="5C6A85"/>
                </a:solidFill>
                <a:latin typeface="Consolas" pitchFamily="34" charset="0"/>
                <a:ea typeface="Consolas" pitchFamily="34" charset="-122"/>
                <a:cs typeface="Consolas" pitchFamily="34" charset="-120"/>
              </a:rPr>
              <a:t>7 / 18</a:t>
            </a:r>
            <a:endParaRPr lang="en-US" sz="900" dirty="0"/>
          </a:p>
        </p:txBody>
      </p:sp>
      <p:sp>
        <p:nvSpPr>
          <p:cNvPr id="8" name="Shape 6"/>
          <p:cNvSpPr/>
          <p:nvPr/>
        </p:nvSpPr>
        <p:spPr>
          <a:xfrm>
            <a:off x="548640" y="1975104"/>
            <a:ext cx="6598128" cy="0"/>
          </a:xfrm>
          <a:prstGeom prst="line">
            <a:avLst/>
          </a:prstGeom>
          <a:noFill/>
          <a:ln w="12700">
            <a:solidFill>
              <a:srgbClr val="F0605E"/>
            </a:solidFill>
            <a:prstDash val="solid"/>
          </a:ln>
        </p:spPr>
      </p:sp>
      <p:sp>
        <p:nvSpPr>
          <p:cNvPr id="9" name="Text 7"/>
          <p:cNvSpPr txBox="1"/>
          <p:nvPr/>
        </p:nvSpPr>
        <p:spPr>
          <a:xfrm>
            <a:off x="548640" y="1755648"/>
            <a:ext cx="6598128" cy="201168"/>
          </a:xfrm>
          <a:prstGeom prst="rect">
            <a:avLst/>
          </a:prstGeom>
          <a:noFill/>
          <a:ln/>
        </p:spPr>
        <p:txBody>
          <a:bodyPr wrap="square" lIns="0" tIns="0" rIns="0" bIns="0" rtlCol="0" anchor="t"/>
          <a:lstStyle/>
          <a:p>
            <a:pPr algn="ctr" indent="0" marL="0">
              <a:buNone/>
            </a:pPr>
            <a:r>
              <a:rPr lang="en-US" sz="850" spc="100" kern="0" dirty="0">
                <a:solidFill>
                  <a:srgbClr val="F0605E"/>
                </a:solidFill>
                <a:latin typeface="Consolas" pitchFamily="34" charset="0"/>
                <a:ea typeface="Consolas" pitchFamily="34" charset="-122"/>
                <a:cs typeface="Consolas" pitchFamily="34" charset="-120"/>
              </a:rPr>
              <a:t>SAYS TOO MUCH</a:t>
            </a:r>
            <a:endParaRPr lang="en-US" sz="850" dirty="0"/>
          </a:p>
        </p:txBody>
      </p:sp>
      <p:sp>
        <p:nvSpPr>
          <p:cNvPr id="10" name="Shape 8"/>
          <p:cNvSpPr/>
          <p:nvPr/>
        </p:nvSpPr>
        <p:spPr>
          <a:xfrm>
            <a:off x="7293072" y="1975104"/>
            <a:ext cx="2101840" cy="0"/>
          </a:xfrm>
          <a:prstGeom prst="line">
            <a:avLst/>
          </a:prstGeom>
          <a:noFill/>
          <a:ln w="12700">
            <a:solidFill>
              <a:srgbClr val="F5A524"/>
            </a:solidFill>
            <a:prstDash val="solid"/>
          </a:ln>
        </p:spPr>
      </p:sp>
      <p:sp>
        <p:nvSpPr>
          <p:cNvPr id="11" name="Text 9"/>
          <p:cNvSpPr txBox="1"/>
          <p:nvPr/>
        </p:nvSpPr>
        <p:spPr>
          <a:xfrm>
            <a:off x="7293072" y="1755648"/>
            <a:ext cx="2101840" cy="201168"/>
          </a:xfrm>
          <a:prstGeom prst="rect">
            <a:avLst/>
          </a:prstGeom>
          <a:noFill/>
          <a:ln/>
        </p:spPr>
        <p:txBody>
          <a:bodyPr wrap="square" lIns="0" tIns="0" rIns="0" bIns="0" rtlCol="0" anchor="t"/>
          <a:lstStyle/>
          <a:p>
            <a:pPr algn="ctr" indent="0" marL="0">
              <a:buNone/>
            </a:pPr>
            <a:r>
              <a:rPr lang="en-US" sz="850" spc="100" kern="0" dirty="0">
                <a:solidFill>
                  <a:srgbClr val="F5A524"/>
                </a:solidFill>
                <a:latin typeface="Consolas" pitchFamily="34" charset="0"/>
                <a:ea typeface="Consolas" pitchFamily="34" charset="-122"/>
                <a:cs typeface="Consolas" pitchFamily="34" charset="-120"/>
              </a:rPr>
              <a:t>SAYS TOO LITTLE</a:t>
            </a:r>
            <a:endParaRPr lang="en-US" sz="850" dirty="0"/>
          </a:p>
        </p:txBody>
      </p:sp>
      <p:sp>
        <p:nvSpPr>
          <p:cNvPr id="12" name="Shape 10"/>
          <p:cNvSpPr/>
          <p:nvPr/>
        </p:nvSpPr>
        <p:spPr>
          <a:xfrm>
            <a:off x="9541215" y="1975104"/>
            <a:ext cx="2101840" cy="0"/>
          </a:xfrm>
          <a:prstGeom prst="line">
            <a:avLst/>
          </a:prstGeom>
          <a:noFill/>
          <a:ln w="12700">
            <a:solidFill>
              <a:srgbClr val="F0605E"/>
            </a:solidFill>
            <a:prstDash val="solid"/>
          </a:ln>
        </p:spPr>
      </p:sp>
      <p:sp>
        <p:nvSpPr>
          <p:cNvPr id="13" name="Text 11"/>
          <p:cNvSpPr txBox="1"/>
          <p:nvPr/>
        </p:nvSpPr>
        <p:spPr>
          <a:xfrm>
            <a:off x="9541215" y="1755648"/>
            <a:ext cx="2101840" cy="201168"/>
          </a:xfrm>
          <a:prstGeom prst="rect">
            <a:avLst/>
          </a:prstGeom>
          <a:noFill/>
          <a:ln/>
        </p:spPr>
        <p:txBody>
          <a:bodyPr wrap="square" lIns="0" tIns="0" rIns="0" bIns="0" rtlCol="0" anchor="t"/>
          <a:lstStyle/>
          <a:p>
            <a:pPr algn="ctr" indent="0" marL="0">
              <a:buNone/>
            </a:pPr>
            <a:r>
              <a:rPr lang="en-US" sz="850" spc="100" kern="0" dirty="0">
                <a:solidFill>
                  <a:srgbClr val="F0605E"/>
                </a:solidFill>
                <a:latin typeface="Consolas" pitchFamily="34" charset="0"/>
                <a:ea typeface="Consolas" pitchFamily="34" charset="-122"/>
                <a:cs typeface="Consolas" pitchFamily="34" charset="-120"/>
              </a:rPr>
              <a:t>INTERNALLY INCONSISTENT</a:t>
            </a:r>
            <a:endParaRPr lang="en-US" sz="850" dirty="0"/>
          </a:p>
        </p:txBody>
      </p:sp>
      <p:sp>
        <p:nvSpPr>
          <p:cNvPr id="14" name="Shape 12"/>
          <p:cNvSpPr/>
          <p:nvPr/>
        </p:nvSpPr>
        <p:spPr>
          <a:xfrm>
            <a:off x="548640" y="2121408"/>
            <a:ext cx="2101840" cy="3246120"/>
          </a:xfrm>
          <a:prstGeom prst="roundRect">
            <a:avLst>
              <a:gd name="adj" fmla="val 3480"/>
            </a:avLst>
          </a:prstGeom>
          <a:solidFill>
            <a:srgbClr val="121B2E"/>
          </a:solidFill>
          <a:ln w="9525">
            <a:solidFill>
              <a:srgbClr val="2A3752"/>
            </a:solidFill>
            <a:prstDash val="solid"/>
          </a:ln>
        </p:spPr>
      </p:sp>
      <p:sp>
        <p:nvSpPr>
          <p:cNvPr id="15" name="Text 13"/>
          <p:cNvSpPr txBox="1"/>
          <p:nvPr/>
        </p:nvSpPr>
        <p:spPr>
          <a:xfrm>
            <a:off x="731520" y="2267712"/>
            <a:ext cx="914400" cy="457200"/>
          </a:xfrm>
          <a:prstGeom prst="rect">
            <a:avLst/>
          </a:prstGeom>
          <a:noFill/>
          <a:ln/>
        </p:spPr>
        <p:txBody>
          <a:bodyPr wrap="square" lIns="0" tIns="0" rIns="0" bIns="0" rtlCol="0" anchor="t"/>
          <a:lstStyle/>
          <a:p>
            <a:pPr algn="l" indent="0" marL="0">
              <a:buNone/>
            </a:pPr>
            <a:r>
              <a:rPr lang="en-US" sz="2400" b="1" dirty="0">
                <a:solidFill>
                  <a:srgbClr val="F0605E"/>
                </a:solidFill>
                <a:latin typeface="Consolas" pitchFamily="34" charset="0"/>
                <a:ea typeface="Consolas" pitchFamily="34" charset="-122"/>
                <a:cs typeface="Consolas" pitchFamily="34" charset="-120"/>
              </a:rPr>
              <a:t>V1</a:t>
            </a:r>
            <a:endParaRPr lang="en-US" sz="2400" dirty="0"/>
          </a:p>
        </p:txBody>
      </p:sp>
      <p:sp>
        <p:nvSpPr>
          <p:cNvPr id="16" name="Shape 14"/>
          <p:cNvSpPr/>
          <p:nvPr/>
        </p:nvSpPr>
        <p:spPr>
          <a:xfrm>
            <a:off x="1781800" y="2340864"/>
            <a:ext cx="685800" cy="237744"/>
          </a:xfrm>
          <a:prstGeom prst="roundRect">
            <a:avLst>
              <a:gd name="adj" fmla="val 57692"/>
            </a:avLst>
          </a:prstGeom>
          <a:solidFill>
            <a:srgbClr val="4A1F1F"/>
          </a:solidFill>
          <a:ln w="7620">
            <a:solidFill>
              <a:srgbClr val="F0605E"/>
            </a:solidFill>
            <a:prstDash val="solid"/>
          </a:ln>
        </p:spPr>
      </p:sp>
      <p:sp>
        <p:nvSpPr>
          <p:cNvPr id="17" name="Text 15"/>
          <p:cNvSpPr txBox="1"/>
          <p:nvPr/>
        </p:nvSpPr>
        <p:spPr>
          <a:xfrm>
            <a:off x="1781800" y="2340864"/>
            <a:ext cx="685800" cy="237744"/>
          </a:xfrm>
          <a:prstGeom prst="rect">
            <a:avLst/>
          </a:prstGeom>
          <a:noFill/>
          <a:ln/>
        </p:spPr>
        <p:txBody>
          <a:bodyPr wrap="square" lIns="0" tIns="0" rIns="0" bIns="0" rtlCol="0" anchor="ctr"/>
          <a:lstStyle/>
          <a:p>
            <a:pPr algn="ctr" indent="0" marL="0">
              <a:buNone/>
            </a:pPr>
            <a:r>
              <a:rPr lang="en-US" sz="800" b="1" dirty="0">
                <a:solidFill>
                  <a:srgbClr val="F0605E"/>
                </a:solidFill>
                <a:latin typeface="Consolas" pitchFamily="34" charset="0"/>
                <a:ea typeface="Consolas" pitchFamily="34" charset="-122"/>
                <a:cs typeface="Consolas" pitchFamily="34" charset="-120"/>
              </a:rPr>
              <a:t>HIGH</a:t>
            </a:r>
            <a:endParaRPr lang="en-US" sz="800" dirty="0"/>
          </a:p>
        </p:txBody>
      </p:sp>
      <p:sp>
        <p:nvSpPr>
          <p:cNvPr id="18" name="Text 16"/>
          <p:cNvSpPr txBox="1"/>
          <p:nvPr/>
        </p:nvSpPr>
        <p:spPr>
          <a:xfrm>
            <a:off x="731520" y="2761488"/>
            <a:ext cx="1736080" cy="329184"/>
          </a:xfrm>
          <a:prstGeom prst="rect">
            <a:avLst/>
          </a:prstGeom>
          <a:noFill/>
          <a:ln/>
        </p:spPr>
        <p:txBody>
          <a:bodyPr wrap="square" lIns="0" tIns="0" rIns="0" bIns="0" rtlCol="0" anchor="t"/>
          <a:lstStyle/>
          <a:p>
            <a:pPr algn="l" indent="0" marL="0">
              <a:buNone/>
            </a:pPr>
            <a:r>
              <a:rPr lang="en-US" sz="1400" b="1" dirty="0">
                <a:solidFill>
                  <a:srgbClr val="E9EEF6"/>
                </a:solidFill>
                <a:latin typeface="Helvetica Neue" pitchFamily="34" charset="0"/>
                <a:ea typeface="Helvetica Neue" pitchFamily="34" charset="-122"/>
                <a:cs typeface="Helvetica Neue" pitchFamily="34" charset="-120"/>
              </a:rPr>
              <a:t>Fabricated</a:t>
            </a:r>
            <a:endParaRPr lang="en-US" sz="1400" dirty="0"/>
          </a:p>
        </p:txBody>
      </p:sp>
      <p:sp>
        <p:nvSpPr>
          <p:cNvPr id="19" name="Text 17"/>
          <p:cNvSpPr txBox="1"/>
          <p:nvPr/>
        </p:nvSpPr>
        <p:spPr>
          <a:xfrm>
            <a:off x="731520" y="3108960"/>
            <a:ext cx="1736080" cy="713232"/>
          </a:xfrm>
          <a:prstGeom prst="rect">
            <a:avLst/>
          </a:prstGeom>
          <a:noFill/>
          <a:ln/>
        </p:spPr>
        <p:txBody>
          <a:bodyPr wrap="square" lIns="0" tIns="0" rIns="0" bIns="0" rtlCol="0" anchor="t"/>
          <a:lstStyle/>
          <a:p>
            <a:pPr algn="l" indent="0" marL="0">
              <a:lnSpc>
                <a:spcPct val="106000"/>
              </a:lnSpc>
              <a:buNone/>
            </a:pPr>
            <a:r>
              <a:rPr lang="en-US" sz="1000" dirty="0">
                <a:solidFill>
                  <a:srgbClr val="C7D0DE"/>
                </a:solidFill>
                <a:latin typeface="Helvetica Neue" pitchFamily="34" charset="0"/>
                <a:ea typeface="Helvetica Neue" pitchFamily="34" charset="-122"/>
                <a:cs typeface="Helvetica Neue" pitchFamily="34" charset="-120"/>
              </a:rPr>
              <a:t>Asserts facts, causes or entities the bound does not support.</a:t>
            </a:r>
            <a:endParaRPr lang="en-US" sz="1000" dirty="0"/>
          </a:p>
        </p:txBody>
      </p:sp>
      <p:sp>
        <p:nvSpPr>
          <p:cNvPr id="20" name="Shape 18"/>
          <p:cNvSpPr/>
          <p:nvPr/>
        </p:nvSpPr>
        <p:spPr>
          <a:xfrm>
            <a:off x="731520" y="3858768"/>
            <a:ext cx="1736080" cy="566928"/>
          </a:xfrm>
          <a:prstGeom prst="rect">
            <a:avLst/>
          </a:prstGeom>
          <a:solidFill>
            <a:srgbClr val="18233A"/>
          </a:solidFill>
          <a:ln/>
        </p:spPr>
      </p:sp>
      <p:sp>
        <p:nvSpPr>
          <p:cNvPr id="21" name="Text 19"/>
          <p:cNvSpPr txBox="1"/>
          <p:nvPr/>
        </p:nvSpPr>
        <p:spPr>
          <a:xfrm>
            <a:off x="822960" y="3895344"/>
            <a:ext cx="1553200" cy="512064"/>
          </a:xfrm>
          <a:prstGeom prst="rect">
            <a:avLst/>
          </a:prstGeom>
          <a:noFill/>
          <a:ln/>
        </p:spPr>
        <p:txBody>
          <a:bodyPr wrap="square" lIns="0" tIns="0" rIns="0" bIns="0" rtlCol="0" anchor="ctr"/>
          <a:lstStyle/>
          <a:p>
            <a:pPr algn="l" indent="0" marL="0">
              <a:buNone/>
            </a:pPr>
            <a:r>
              <a:rPr lang="en-US" sz="950" i="1" dirty="0">
                <a:solidFill>
                  <a:srgbClr val="E9EEF6"/>
                </a:solidFill>
                <a:latin typeface="Helvetica Neue" pitchFamily="34" charset="0"/>
                <a:ea typeface="Helvetica Neue" pitchFamily="34" charset="-122"/>
                <a:cs typeface="Helvetica Neue" pitchFamily="34" charset="-120"/>
              </a:rPr>
              <a:t>“This looks like a replay attack.”</a:t>
            </a:r>
            <a:endParaRPr lang="en-US" sz="950" dirty="0"/>
          </a:p>
        </p:txBody>
      </p:sp>
      <p:sp>
        <p:nvSpPr>
          <p:cNvPr id="22" name="Text 20"/>
          <p:cNvSpPr txBox="1"/>
          <p:nvPr/>
        </p:nvSpPr>
        <p:spPr>
          <a:xfrm>
            <a:off x="731520" y="4517136"/>
            <a:ext cx="1736080" cy="182880"/>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DETECTED BY</a:t>
            </a:r>
            <a:endParaRPr lang="en-US" sz="750" dirty="0"/>
          </a:p>
        </p:txBody>
      </p:sp>
      <p:sp>
        <p:nvSpPr>
          <p:cNvPr id="23" name="Text 21"/>
          <p:cNvSpPr txBox="1"/>
          <p:nvPr/>
        </p:nvSpPr>
        <p:spPr>
          <a:xfrm>
            <a:off x="731520" y="4700016"/>
            <a:ext cx="1736080" cy="640080"/>
          </a:xfrm>
          <a:prstGeom prst="rect">
            <a:avLst/>
          </a:prstGeom>
          <a:noFill/>
          <a:ln/>
        </p:spPr>
        <p:txBody>
          <a:bodyPr wrap="square" lIns="0" tIns="0" rIns="0" bIns="0" rtlCol="0" anchor="t"/>
          <a:lstStyle/>
          <a:p>
            <a:pPr algn="l" indent="0" marL="0">
              <a:lnSpc>
                <a:spcPct val="103000"/>
              </a:lnSpc>
              <a:buNone/>
            </a:pPr>
            <a:r>
              <a:rPr lang="en-US" sz="880" dirty="0">
                <a:solidFill>
                  <a:srgbClr val="93A0B8"/>
                </a:solidFill>
                <a:latin typeface="Helvetica Neue" pitchFamily="34" charset="0"/>
                <a:ea typeface="Helvetica Neue" pitchFamily="34" charset="-122"/>
                <a:cs typeface="Helvetica Neue" pitchFamily="34" charset="-120"/>
              </a:rPr>
              <a:t>attack / mitigation / causal / numeric term absent from bound and not negated (spaCy dependency filter)</a:t>
            </a:r>
            <a:endParaRPr lang="en-US" sz="880" dirty="0"/>
          </a:p>
        </p:txBody>
      </p:sp>
      <p:sp>
        <p:nvSpPr>
          <p:cNvPr id="24" name="Shape 22"/>
          <p:cNvSpPr/>
          <p:nvPr/>
        </p:nvSpPr>
        <p:spPr>
          <a:xfrm>
            <a:off x="2796784" y="2121408"/>
            <a:ext cx="2101840" cy="3246120"/>
          </a:xfrm>
          <a:prstGeom prst="roundRect">
            <a:avLst>
              <a:gd name="adj" fmla="val 3480"/>
            </a:avLst>
          </a:prstGeom>
          <a:solidFill>
            <a:srgbClr val="121B2E"/>
          </a:solidFill>
          <a:ln w="9525">
            <a:solidFill>
              <a:srgbClr val="2A3752"/>
            </a:solidFill>
            <a:prstDash val="solid"/>
          </a:ln>
        </p:spPr>
      </p:sp>
      <p:sp>
        <p:nvSpPr>
          <p:cNvPr id="25" name="Text 23"/>
          <p:cNvSpPr txBox="1"/>
          <p:nvPr/>
        </p:nvSpPr>
        <p:spPr>
          <a:xfrm>
            <a:off x="2979664" y="2267712"/>
            <a:ext cx="914400" cy="457200"/>
          </a:xfrm>
          <a:prstGeom prst="rect">
            <a:avLst/>
          </a:prstGeom>
          <a:noFill/>
          <a:ln/>
        </p:spPr>
        <p:txBody>
          <a:bodyPr wrap="square" lIns="0" tIns="0" rIns="0" bIns="0" rtlCol="0" anchor="t"/>
          <a:lstStyle/>
          <a:p>
            <a:pPr algn="l" indent="0" marL="0">
              <a:buNone/>
            </a:pPr>
            <a:r>
              <a:rPr lang="en-US" sz="2400" b="1" dirty="0">
                <a:solidFill>
                  <a:srgbClr val="F0605E"/>
                </a:solidFill>
                <a:latin typeface="Consolas" pitchFamily="34" charset="0"/>
                <a:ea typeface="Consolas" pitchFamily="34" charset="-122"/>
                <a:cs typeface="Consolas" pitchFamily="34" charset="-120"/>
              </a:rPr>
              <a:t>V2</a:t>
            </a:r>
            <a:endParaRPr lang="en-US" sz="2400" dirty="0"/>
          </a:p>
        </p:txBody>
      </p:sp>
      <p:sp>
        <p:nvSpPr>
          <p:cNvPr id="26" name="Shape 24"/>
          <p:cNvSpPr/>
          <p:nvPr/>
        </p:nvSpPr>
        <p:spPr>
          <a:xfrm>
            <a:off x="4029944" y="2340864"/>
            <a:ext cx="685800" cy="237744"/>
          </a:xfrm>
          <a:prstGeom prst="roundRect">
            <a:avLst>
              <a:gd name="adj" fmla="val 57692"/>
            </a:avLst>
          </a:prstGeom>
          <a:solidFill>
            <a:srgbClr val="4A1F1F"/>
          </a:solidFill>
          <a:ln w="7620">
            <a:solidFill>
              <a:srgbClr val="F0605E"/>
            </a:solidFill>
            <a:prstDash val="solid"/>
          </a:ln>
        </p:spPr>
      </p:sp>
      <p:sp>
        <p:nvSpPr>
          <p:cNvPr id="27" name="Text 25"/>
          <p:cNvSpPr txBox="1"/>
          <p:nvPr/>
        </p:nvSpPr>
        <p:spPr>
          <a:xfrm>
            <a:off x="4029944" y="2340864"/>
            <a:ext cx="685800" cy="237744"/>
          </a:xfrm>
          <a:prstGeom prst="rect">
            <a:avLst/>
          </a:prstGeom>
          <a:noFill/>
          <a:ln/>
        </p:spPr>
        <p:txBody>
          <a:bodyPr wrap="square" lIns="0" tIns="0" rIns="0" bIns="0" rtlCol="0" anchor="ctr"/>
          <a:lstStyle/>
          <a:p>
            <a:pPr algn="ctr" indent="0" marL="0">
              <a:buNone/>
            </a:pPr>
            <a:r>
              <a:rPr lang="en-US" sz="800" b="1" dirty="0">
                <a:solidFill>
                  <a:srgbClr val="F0605E"/>
                </a:solidFill>
                <a:latin typeface="Consolas" pitchFamily="34" charset="0"/>
                <a:ea typeface="Consolas" pitchFamily="34" charset="-122"/>
                <a:cs typeface="Consolas" pitchFamily="34" charset="-120"/>
              </a:rPr>
              <a:t>HIGH</a:t>
            </a:r>
            <a:endParaRPr lang="en-US" sz="800" dirty="0"/>
          </a:p>
        </p:txBody>
      </p:sp>
      <p:sp>
        <p:nvSpPr>
          <p:cNvPr id="28" name="Text 26"/>
          <p:cNvSpPr txBox="1"/>
          <p:nvPr/>
        </p:nvSpPr>
        <p:spPr>
          <a:xfrm>
            <a:off x="2979664" y="2761488"/>
            <a:ext cx="1736080" cy="329184"/>
          </a:xfrm>
          <a:prstGeom prst="rect">
            <a:avLst/>
          </a:prstGeom>
          <a:noFill/>
          <a:ln/>
        </p:spPr>
        <p:txBody>
          <a:bodyPr wrap="square" lIns="0" tIns="0" rIns="0" bIns="0" rtlCol="0" anchor="t"/>
          <a:lstStyle/>
          <a:p>
            <a:pPr algn="l" indent="0" marL="0">
              <a:buNone/>
            </a:pPr>
            <a:r>
              <a:rPr lang="en-US" sz="1400" b="1" dirty="0">
                <a:solidFill>
                  <a:srgbClr val="E9EEF6"/>
                </a:solidFill>
                <a:latin typeface="Helvetica Neue" pitchFamily="34" charset="0"/>
                <a:ea typeface="Helvetica Neue" pitchFamily="34" charset="-122"/>
                <a:cs typeface="Helvetica Neue" pitchFamily="34" charset="-120"/>
              </a:rPr>
              <a:t>Contradicted</a:t>
            </a:r>
            <a:endParaRPr lang="en-US" sz="1400" dirty="0"/>
          </a:p>
        </p:txBody>
      </p:sp>
      <p:sp>
        <p:nvSpPr>
          <p:cNvPr id="29" name="Text 27"/>
          <p:cNvSpPr txBox="1"/>
          <p:nvPr/>
        </p:nvSpPr>
        <p:spPr>
          <a:xfrm>
            <a:off x="2979664" y="3108960"/>
            <a:ext cx="1736080" cy="713232"/>
          </a:xfrm>
          <a:prstGeom prst="rect">
            <a:avLst/>
          </a:prstGeom>
          <a:noFill/>
          <a:ln/>
        </p:spPr>
        <p:txBody>
          <a:bodyPr wrap="square" lIns="0" tIns="0" rIns="0" bIns="0" rtlCol="0" anchor="t"/>
          <a:lstStyle/>
          <a:p>
            <a:pPr algn="l" indent="0" marL="0">
              <a:lnSpc>
                <a:spcPct val="106000"/>
              </a:lnSpc>
              <a:buNone/>
            </a:pPr>
            <a:r>
              <a:rPr lang="en-US" sz="1000" dirty="0">
                <a:solidFill>
                  <a:srgbClr val="C7D0DE"/>
                </a:solidFill>
                <a:latin typeface="Helvetica Neue" pitchFamily="34" charset="0"/>
                <a:ea typeface="Helvetica Neue" pitchFamily="34" charset="-122"/>
                <a:cs typeface="Helvetica Neue" pitchFamily="34" charset="-120"/>
              </a:rPr>
              <a:t>Asserts the opposite of a fact established by the bound.</a:t>
            </a:r>
            <a:endParaRPr lang="en-US" sz="1000" dirty="0"/>
          </a:p>
        </p:txBody>
      </p:sp>
      <p:sp>
        <p:nvSpPr>
          <p:cNvPr id="30" name="Shape 28"/>
          <p:cNvSpPr/>
          <p:nvPr/>
        </p:nvSpPr>
        <p:spPr>
          <a:xfrm>
            <a:off x="2979664" y="3858768"/>
            <a:ext cx="1736080" cy="566928"/>
          </a:xfrm>
          <a:prstGeom prst="rect">
            <a:avLst/>
          </a:prstGeom>
          <a:solidFill>
            <a:srgbClr val="18233A"/>
          </a:solidFill>
          <a:ln/>
        </p:spPr>
      </p:sp>
      <p:sp>
        <p:nvSpPr>
          <p:cNvPr id="31" name="Text 29"/>
          <p:cNvSpPr txBox="1"/>
          <p:nvPr/>
        </p:nvSpPr>
        <p:spPr>
          <a:xfrm>
            <a:off x="3071104" y="3895344"/>
            <a:ext cx="1553200" cy="512064"/>
          </a:xfrm>
          <a:prstGeom prst="rect">
            <a:avLst/>
          </a:prstGeom>
          <a:noFill/>
          <a:ln/>
        </p:spPr>
        <p:txBody>
          <a:bodyPr wrap="square" lIns="0" tIns="0" rIns="0" bIns="0" rtlCol="0" anchor="ctr"/>
          <a:lstStyle/>
          <a:p>
            <a:pPr algn="l" indent="0" marL="0">
              <a:buNone/>
            </a:pPr>
            <a:r>
              <a:rPr lang="en-US" sz="950" i="1" dirty="0">
                <a:solidFill>
                  <a:srgbClr val="E9EEF6"/>
                </a:solidFill>
                <a:latin typeface="Helvetica Neue" pitchFamily="34" charset="0"/>
                <a:ea typeface="Helvetica Neue" pitchFamily="34" charset="-122"/>
                <a:cs typeface="Helvetica Neue" pitchFamily="34" charset="-120"/>
              </a:rPr>
              <a:t>“Traffic goes from device 2 to device 1.”</a:t>
            </a:r>
            <a:endParaRPr lang="en-US" sz="950" dirty="0"/>
          </a:p>
        </p:txBody>
      </p:sp>
      <p:sp>
        <p:nvSpPr>
          <p:cNvPr id="32" name="Text 30"/>
          <p:cNvSpPr txBox="1"/>
          <p:nvPr/>
        </p:nvSpPr>
        <p:spPr>
          <a:xfrm>
            <a:off x="2979664" y="4517136"/>
            <a:ext cx="1736080" cy="182880"/>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DETECTED BY</a:t>
            </a:r>
            <a:endParaRPr lang="en-US" sz="750" dirty="0"/>
          </a:p>
        </p:txBody>
      </p:sp>
      <p:sp>
        <p:nvSpPr>
          <p:cNvPr id="33" name="Text 31"/>
          <p:cNvSpPr txBox="1"/>
          <p:nvPr/>
        </p:nvSpPr>
        <p:spPr>
          <a:xfrm>
            <a:off x="2979664" y="4700016"/>
            <a:ext cx="1736080" cy="640080"/>
          </a:xfrm>
          <a:prstGeom prst="rect">
            <a:avLst/>
          </a:prstGeom>
          <a:noFill/>
          <a:ln/>
        </p:spPr>
        <p:txBody>
          <a:bodyPr wrap="square" lIns="0" tIns="0" rIns="0" bIns="0" rtlCol="0" anchor="t"/>
          <a:lstStyle/>
          <a:p>
            <a:pPr algn="l" indent="0" marL="0">
              <a:lnSpc>
                <a:spcPct val="103000"/>
              </a:lnSpc>
              <a:buNone/>
            </a:pPr>
            <a:r>
              <a:rPr lang="en-US" sz="880" dirty="0">
                <a:solidFill>
                  <a:srgbClr val="93A0B8"/>
                </a:solidFill>
                <a:latin typeface="Helvetica Neue" pitchFamily="34" charset="0"/>
                <a:ea typeface="Helvetica Neue" pitchFamily="34" charset="-122"/>
                <a:cs typeface="Helvetica Neue" pitchFamily="34" charset="-120"/>
              </a:rPr>
              <a:t>direction inversion · identifier substitution</a:t>
            </a:r>
            <a:endParaRPr lang="en-US" sz="880" dirty="0"/>
          </a:p>
        </p:txBody>
      </p:sp>
      <p:sp>
        <p:nvSpPr>
          <p:cNvPr id="34" name="Shape 32"/>
          <p:cNvSpPr/>
          <p:nvPr/>
        </p:nvSpPr>
        <p:spPr>
          <a:xfrm>
            <a:off x="5044928" y="2121408"/>
            <a:ext cx="2101840" cy="3246120"/>
          </a:xfrm>
          <a:prstGeom prst="roundRect">
            <a:avLst>
              <a:gd name="adj" fmla="val 3480"/>
            </a:avLst>
          </a:prstGeom>
          <a:solidFill>
            <a:srgbClr val="121B2E"/>
          </a:solidFill>
          <a:ln w="9525">
            <a:solidFill>
              <a:srgbClr val="2A3752"/>
            </a:solidFill>
            <a:prstDash val="solid"/>
          </a:ln>
        </p:spPr>
      </p:sp>
      <p:sp>
        <p:nvSpPr>
          <p:cNvPr id="35" name="Text 33"/>
          <p:cNvSpPr txBox="1"/>
          <p:nvPr/>
        </p:nvSpPr>
        <p:spPr>
          <a:xfrm>
            <a:off x="5227808" y="2267712"/>
            <a:ext cx="914400" cy="457200"/>
          </a:xfrm>
          <a:prstGeom prst="rect">
            <a:avLst/>
          </a:prstGeom>
          <a:noFill/>
          <a:ln/>
        </p:spPr>
        <p:txBody>
          <a:bodyPr wrap="square" lIns="0" tIns="0" rIns="0" bIns="0" rtlCol="0" anchor="t"/>
          <a:lstStyle/>
          <a:p>
            <a:pPr algn="l" indent="0" marL="0">
              <a:buNone/>
            </a:pPr>
            <a:r>
              <a:rPr lang="en-US" sz="2400" b="1" dirty="0">
                <a:solidFill>
                  <a:srgbClr val="F5A524"/>
                </a:solidFill>
                <a:latin typeface="Consolas" pitchFamily="34" charset="0"/>
                <a:ea typeface="Consolas" pitchFamily="34" charset="-122"/>
                <a:cs typeface="Consolas" pitchFamily="34" charset="-120"/>
              </a:rPr>
              <a:t>V3</a:t>
            </a:r>
            <a:endParaRPr lang="en-US" sz="2400" dirty="0"/>
          </a:p>
        </p:txBody>
      </p:sp>
      <p:sp>
        <p:nvSpPr>
          <p:cNvPr id="36" name="Shape 34"/>
          <p:cNvSpPr/>
          <p:nvPr/>
        </p:nvSpPr>
        <p:spPr>
          <a:xfrm>
            <a:off x="6278088" y="2340864"/>
            <a:ext cx="685800" cy="237744"/>
          </a:xfrm>
          <a:prstGeom prst="roundRect">
            <a:avLst>
              <a:gd name="adj" fmla="val 57692"/>
            </a:avLst>
          </a:prstGeom>
          <a:solidFill>
            <a:srgbClr val="4A3410"/>
          </a:solidFill>
          <a:ln w="7620">
            <a:solidFill>
              <a:srgbClr val="F5A524"/>
            </a:solidFill>
            <a:prstDash val="solid"/>
          </a:ln>
        </p:spPr>
      </p:sp>
      <p:sp>
        <p:nvSpPr>
          <p:cNvPr id="37" name="Text 35"/>
          <p:cNvSpPr txBox="1"/>
          <p:nvPr/>
        </p:nvSpPr>
        <p:spPr>
          <a:xfrm>
            <a:off x="6278088" y="2340864"/>
            <a:ext cx="685800" cy="237744"/>
          </a:xfrm>
          <a:prstGeom prst="rect">
            <a:avLst/>
          </a:prstGeom>
          <a:noFill/>
          <a:ln/>
        </p:spPr>
        <p:txBody>
          <a:bodyPr wrap="square" lIns="0" tIns="0" rIns="0" bIns="0" rtlCol="0" anchor="ctr"/>
          <a:lstStyle/>
          <a:p>
            <a:pPr algn="ctr" indent="0" marL="0">
              <a:buNone/>
            </a:pPr>
            <a:r>
              <a:rPr lang="en-US" sz="800" b="1" dirty="0">
                <a:solidFill>
                  <a:srgbClr val="F5A524"/>
                </a:solidFill>
                <a:latin typeface="Consolas" pitchFamily="34" charset="0"/>
                <a:ea typeface="Consolas" pitchFamily="34" charset="-122"/>
                <a:cs typeface="Consolas" pitchFamily="34" charset="-120"/>
              </a:rPr>
              <a:t>LOW</a:t>
            </a:r>
            <a:endParaRPr lang="en-US" sz="800" dirty="0"/>
          </a:p>
        </p:txBody>
      </p:sp>
      <p:sp>
        <p:nvSpPr>
          <p:cNvPr id="38" name="Text 36"/>
          <p:cNvSpPr txBox="1"/>
          <p:nvPr/>
        </p:nvSpPr>
        <p:spPr>
          <a:xfrm>
            <a:off x="5227808" y="2761488"/>
            <a:ext cx="1736080" cy="329184"/>
          </a:xfrm>
          <a:prstGeom prst="rect">
            <a:avLst/>
          </a:prstGeom>
          <a:noFill/>
          <a:ln/>
        </p:spPr>
        <p:txBody>
          <a:bodyPr wrap="square" lIns="0" tIns="0" rIns="0" bIns="0" rtlCol="0" anchor="t"/>
          <a:lstStyle/>
          <a:p>
            <a:pPr algn="l" indent="0" marL="0">
              <a:buNone/>
            </a:pPr>
            <a:r>
              <a:rPr lang="en-US" sz="1400" b="1" dirty="0">
                <a:solidFill>
                  <a:srgbClr val="E9EEF6"/>
                </a:solidFill>
                <a:latin typeface="Helvetica Neue" pitchFamily="34" charset="0"/>
                <a:ea typeface="Helvetica Neue" pitchFamily="34" charset="-122"/>
                <a:cs typeface="Helvetica Neue" pitchFamily="34" charset="-120"/>
              </a:rPr>
              <a:t>Over-generalised</a:t>
            </a:r>
            <a:endParaRPr lang="en-US" sz="1400" dirty="0"/>
          </a:p>
        </p:txBody>
      </p:sp>
      <p:sp>
        <p:nvSpPr>
          <p:cNvPr id="39" name="Text 37"/>
          <p:cNvSpPr txBox="1"/>
          <p:nvPr/>
        </p:nvSpPr>
        <p:spPr>
          <a:xfrm>
            <a:off x="5227808" y="3108960"/>
            <a:ext cx="1736080" cy="713232"/>
          </a:xfrm>
          <a:prstGeom prst="rect">
            <a:avLst/>
          </a:prstGeom>
          <a:noFill/>
          <a:ln/>
        </p:spPr>
        <p:txBody>
          <a:bodyPr wrap="square" lIns="0" tIns="0" rIns="0" bIns="0" rtlCol="0" anchor="t"/>
          <a:lstStyle/>
          <a:p>
            <a:pPr algn="l" indent="0" marL="0">
              <a:lnSpc>
                <a:spcPct val="106000"/>
              </a:lnSpc>
              <a:buNone/>
            </a:pPr>
            <a:r>
              <a:rPr lang="en-US" sz="1000" dirty="0">
                <a:solidFill>
                  <a:srgbClr val="C7D0DE"/>
                </a:solidFill>
                <a:latin typeface="Helvetica Neue" pitchFamily="34" charset="0"/>
                <a:ea typeface="Helvetica Neue" pitchFamily="34" charset="-122"/>
                <a:cs typeface="Helvetica Neue" pitchFamily="34" charset="-120"/>
              </a:rPr>
              <a:t>Right category, but loses the formally established specifics.</a:t>
            </a:r>
            <a:endParaRPr lang="en-US" sz="1000" dirty="0"/>
          </a:p>
        </p:txBody>
      </p:sp>
      <p:sp>
        <p:nvSpPr>
          <p:cNvPr id="40" name="Shape 38"/>
          <p:cNvSpPr/>
          <p:nvPr/>
        </p:nvSpPr>
        <p:spPr>
          <a:xfrm>
            <a:off x="5227808" y="3858768"/>
            <a:ext cx="1736080" cy="566928"/>
          </a:xfrm>
          <a:prstGeom prst="rect">
            <a:avLst/>
          </a:prstGeom>
          <a:solidFill>
            <a:srgbClr val="18233A"/>
          </a:solidFill>
          <a:ln/>
        </p:spPr>
      </p:sp>
      <p:sp>
        <p:nvSpPr>
          <p:cNvPr id="41" name="Text 39"/>
          <p:cNvSpPr txBox="1"/>
          <p:nvPr/>
        </p:nvSpPr>
        <p:spPr>
          <a:xfrm>
            <a:off x="5319248" y="3895344"/>
            <a:ext cx="1553200" cy="512064"/>
          </a:xfrm>
          <a:prstGeom prst="rect">
            <a:avLst/>
          </a:prstGeom>
          <a:noFill/>
          <a:ln/>
        </p:spPr>
        <p:txBody>
          <a:bodyPr wrap="square" lIns="0" tIns="0" rIns="0" bIns="0" rtlCol="0" anchor="ctr"/>
          <a:lstStyle/>
          <a:p>
            <a:pPr algn="l" indent="0" marL="0">
              <a:buNone/>
            </a:pPr>
            <a:r>
              <a:rPr lang="en-US" sz="950" i="1" dirty="0">
                <a:solidFill>
                  <a:srgbClr val="E9EEF6"/>
                </a:solidFill>
                <a:latin typeface="Helvetica Neue" pitchFamily="34" charset="0"/>
                <a:ea typeface="Helvetica Neue" pitchFamily="34" charset="-122"/>
                <a:cs typeface="Helvetica Neue" pitchFamily="34" charset="-120"/>
              </a:rPr>
              <a:t>“Routine IEC-104 traffic, no specific concern.”</a:t>
            </a:r>
            <a:endParaRPr lang="en-US" sz="950" dirty="0"/>
          </a:p>
        </p:txBody>
      </p:sp>
      <p:sp>
        <p:nvSpPr>
          <p:cNvPr id="42" name="Text 40"/>
          <p:cNvSpPr txBox="1"/>
          <p:nvPr/>
        </p:nvSpPr>
        <p:spPr>
          <a:xfrm>
            <a:off x="5227808" y="4517136"/>
            <a:ext cx="1736080" cy="182880"/>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DETECTED BY</a:t>
            </a:r>
            <a:endParaRPr lang="en-US" sz="750" dirty="0"/>
          </a:p>
        </p:txBody>
      </p:sp>
      <p:sp>
        <p:nvSpPr>
          <p:cNvPr id="43" name="Text 41"/>
          <p:cNvSpPr txBox="1"/>
          <p:nvPr/>
        </p:nvSpPr>
        <p:spPr>
          <a:xfrm>
            <a:off x="5227808" y="4700016"/>
            <a:ext cx="1736080" cy="640080"/>
          </a:xfrm>
          <a:prstGeom prst="rect">
            <a:avLst/>
          </a:prstGeom>
          <a:noFill/>
          <a:ln/>
        </p:spPr>
        <p:txBody>
          <a:bodyPr wrap="square" lIns="0" tIns="0" rIns="0" bIns="0" rtlCol="0" anchor="t"/>
          <a:lstStyle/>
          <a:p>
            <a:pPr algn="l" indent="0" marL="0">
              <a:lnSpc>
                <a:spcPct val="103000"/>
              </a:lnSpc>
              <a:buNone/>
            </a:pPr>
            <a:r>
              <a:rPr lang="en-US" sz="880" dirty="0">
                <a:solidFill>
                  <a:srgbClr val="93A0B8"/>
                </a:solidFill>
                <a:latin typeface="Helvetica Neue" pitchFamily="34" charset="0"/>
                <a:ea typeface="Helvetica Neue" pitchFamily="34" charset="-122"/>
                <a:cs typeface="Helvetica Neue" pitchFamily="34" charset="-120"/>
              </a:rPr>
              <a:t>normality term + fewer than 3 of the observed specific values</a:t>
            </a:r>
            <a:endParaRPr lang="en-US" sz="880" dirty="0"/>
          </a:p>
        </p:txBody>
      </p:sp>
      <p:sp>
        <p:nvSpPr>
          <p:cNvPr id="44" name="Shape 42"/>
          <p:cNvSpPr/>
          <p:nvPr/>
        </p:nvSpPr>
        <p:spPr>
          <a:xfrm>
            <a:off x="7293072" y="2121408"/>
            <a:ext cx="2101840" cy="3246120"/>
          </a:xfrm>
          <a:prstGeom prst="roundRect">
            <a:avLst>
              <a:gd name="adj" fmla="val 3480"/>
            </a:avLst>
          </a:prstGeom>
          <a:solidFill>
            <a:srgbClr val="121B2E"/>
          </a:solidFill>
          <a:ln w="9525">
            <a:solidFill>
              <a:srgbClr val="2A3752"/>
            </a:solidFill>
            <a:prstDash val="solid"/>
          </a:ln>
        </p:spPr>
      </p:sp>
      <p:sp>
        <p:nvSpPr>
          <p:cNvPr id="45" name="Text 43"/>
          <p:cNvSpPr txBox="1"/>
          <p:nvPr/>
        </p:nvSpPr>
        <p:spPr>
          <a:xfrm>
            <a:off x="7475952" y="2267712"/>
            <a:ext cx="914400" cy="457200"/>
          </a:xfrm>
          <a:prstGeom prst="rect">
            <a:avLst/>
          </a:prstGeom>
          <a:noFill/>
          <a:ln/>
        </p:spPr>
        <p:txBody>
          <a:bodyPr wrap="square" lIns="0" tIns="0" rIns="0" bIns="0" rtlCol="0" anchor="t"/>
          <a:lstStyle/>
          <a:p>
            <a:pPr algn="l" indent="0" marL="0">
              <a:buNone/>
            </a:pPr>
            <a:r>
              <a:rPr lang="en-US" sz="2400" b="1" dirty="0">
                <a:solidFill>
                  <a:srgbClr val="F5A524"/>
                </a:solidFill>
                <a:latin typeface="Consolas" pitchFamily="34" charset="0"/>
                <a:ea typeface="Consolas" pitchFamily="34" charset="-122"/>
                <a:cs typeface="Consolas" pitchFamily="34" charset="-120"/>
              </a:rPr>
              <a:t>V4</a:t>
            </a:r>
            <a:endParaRPr lang="en-US" sz="2400" dirty="0"/>
          </a:p>
        </p:txBody>
      </p:sp>
      <p:sp>
        <p:nvSpPr>
          <p:cNvPr id="46" name="Shape 44"/>
          <p:cNvSpPr/>
          <p:nvPr/>
        </p:nvSpPr>
        <p:spPr>
          <a:xfrm>
            <a:off x="8526231" y="2340864"/>
            <a:ext cx="685800" cy="237744"/>
          </a:xfrm>
          <a:prstGeom prst="roundRect">
            <a:avLst>
              <a:gd name="adj" fmla="val 57692"/>
            </a:avLst>
          </a:prstGeom>
          <a:solidFill>
            <a:srgbClr val="4A3410"/>
          </a:solidFill>
          <a:ln w="7620">
            <a:solidFill>
              <a:srgbClr val="F5A524"/>
            </a:solidFill>
            <a:prstDash val="solid"/>
          </a:ln>
        </p:spPr>
      </p:sp>
      <p:sp>
        <p:nvSpPr>
          <p:cNvPr id="47" name="Text 45"/>
          <p:cNvSpPr txBox="1"/>
          <p:nvPr/>
        </p:nvSpPr>
        <p:spPr>
          <a:xfrm>
            <a:off x="8526231" y="2340864"/>
            <a:ext cx="685800" cy="237744"/>
          </a:xfrm>
          <a:prstGeom prst="rect">
            <a:avLst/>
          </a:prstGeom>
          <a:noFill/>
          <a:ln/>
        </p:spPr>
        <p:txBody>
          <a:bodyPr wrap="square" lIns="0" tIns="0" rIns="0" bIns="0" rtlCol="0" anchor="ctr"/>
          <a:lstStyle/>
          <a:p>
            <a:pPr algn="ctr" indent="0" marL="0">
              <a:buNone/>
            </a:pPr>
            <a:r>
              <a:rPr lang="en-US" sz="800" b="1" dirty="0">
                <a:solidFill>
                  <a:srgbClr val="F5A524"/>
                </a:solidFill>
                <a:latin typeface="Consolas" pitchFamily="34" charset="0"/>
                <a:ea typeface="Consolas" pitchFamily="34" charset="-122"/>
                <a:cs typeface="Consolas" pitchFamily="34" charset="-120"/>
              </a:rPr>
              <a:t>LOW</a:t>
            </a:r>
            <a:endParaRPr lang="en-US" sz="800" dirty="0"/>
          </a:p>
        </p:txBody>
      </p:sp>
      <p:sp>
        <p:nvSpPr>
          <p:cNvPr id="48" name="Text 46"/>
          <p:cNvSpPr txBox="1"/>
          <p:nvPr/>
        </p:nvSpPr>
        <p:spPr>
          <a:xfrm>
            <a:off x="7475952" y="2761488"/>
            <a:ext cx="1736080" cy="329184"/>
          </a:xfrm>
          <a:prstGeom prst="rect">
            <a:avLst/>
          </a:prstGeom>
          <a:noFill/>
          <a:ln/>
        </p:spPr>
        <p:txBody>
          <a:bodyPr wrap="square" lIns="0" tIns="0" rIns="0" bIns="0" rtlCol="0" anchor="t"/>
          <a:lstStyle/>
          <a:p>
            <a:pPr algn="l" indent="0" marL="0">
              <a:buNone/>
            </a:pPr>
            <a:r>
              <a:rPr lang="en-US" sz="1400" b="1" dirty="0">
                <a:solidFill>
                  <a:srgbClr val="E9EEF6"/>
                </a:solidFill>
                <a:latin typeface="Helvetica Neue" pitchFamily="34" charset="0"/>
                <a:ea typeface="Helvetica Neue" pitchFamily="34" charset="-122"/>
                <a:cs typeface="Helvetica Neue" pitchFamily="34" charset="-120"/>
              </a:rPr>
              <a:t>Under-specified</a:t>
            </a:r>
            <a:endParaRPr lang="en-US" sz="1400" dirty="0"/>
          </a:p>
        </p:txBody>
      </p:sp>
      <p:sp>
        <p:nvSpPr>
          <p:cNvPr id="49" name="Text 47"/>
          <p:cNvSpPr txBox="1"/>
          <p:nvPr/>
        </p:nvSpPr>
        <p:spPr>
          <a:xfrm>
            <a:off x="7475952" y="3108960"/>
            <a:ext cx="1736080" cy="713232"/>
          </a:xfrm>
          <a:prstGeom prst="rect">
            <a:avLst/>
          </a:prstGeom>
          <a:noFill/>
          <a:ln/>
        </p:spPr>
        <p:txBody>
          <a:bodyPr wrap="square" lIns="0" tIns="0" rIns="0" bIns="0" rtlCol="0" anchor="t"/>
          <a:lstStyle/>
          <a:p>
            <a:pPr algn="l" indent="0" marL="0">
              <a:lnSpc>
                <a:spcPct val="106000"/>
              </a:lnSpc>
              <a:buNone/>
            </a:pPr>
            <a:r>
              <a:rPr lang="en-US" sz="1000" dirty="0">
                <a:solidFill>
                  <a:srgbClr val="C7D0DE"/>
                </a:solidFill>
                <a:latin typeface="Helvetica Neue" pitchFamily="34" charset="0"/>
                <a:ea typeface="Helvetica Neue" pitchFamily="34" charset="-122"/>
                <a:cs typeface="Helvetica Neue" pitchFamily="34" charset="-120"/>
              </a:rPr>
              <a:t>Omits claims the bound requires. Default class — fail-closed.</a:t>
            </a:r>
            <a:endParaRPr lang="en-US" sz="1000" dirty="0"/>
          </a:p>
        </p:txBody>
      </p:sp>
      <p:sp>
        <p:nvSpPr>
          <p:cNvPr id="50" name="Shape 48"/>
          <p:cNvSpPr/>
          <p:nvPr/>
        </p:nvSpPr>
        <p:spPr>
          <a:xfrm>
            <a:off x="7475952" y="3858768"/>
            <a:ext cx="1736080" cy="566928"/>
          </a:xfrm>
          <a:prstGeom prst="rect">
            <a:avLst/>
          </a:prstGeom>
          <a:solidFill>
            <a:srgbClr val="18233A"/>
          </a:solidFill>
          <a:ln/>
        </p:spPr>
      </p:sp>
      <p:sp>
        <p:nvSpPr>
          <p:cNvPr id="51" name="Text 49"/>
          <p:cNvSpPr txBox="1"/>
          <p:nvPr/>
        </p:nvSpPr>
        <p:spPr>
          <a:xfrm>
            <a:off x="7567392" y="3895344"/>
            <a:ext cx="1553200" cy="512064"/>
          </a:xfrm>
          <a:prstGeom prst="rect">
            <a:avLst/>
          </a:prstGeom>
          <a:noFill/>
          <a:ln/>
        </p:spPr>
        <p:txBody>
          <a:bodyPr wrap="square" lIns="0" tIns="0" rIns="0" bIns="0" rtlCol="0" anchor="ctr"/>
          <a:lstStyle/>
          <a:p>
            <a:pPr algn="l" indent="0" marL="0">
              <a:buNone/>
            </a:pPr>
            <a:r>
              <a:rPr lang="en-US" sz="950" i="1" dirty="0">
                <a:solidFill>
                  <a:srgbClr val="E9EEF6"/>
                </a:solidFill>
                <a:latin typeface="Helvetica Neue" pitchFamily="34" charset="0"/>
                <a:ea typeface="Helvetica Neue" pitchFamily="34" charset="-122"/>
                <a:cs typeface="Helvetica Neue" pitchFamily="34" charset="-120"/>
              </a:rPr>
              <a:t>( no port, no ASDU fields, no proxy caveat )</a:t>
            </a:r>
            <a:endParaRPr lang="en-US" sz="950" dirty="0"/>
          </a:p>
        </p:txBody>
      </p:sp>
      <p:sp>
        <p:nvSpPr>
          <p:cNvPr id="52" name="Text 50"/>
          <p:cNvSpPr txBox="1"/>
          <p:nvPr/>
        </p:nvSpPr>
        <p:spPr>
          <a:xfrm>
            <a:off x="7475952" y="4517136"/>
            <a:ext cx="1736080" cy="182880"/>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DETECTED BY</a:t>
            </a:r>
            <a:endParaRPr lang="en-US" sz="750" dirty="0"/>
          </a:p>
        </p:txBody>
      </p:sp>
      <p:sp>
        <p:nvSpPr>
          <p:cNvPr id="53" name="Text 51"/>
          <p:cNvSpPr txBox="1"/>
          <p:nvPr/>
        </p:nvSpPr>
        <p:spPr>
          <a:xfrm>
            <a:off x="7475952" y="4700016"/>
            <a:ext cx="1736080" cy="640080"/>
          </a:xfrm>
          <a:prstGeom prst="rect">
            <a:avLst/>
          </a:prstGeom>
          <a:noFill/>
          <a:ln/>
        </p:spPr>
        <p:txBody>
          <a:bodyPr wrap="square" lIns="0" tIns="0" rIns="0" bIns="0" rtlCol="0" anchor="t"/>
          <a:lstStyle/>
          <a:p>
            <a:pPr algn="l" indent="0" marL="0">
              <a:lnSpc>
                <a:spcPct val="103000"/>
              </a:lnSpc>
              <a:buNone/>
            </a:pPr>
            <a:r>
              <a:rPr lang="en-US" sz="880" dirty="0">
                <a:solidFill>
                  <a:srgbClr val="93A0B8"/>
                </a:solidFill>
                <a:latin typeface="Helvetica Neue" pitchFamily="34" charset="0"/>
                <a:ea typeface="Helvetica Neue" pitchFamily="34" charset="-122"/>
                <a:cs typeface="Helvetica Neue" pitchFamily="34" charset="-120"/>
              </a:rPr>
              <a:t>any of 5 required references missing: source, destination, port, ASDU, uncertainty / proxy caveat</a:t>
            </a:r>
            <a:endParaRPr lang="en-US" sz="880" dirty="0"/>
          </a:p>
        </p:txBody>
      </p:sp>
      <p:sp>
        <p:nvSpPr>
          <p:cNvPr id="54" name="Shape 52"/>
          <p:cNvSpPr/>
          <p:nvPr/>
        </p:nvSpPr>
        <p:spPr>
          <a:xfrm>
            <a:off x="9541215" y="2121408"/>
            <a:ext cx="2101840" cy="3246120"/>
          </a:xfrm>
          <a:prstGeom prst="roundRect">
            <a:avLst>
              <a:gd name="adj" fmla="val 3480"/>
            </a:avLst>
          </a:prstGeom>
          <a:solidFill>
            <a:srgbClr val="121B2E"/>
          </a:solidFill>
          <a:ln w="9525">
            <a:solidFill>
              <a:srgbClr val="2A3752"/>
            </a:solidFill>
            <a:prstDash val="solid"/>
          </a:ln>
        </p:spPr>
      </p:sp>
      <p:sp>
        <p:nvSpPr>
          <p:cNvPr id="55" name="Text 53"/>
          <p:cNvSpPr txBox="1"/>
          <p:nvPr/>
        </p:nvSpPr>
        <p:spPr>
          <a:xfrm>
            <a:off x="9724095" y="2267712"/>
            <a:ext cx="914400" cy="457200"/>
          </a:xfrm>
          <a:prstGeom prst="rect">
            <a:avLst/>
          </a:prstGeom>
          <a:noFill/>
          <a:ln/>
        </p:spPr>
        <p:txBody>
          <a:bodyPr wrap="square" lIns="0" tIns="0" rIns="0" bIns="0" rtlCol="0" anchor="t"/>
          <a:lstStyle/>
          <a:p>
            <a:pPr algn="l" indent="0" marL="0">
              <a:buNone/>
            </a:pPr>
            <a:r>
              <a:rPr lang="en-US" sz="2400" b="1" dirty="0">
                <a:solidFill>
                  <a:srgbClr val="F0605E"/>
                </a:solidFill>
                <a:latin typeface="Consolas" pitchFamily="34" charset="0"/>
                <a:ea typeface="Consolas" pitchFamily="34" charset="-122"/>
                <a:cs typeface="Consolas" pitchFamily="34" charset="-120"/>
              </a:rPr>
              <a:t>V5</a:t>
            </a:r>
            <a:endParaRPr lang="en-US" sz="2400" dirty="0"/>
          </a:p>
        </p:txBody>
      </p:sp>
      <p:sp>
        <p:nvSpPr>
          <p:cNvPr id="56" name="Shape 54"/>
          <p:cNvSpPr/>
          <p:nvPr/>
        </p:nvSpPr>
        <p:spPr>
          <a:xfrm>
            <a:off x="10774375" y="2340864"/>
            <a:ext cx="685800" cy="237744"/>
          </a:xfrm>
          <a:prstGeom prst="roundRect">
            <a:avLst>
              <a:gd name="adj" fmla="val 57692"/>
            </a:avLst>
          </a:prstGeom>
          <a:solidFill>
            <a:srgbClr val="4A1F1F"/>
          </a:solidFill>
          <a:ln w="7620">
            <a:solidFill>
              <a:srgbClr val="F0605E"/>
            </a:solidFill>
            <a:prstDash val="solid"/>
          </a:ln>
        </p:spPr>
      </p:sp>
      <p:sp>
        <p:nvSpPr>
          <p:cNvPr id="57" name="Text 55"/>
          <p:cNvSpPr txBox="1"/>
          <p:nvPr/>
        </p:nvSpPr>
        <p:spPr>
          <a:xfrm>
            <a:off x="10774375" y="2340864"/>
            <a:ext cx="685800" cy="237744"/>
          </a:xfrm>
          <a:prstGeom prst="rect">
            <a:avLst/>
          </a:prstGeom>
          <a:noFill/>
          <a:ln/>
        </p:spPr>
        <p:txBody>
          <a:bodyPr wrap="square" lIns="0" tIns="0" rIns="0" bIns="0" rtlCol="0" anchor="ctr"/>
          <a:lstStyle/>
          <a:p>
            <a:pPr algn="ctr" indent="0" marL="0">
              <a:buNone/>
            </a:pPr>
            <a:r>
              <a:rPr lang="en-US" sz="800" b="1" dirty="0">
                <a:solidFill>
                  <a:srgbClr val="F0605E"/>
                </a:solidFill>
                <a:latin typeface="Consolas" pitchFamily="34" charset="0"/>
                <a:ea typeface="Consolas" pitchFamily="34" charset="-122"/>
                <a:cs typeface="Consolas" pitchFamily="34" charset="-120"/>
              </a:rPr>
              <a:t>HIGH</a:t>
            </a:r>
            <a:endParaRPr lang="en-US" sz="800" dirty="0"/>
          </a:p>
        </p:txBody>
      </p:sp>
      <p:sp>
        <p:nvSpPr>
          <p:cNvPr id="58" name="Text 56"/>
          <p:cNvSpPr txBox="1"/>
          <p:nvPr/>
        </p:nvSpPr>
        <p:spPr>
          <a:xfrm>
            <a:off x="9724095" y="2761488"/>
            <a:ext cx="1736080" cy="329184"/>
          </a:xfrm>
          <a:prstGeom prst="rect">
            <a:avLst/>
          </a:prstGeom>
          <a:noFill/>
          <a:ln/>
        </p:spPr>
        <p:txBody>
          <a:bodyPr wrap="square" lIns="0" tIns="0" rIns="0" bIns="0" rtlCol="0" anchor="t"/>
          <a:lstStyle/>
          <a:p>
            <a:pPr algn="l" indent="0" marL="0">
              <a:buNone/>
            </a:pPr>
            <a:r>
              <a:rPr lang="en-US" sz="1400" b="1" dirty="0">
                <a:solidFill>
                  <a:srgbClr val="E9EEF6"/>
                </a:solidFill>
                <a:latin typeface="Helvetica Neue" pitchFamily="34" charset="0"/>
                <a:ea typeface="Helvetica Neue" pitchFamily="34" charset="-122"/>
                <a:cs typeface="Helvetica Neue" pitchFamily="34" charset="-120"/>
              </a:rPr>
              <a:t>Incoherent</a:t>
            </a:r>
            <a:endParaRPr lang="en-US" sz="1400" dirty="0"/>
          </a:p>
        </p:txBody>
      </p:sp>
      <p:sp>
        <p:nvSpPr>
          <p:cNvPr id="59" name="Text 57"/>
          <p:cNvSpPr txBox="1"/>
          <p:nvPr/>
        </p:nvSpPr>
        <p:spPr>
          <a:xfrm>
            <a:off x="9724095" y="3108960"/>
            <a:ext cx="1736080" cy="713232"/>
          </a:xfrm>
          <a:prstGeom prst="rect">
            <a:avLst/>
          </a:prstGeom>
          <a:noFill/>
          <a:ln/>
        </p:spPr>
        <p:txBody>
          <a:bodyPr wrap="square" lIns="0" tIns="0" rIns="0" bIns="0" rtlCol="0" anchor="t"/>
          <a:lstStyle/>
          <a:p>
            <a:pPr algn="l" indent="0" marL="0">
              <a:lnSpc>
                <a:spcPct val="106000"/>
              </a:lnSpc>
              <a:buNone/>
            </a:pPr>
            <a:r>
              <a:rPr lang="en-US" sz="1000" dirty="0">
                <a:solidFill>
                  <a:srgbClr val="C7D0DE"/>
                </a:solidFill>
                <a:latin typeface="Helvetica Neue" pitchFamily="34" charset="0"/>
                <a:ea typeface="Helvetica Neue" pitchFamily="34" charset="-122"/>
                <a:cs typeface="Helvetica Neue" pitchFamily="34" charset="-120"/>
              </a:rPr>
              <a:t>Self-contradictory within a sentence, independent of the bound.</a:t>
            </a:r>
            <a:endParaRPr lang="en-US" sz="1000" dirty="0"/>
          </a:p>
        </p:txBody>
      </p:sp>
      <p:sp>
        <p:nvSpPr>
          <p:cNvPr id="60" name="Shape 58"/>
          <p:cNvSpPr/>
          <p:nvPr/>
        </p:nvSpPr>
        <p:spPr>
          <a:xfrm>
            <a:off x="9724095" y="3858768"/>
            <a:ext cx="1736080" cy="566928"/>
          </a:xfrm>
          <a:prstGeom prst="rect">
            <a:avLst/>
          </a:prstGeom>
          <a:solidFill>
            <a:srgbClr val="18233A"/>
          </a:solidFill>
          <a:ln/>
        </p:spPr>
      </p:sp>
      <p:sp>
        <p:nvSpPr>
          <p:cNvPr id="61" name="Text 59"/>
          <p:cNvSpPr txBox="1"/>
          <p:nvPr/>
        </p:nvSpPr>
        <p:spPr>
          <a:xfrm>
            <a:off x="9815535" y="3895344"/>
            <a:ext cx="1553200" cy="512064"/>
          </a:xfrm>
          <a:prstGeom prst="rect">
            <a:avLst/>
          </a:prstGeom>
          <a:noFill/>
          <a:ln/>
        </p:spPr>
        <p:txBody>
          <a:bodyPr wrap="square" lIns="0" tIns="0" rIns="0" bIns="0" rtlCol="0" anchor="ctr"/>
          <a:lstStyle/>
          <a:p>
            <a:pPr algn="l" indent="0" marL="0">
              <a:buNone/>
            </a:pPr>
            <a:r>
              <a:rPr lang="en-US" sz="950" i="1" dirty="0">
                <a:solidFill>
                  <a:srgbClr val="E9EEF6"/>
                </a:solidFill>
                <a:latin typeface="Helvetica Neue" pitchFamily="34" charset="0"/>
                <a:ea typeface="Helvetica Neue" pitchFamily="34" charset="-122"/>
                <a:cs typeface="Helvetica Neue" pitchFamily="34" charset="-120"/>
              </a:rPr>
              <a:t>“…both normal and malicious…”</a:t>
            </a:r>
            <a:endParaRPr lang="en-US" sz="950" dirty="0"/>
          </a:p>
        </p:txBody>
      </p:sp>
      <p:sp>
        <p:nvSpPr>
          <p:cNvPr id="62" name="Text 60"/>
          <p:cNvSpPr txBox="1"/>
          <p:nvPr/>
        </p:nvSpPr>
        <p:spPr>
          <a:xfrm>
            <a:off x="9724095" y="4517136"/>
            <a:ext cx="1736080" cy="182880"/>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DETECTED BY</a:t>
            </a:r>
            <a:endParaRPr lang="en-US" sz="750" dirty="0"/>
          </a:p>
        </p:txBody>
      </p:sp>
      <p:sp>
        <p:nvSpPr>
          <p:cNvPr id="63" name="Text 61"/>
          <p:cNvSpPr txBox="1"/>
          <p:nvPr/>
        </p:nvSpPr>
        <p:spPr>
          <a:xfrm>
            <a:off x="9724095" y="4700016"/>
            <a:ext cx="1736080" cy="640080"/>
          </a:xfrm>
          <a:prstGeom prst="rect">
            <a:avLst/>
          </a:prstGeom>
          <a:noFill/>
          <a:ln/>
        </p:spPr>
        <p:txBody>
          <a:bodyPr wrap="square" lIns="0" tIns="0" rIns="0" bIns="0" rtlCol="0" anchor="t"/>
          <a:lstStyle/>
          <a:p>
            <a:pPr algn="l" indent="0" marL="0">
              <a:lnSpc>
                <a:spcPct val="103000"/>
              </a:lnSpc>
              <a:buNone/>
            </a:pPr>
            <a:r>
              <a:rPr lang="en-US" sz="880" dirty="0">
                <a:solidFill>
                  <a:srgbClr val="93A0B8"/>
                </a:solidFill>
                <a:latin typeface="Helvetica Neue" pitchFamily="34" charset="0"/>
                <a:ea typeface="Helvetica Neue" pitchFamily="34" charset="-122"/>
                <a:cs typeface="Helvetica Neue" pitchFamily="34" charset="-120"/>
              </a:rPr>
              <a:t>conflicting pair in one sentence (normal / malicious, client-to-server / server-to-client), negation-aware</a:t>
            </a:r>
            <a:endParaRPr lang="en-US" sz="880" dirty="0"/>
          </a:p>
        </p:txBody>
      </p:sp>
      <p:sp>
        <p:nvSpPr>
          <p:cNvPr id="64" name="Shape 62"/>
          <p:cNvSpPr/>
          <p:nvPr/>
        </p:nvSpPr>
        <p:spPr>
          <a:xfrm>
            <a:off x="548640" y="5513832"/>
            <a:ext cx="11094415" cy="566928"/>
          </a:xfrm>
          <a:prstGeom prst="roundRect">
            <a:avLst>
              <a:gd name="adj" fmla="val 12903"/>
            </a:avLst>
          </a:prstGeom>
          <a:solidFill>
            <a:srgbClr val="18233A"/>
          </a:solidFill>
          <a:ln w="9525">
            <a:solidFill>
              <a:srgbClr val="1E2A42"/>
            </a:solidFill>
            <a:prstDash val="solid"/>
          </a:ln>
        </p:spPr>
      </p:sp>
      <p:sp>
        <p:nvSpPr>
          <p:cNvPr id="65" name="Text 63"/>
          <p:cNvSpPr txBox="1"/>
          <p:nvPr/>
        </p:nvSpPr>
        <p:spPr>
          <a:xfrm>
            <a:off x="749808" y="5696712"/>
            <a:ext cx="1005840" cy="219456"/>
          </a:xfrm>
          <a:prstGeom prst="rect">
            <a:avLst/>
          </a:prstGeom>
          <a:noFill/>
          <a:ln/>
        </p:spPr>
        <p:txBody>
          <a:bodyPr wrap="square" lIns="0" tIns="0" rIns="0" bIns="0" rtlCol="0" anchor="t"/>
          <a:lstStyle/>
          <a:p>
            <a:pPr algn="l" indent="0" marL="0">
              <a:buNone/>
            </a:pPr>
            <a:r>
              <a:rPr lang="en-US" sz="900" spc="100" kern="0" dirty="0">
                <a:solidFill>
                  <a:srgbClr val="C7D0DE"/>
                </a:solidFill>
                <a:latin typeface="Consolas" pitchFamily="34" charset="0"/>
                <a:ea typeface="Consolas" pitchFamily="34" charset="-122"/>
                <a:cs typeface="Consolas" pitchFamily="34" charset="-120"/>
              </a:rPr>
              <a:t>SEVERITY</a:t>
            </a:r>
            <a:endParaRPr lang="en-US" sz="900" dirty="0"/>
          </a:p>
        </p:txBody>
      </p:sp>
      <p:sp>
        <p:nvSpPr>
          <p:cNvPr id="66" name="Text 64"/>
          <p:cNvSpPr txBox="1"/>
          <p:nvPr/>
        </p:nvSpPr>
        <p:spPr>
          <a:xfrm>
            <a:off x="1783080" y="5669280"/>
            <a:ext cx="1600200" cy="274320"/>
          </a:xfrm>
          <a:prstGeom prst="rect">
            <a:avLst/>
          </a:prstGeom>
          <a:noFill/>
          <a:ln/>
        </p:spPr>
        <p:txBody>
          <a:bodyPr wrap="square" lIns="0" tIns="0" rIns="0" bIns="0" rtlCol="0" anchor="t"/>
          <a:lstStyle/>
          <a:p>
            <a:pPr algn="l" indent="0" marL="0">
              <a:buNone/>
            </a:pPr>
            <a:r>
              <a:rPr lang="en-US" sz="1000" dirty="0">
                <a:solidFill>
                  <a:srgbClr val="93A0B8"/>
                </a:solidFill>
                <a:latin typeface="Helvetica Neue" pitchFamily="34" charset="0"/>
                <a:ea typeface="Helvetica Neue" pitchFamily="34" charset="-122"/>
                <a:cs typeface="Helvetica Neue" pitchFamily="34" charset="-120"/>
              </a:rPr>
              <a:t>V1 · V2 · V5 present</a:t>
            </a:r>
            <a:endParaRPr lang="en-US" sz="1000" dirty="0"/>
          </a:p>
        </p:txBody>
      </p:sp>
      <p:sp>
        <p:nvSpPr>
          <p:cNvPr id="67" name="Shape 65"/>
          <p:cNvSpPr/>
          <p:nvPr/>
        </p:nvSpPr>
        <p:spPr>
          <a:xfrm>
            <a:off x="3355848" y="5660136"/>
            <a:ext cx="777240" cy="256032"/>
          </a:xfrm>
          <a:prstGeom prst="roundRect">
            <a:avLst>
              <a:gd name="adj" fmla="val 53571"/>
            </a:avLst>
          </a:prstGeom>
          <a:solidFill>
            <a:srgbClr val="4A1F1F"/>
          </a:solidFill>
          <a:ln w="7620">
            <a:solidFill>
              <a:srgbClr val="F0605E"/>
            </a:solidFill>
            <a:prstDash val="solid"/>
          </a:ln>
        </p:spPr>
      </p:sp>
      <p:sp>
        <p:nvSpPr>
          <p:cNvPr id="68" name="Text 66"/>
          <p:cNvSpPr txBox="1"/>
          <p:nvPr/>
        </p:nvSpPr>
        <p:spPr>
          <a:xfrm>
            <a:off x="3355848" y="5660136"/>
            <a:ext cx="777240" cy="256032"/>
          </a:xfrm>
          <a:prstGeom prst="rect">
            <a:avLst/>
          </a:prstGeom>
          <a:noFill/>
          <a:ln/>
        </p:spPr>
        <p:txBody>
          <a:bodyPr wrap="square" lIns="0" tIns="0" rIns="0" bIns="0" rtlCol="0" anchor="ctr"/>
          <a:lstStyle/>
          <a:p>
            <a:pPr algn="ctr" indent="0" marL="0">
              <a:buNone/>
            </a:pPr>
            <a:r>
              <a:rPr lang="en-US" sz="800" b="1" dirty="0">
                <a:solidFill>
                  <a:srgbClr val="F0605E"/>
                </a:solidFill>
                <a:latin typeface="Consolas" pitchFamily="34" charset="0"/>
                <a:ea typeface="Consolas" pitchFamily="34" charset="-122"/>
                <a:cs typeface="Consolas" pitchFamily="34" charset="-120"/>
              </a:rPr>
              <a:t>HIGH</a:t>
            </a:r>
            <a:endParaRPr lang="en-US" sz="800" dirty="0"/>
          </a:p>
        </p:txBody>
      </p:sp>
      <p:sp>
        <p:nvSpPr>
          <p:cNvPr id="69" name="Text 67"/>
          <p:cNvSpPr txBox="1"/>
          <p:nvPr/>
        </p:nvSpPr>
        <p:spPr>
          <a:xfrm>
            <a:off x="4270248" y="5669280"/>
            <a:ext cx="1600200" cy="274320"/>
          </a:xfrm>
          <a:prstGeom prst="rect">
            <a:avLst/>
          </a:prstGeom>
          <a:noFill/>
          <a:ln/>
        </p:spPr>
        <p:txBody>
          <a:bodyPr wrap="square" lIns="0" tIns="0" rIns="0" bIns="0" rtlCol="0" anchor="t"/>
          <a:lstStyle/>
          <a:p>
            <a:pPr algn="l" indent="0" marL="0">
              <a:buNone/>
            </a:pPr>
            <a:r>
              <a:rPr lang="en-US" sz="1000" dirty="0">
                <a:solidFill>
                  <a:srgbClr val="93A0B8"/>
                </a:solidFill>
                <a:latin typeface="Helvetica Neue" pitchFamily="34" charset="0"/>
                <a:ea typeface="Helvetica Neue" pitchFamily="34" charset="-122"/>
                <a:cs typeface="Helvetica Neue" pitchFamily="34" charset="-120"/>
              </a:rPr>
              <a:t>V3 and V4 together</a:t>
            </a:r>
            <a:endParaRPr lang="en-US" sz="1000" dirty="0"/>
          </a:p>
        </p:txBody>
      </p:sp>
      <p:sp>
        <p:nvSpPr>
          <p:cNvPr id="70" name="Shape 68"/>
          <p:cNvSpPr/>
          <p:nvPr/>
        </p:nvSpPr>
        <p:spPr>
          <a:xfrm>
            <a:off x="5843016" y="5660136"/>
            <a:ext cx="777240" cy="256032"/>
          </a:xfrm>
          <a:prstGeom prst="roundRect">
            <a:avLst>
              <a:gd name="adj" fmla="val 53571"/>
            </a:avLst>
          </a:prstGeom>
          <a:solidFill>
            <a:srgbClr val="4A3410"/>
          </a:solidFill>
          <a:ln w="7620">
            <a:solidFill>
              <a:srgbClr val="F5A524"/>
            </a:solidFill>
            <a:prstDash val="solid"/>
          </a:ln>
        </p:spPr>
      </p:sp>
      <p:sp>
        <p:nvSpPr>
          <p:cNvPr id="71" name="Text 69"/>
          <p:cNvSpPr txBox="1"/>
          <p:nvPr/>
        </p:nvSpPr>
        <p:spPr>
          <a:xfrm>
            <a:off x="5843016" y="5660136"/>
            <a:ext cx="777240" cy="256032"/>
          </a:xfrm>
          <a:prstGeom prst="rect">
            <a:avLst/>
          </a:prstGeom>
          <a:noFill/>
          <a:ln/>
        </p:spPr>
        <p:txBody>
          <a:bodyPr wrap="square" lIns="0" tIns="0" rIns="0" bIns="0" rtlCol="0" anchor="ctr"/>
          <a:lstStyle/>
          <a:p>
            <a:pPr algn="ctr" indent="0" marL="0">
              <a:buNone/>
            </a:pPr>
            <a:r>
              <a:rPr lang="en-US" sz="800" b="1" dirty="0">
                <a:solidFill>
                  <a:srgbClr val="F5A524"/>
                </a:solidFill>
                <a:latin typeface="Consolas" pitchFamily="34" charset="0"/>
                <a:ea typeface="Consolas" pitchFamily="34" charset="-122"/>
                <a:cs typeface="Consolas" pitchFamily="34" charset="-120"/>
              </a:rPr>
              <a:t>MEDIUM</a:t>
            </a:r>
            <a:endParaRPr lang="en-US" sz="800" dirty="0"/>
          </a:p>
        </p:txBody>
      </p:sp>
      <p:sp>
        <p:nvSpPr>
          <p:cNvPr id="72" name="Text 70"/>
          <p:cNvSpPr txBox="1"/>
          <p:nvPr/>
        </p:nvSpPr>
        <p:spPr>
          <a:xfrm>
            <a:off x="6757416" y="5669280"/>
            <a:ext cx="1600200" cy="274320"/>
          </a:xfrm>
          <a:prstGeom prst="rect">
            <a:avLst/>
          </a:prstGeom>
          <a:noFill/>
          <a:ln/>
        </p:spPr>
        <p:txBody>
          <a:bodyPr wrap="square" lIns="0" tIns="0" rIns="0" bIns="0" rtlCol="0" anchor="t"/>
          <a:lstStyle/>
          <a:p>
            <a:pPr algn="l" indent="0" marL="0">
              <a:buNone/>
            </a:pPr>
            <a:r>
              <a:rPr lang="en-US" sz="1000" dirty="0">
                <a:solidFill>
                  <a:srgbClr val="93A0B8"/>
                </a:solidFill>
                <a:latin typeface="Helvetica Neue" pitchFamily="34" charset="0"/>
                <a:ea typeface="Helvetica Neue" pitchFamily="34" charset="-122"/>
                <a:cs typeface="Helvetica Neue" pitchFamily="34" charset="-120"/>
              </a:rPr>
              <a:t>V3 or V4 alone</a:t>
            </a:r>
            <a:endParaRPr lang="en-US" sz="1000" dirty="0"/>
          </a:p>
        </p:txBody>
      </p:sp>
      <p:sp>
        <p:nvSpPr>
          <p:cNvPr id="73" name="Shape 71"/>
          <p:cNvSpPr/>
          <p:nvPr/>
        </p:nvSpPr>
        <p:spPr>
          <a:xfrm>
            <a:off x="8330184" y="5660136"/>
            <a:ext cx="777240" cy="256032"/>
          </a:xfrm>
          <a:prstGeom prst="roundRect">
            <a:avLst>
              <a:gd name="adj" fmla="val 53571"/>
            </a:avLst>
          </a:prstGeom>
          <a:solidFill>
            <a:srgbClr val="4A3410"/>
          </a:solidFill>
          <a:ln w="7620">
            <a:solidFill>
              <a:srgbClr val="F5A524"/>
            </a:solidFill>
            <a:prstDash val="solid"/>
          </a:ln>
        </p:spPr>
      </p:sp>
      <p:sp>
        <p:nvSpPr>
          <p:cNvPr id="74" name="Text 72"/>
          <p:cNvSpPr txBox="1"/>
          <p:nvPr/>
        </p:nvSpPr>
        <p:spPr>
          <a:xfrm>
            <a:off x="8330184" y="5660136"/>
            <a:ext cx="777240" cy="256032"/>
          </a:xfrm>
          <a:prstGeom prst="rect">
            <a:avLst/>
          </a:prstGeom>
          <a:noFill/>
          <a:ln/>
        </p:spPr>
        <p:txBody>
          <a:bodyPr wrap="square" lIns="0" tIns="0" rIns="0" bIns="0" rtlCol="0" anchor="ctr"/>
          <a:lstStyle/>
          <a:p>
            <a:pPr algn="ctr" indent="0" marL="0">
              <a:buNone/>
            </a:pPr>
            <a:r>
              <a:rPr lang="en-US" sz="800" b="1" dirty="0">
                <a:solidFill>
                  <a:srgbClr val="F5A524"/>
                </a:solidFill>
                <a:latin typeface="Consolas" pitchFamily="34" charset="0"/>
                <a:ea typeface="Consolas" pitchFamily="34" charset="-122"/>
                <a:cs typeface="Consolas" pitchFamily="34" charset="-120"/>
              </a:rPr>
              <a:t>LOW</a:t>
            </a:r>
            <a:endParaRPr lang="en-US" sz="800" dirty="0"/>
          </a:p>
        </p:txBody>
      </p:sp>
      <p:sp>
        <p:nvSpPr>
          <p:cNvPr id="75" name="Text 73"/>
          <p:cNvSpPr txBox="1"/>
          <p:nvPr/>
        </p:nvSpPr>
        <p:spPr>
          <a:xfrm>
            <a:off x="9244584" y="5669280"/>
            <a:ext cx="1600200" cy="274320"/>
          </a:xfrm>
          <a:prstGeom prst="rect">
            <a:avLst/>
          </a:prstGeom>
          <a:noFill/>
          <a:ln/>
        </p:spPr>
        <p:txBody>
          <a:bodyPr wrap="square" lIns="0" tIns="0" rIns="0" bIns="0" rtlCol="0" anchor="t"/>
          <a:lstStyle/>
          <a:p>
            <a:pPr algn="l" indent="0" marL="0">
              <a:buNone/>
            </a:pPr>
            <a:r>
              <a:rPr lang="en-US" sz="1000" dirty="0">
                <a:solidFill>
                  <a:srgbClr val="93A0B8"/>
                </a:solidFill>
                <a:latin typeface="Helvetica Neue" pitchFamily="34" charset="0"/>
                <a:ea typeface="Helvetica Neue" pitchFamily="34" charset="-122"/>
                <a:cs typeface="Helvetica Neue" pitchFamily="34" charset="-120"/>
              </a:rPr>
              <a:t>no violation</a:t>
            </a:r>
            <a:endParaRPr lang="en-US" sz="1000" dirty="0"/>
          </a:p>
        </p:txBody>
      </p:sp>
      <p:sp>
        <p:nvSpPr>
          <p:cNvPr id="76" name="Shape 74"/>
          <p:cNvSpPr/>
          <p:nvPr/>
        </p:nvSpPr>
        <p:spPr>
          <a:xfrm>
            <a:off x="10817352" y="5660136"/>
            <a:ext cx="777240" cy="256032"/>
          </a:xfrm>
          <a:prstGeom prst="roundRect">
            <a:avLst>
              <a:gd name="adj" fmla="val 53571"/>
            </a:avLst>
          </a:prstGeom>
          <a:solidFill>
            <a:srgbClr val="0F3D3A"/>
          </a:solidFill>
          <a:ln w="7620">
            <a:solidFill>
              <a:srgbClr val="2DD4BF"/>
            </a:solidFill>
            <a:prstDash val="solid"/>
          </a:ln>
        </p:spPr>
      </p:sp>
      <p:sp>
        <p:nvSpPr>
          <p:cNvPr id="77" name="Text 75"/>
          <p:cNvSpPr txBox="1"/>
          <p:nvPr/>
        </p:nvSpPr>
        <p:spPr>
          <a:xfrm>
            <a:off x="10817352" y="5660136"/>
            <a:ext cx="777240" cy="256032"/>
          </a:xfrm>
          <a:prstGeom prst="rect">
            <a:avLst/>
          </a:prstGeom>
          <a:noFill/>
          <a:ln/>
        </p:spPr>
        <p:txBody>
          <a:bodyPr wrap="square" lIns="0" tIns="0" rIns="0" bIns="0" rtlCol="0" anchor="ctr"/>
          <a:lstStyle/>
          <a:p>
            <a:pPr algn="ctr" indent="0" marL="0">
              <a:buNone/>
            </a:pPr>
            <a:r>
              <a:rPr lang="en-US" sz="800" b="1" dirty="0">
                <a:solidFill>
                  <a:srgbClr val="2DD4BF"/>
                </a:solidFill>
                <a:latin typeface="Consolas" pitchFamily="34" charset="0"/>
                <a:ea typeface="Consolas" pitchFamily="34" charset="-122"/>
                <a:cs typeface="Consolas" pitchFamily="34" charset="-120"/>
              </a:rPr>
              <a:t>NONE</a:t>
            </a:r>
            <a:endParaRPr lang="en-US" sz="8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indent="0" marL="0">
              <a:buNone/>
            </a:pPr>
            <a:r>
              <a:rPr lang="en-US" sz="1050" spc="200" kern="0" dirty="0">
                <a:solidFill>
                  <a:srgbClr val="2DD4BF"/>
                </a:solidFill>
                <a:latin typeface="Consolas" pitchFamily="34" charset="0"/>
                <a:ea typeface="Consolas" pitchFamily="34" charset="-122"/>
                <a:cs typeface="Consolas" pitchFamily="34" charset="-120"/>
              </a:rPr>
              <a:t>07 · CLAIM EXTRACTION AND VERIFICATION</a:t>
            </a:r>
            <a:endParaRPr lang="en-US" sz="1050" dirty="0"/>
          </a:p>
        </p:txBody>
      </p:sp>
      <p:sp>
        <p:nvSpPr>
          <p:cNvPr id="3" name="Text 1"/>
          <p:cNvSpPr txBox="1"/>
          <p:nvPr/>
        </p:nvSpPr>
        <p:spPr>
          <a:xfrm>
            <a:off x="548640" y="603504"/>
            <a:ext cx="11094415" cy="566928"/>
          </a:xfrm>
          <a:prstGeom prst="rect">
            <a:avLst/>
          </a:prstGeom>
          <a:noFill/>
          <a:ln/>
        </p:spPr>
        <p:txBody>
          <a:bodyPr wrap="square" lIns="0" tIns="0" rIns="0" bIns="0" rtlCol="0" anchor="t"/>
          <a:lstStyle/>
          <a:p>
            <a:pPr indent="0" marL="0">
              <a:buNone/>
            </a:pPr>
            <a:r>
              <a:rPr lang="en-US" sz="2700" b="1" dirty="0">
                <a:solidFill>
                  <a:srgbClr val="E9EEF6"/>
                </a:solidFill>
                <a:latin typeface="Helvetica Neue" pitchFamily="34" charset="0"/>
                <a:ea typeface="Helvetica Neue" pitchFamily="34" charset="-122"/>
                <a:cs typeface="Helvetica Neue" pitchFamily="34" charset="-120"/>
              </a:rPr>
              <a:t>One bound, five sentences, three violations</a:t>
            </a:r>
            <a:endParaRPr lang="en-US" sz="27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350" dirty="0">
                <a:solidFill>
                  <a:srgbClr val="93A0B8"/>
                </a:solidFill>
                <a:latin typeface="Helvetica Neue" pitchFamily="34" charset="0"/>
                <a:ea typeface="Helvetica Neue" pitchFamily="34" charset="-122"/>
                <a:cs typeface="Helvetica Neue" pitchFamily="34" charset="-120"/>
              </a:rPr>
              <a:t>Worked example from thesis §3.5.5 — the bound of Listing 3.1 (source 1 → destination 2, port 2404, all-zero ASDU); the faithful hand-written explanation and the violating variants discussed there, composited into one table.</a:t>
            </a:r>
            <a:endParaRPr lang="en-US" sz="1350" dirty="0"/>
          </a:p>
        </p:txBody>
      </p:sp>
      <p:sp>
        <p:nvSpPr>
          <p:cNvPr id="5" name="Text 3"/>
          <p:cNvSpPr txBox="1"/>
          <p:nvPr/>
        </p:nvSpPr>
        <p:spPr>
          <a:xfrm>
            <a:off x="548640" y="6473952"/>
            <a:ext cx="8778240" cy="219456"/>
          </a:xfrm>
          <a:prstGeom prst="rect">
            <a:avLst/>
          </a:prstGeom>
          <a:noFill/>
          <a:ln/>
        </p:spPr>
        <p:txBody>
          <a:bodyPr wrap="square" lIns="0" tIns="0" rIns="0" bIns="0" rtlCol="0" anchor="ctr"/>
          <a:lstStyle/>
          <a:p>
            <a:pPr indent="0" marL="0">
              <a:buNone/>
            </a:pPr>
            <a:r>
              <a:rPr lang="en-US" sz="850" dirty="0">
                <a:solidFill>
                  <a:srgbClr val="5C6A85"/>
                </a:solidFill>
                <a:latin typeface="Helvetica Neue" pitchFamily="34" charset="0"/>
                <a:ea typeface="Helvetica Neue" pitchFamily="34" charset="-122"/>
                <a:cs typeface="Helvetica Neue" pitchFamily="34" charset="-120"/>
              </a:rPr>
              <a:t>ReasonGuard  ·  Runtime Verification of AI Reasoning Faithfulness  ·  R. Bilalov  ·  SRH University Hamburg / FIT VUT Brno</a:t>
            </a:r>
            <a:endParaRPr lang="en-US" sz="850" dirty="0"/>
          </a:p>
        </p:txBody>
      </p:sp>
      <p:sp>
        <p:nvSpPr>
          <p:cNvPr id="6" name="Text 4"/>
          <p:cNvSpPr txBox="1"/>
          <p:nvPr/>
        </p:nvSpPr>
        <p:spPr>
          <a:xfrm>
            <a:off x="10545775" y="6473952"/>
            <a:ext cx="1097280" cy="219456"/>
          </a:xfrm>
          <a:prstGeom prst="rect">
            <a:avLst/>
          </a:prstGeom>
          <a:noFill/>
          <a:ln/>
        </p:spPr>
        <p:txBody>
          <a:bodyPr wrap="square" lIns="0" tIns="0" rIns="0" bIns="0" rtlCol="0" anchor="ctr"/>
          <a:lstStyle/>
          <a:p>
            <a:pPr algn="r" indent="0" marL="0">
              <a:buNone/>
            </a:pPr>
            <a:r>
              <a:rPr lang="en-US" sz="900" dirty="0">
                <a:solidFill>
                  <a:srgbClr val="5C6A85"/>
                </a:solidFill>
                <a:latin typeface="Consolas" pitchFamily="34" charset="0"/>
                <a:ea typeface="Consolas" pitchFamily="34" charset="-122"/>
                <a:cs typeface="Consolas" pitchFamily="34" charset="-120"/>
              </a:rPr>
              <a:t>8 / 18</a:t>
            </a:r>
            <a:endParaRPr lang="en-US" sz="900" dirty="0"/>
          </a:p>
        </p:txBody>
      </p:sp>
      <p:sp>
        <p:nvSpPr>
          <p:cNvPr id="7" name="Shape 5"/>
          <p:cNvSpPr/>
          <p:nvPr/>
        </p:nvSpPr>
        <p:spPr>
          <a:xfrm>
            <a:off x="548640" y="1810512"/>
            <a:ext cx="3383280" cy="3703320"/>
          </a:xfrm>
          <a:prstGeom prst="roundRect">
            <a:avLst>
              <a:gd name="adj" fmla="val 2162"/>
            </a:avLst>
          </a:prstGeom>
          <a:solidFill>
            <a:srgbClr val="121B2E"/>
          </a:solidFill>
          <a:ln w="9525">
            <a:solidFill>
              <a:srgbClr val="2A3752"/>
            </a:solidFill>
            <a:prstDash val="solid"/>
          </a:ln>
        </p:spPr>
      </p:sp>
      <p:sp>
        <p:nvSpPr>
          <p:cNvPr id="8" name="Text 6"/>
          <p:cNvSpPr txBox="1"/>
          <p:nvPr/>
        </p:nvSpPr>
        <p:spPr>
          <a:xfrm>
            <a:off x="731520" y="1956816"/>
            <a:ext cx="3017520" cy="219456"/>
          </a:xfrm>
          <a:prstGeom prst="rect">
            <a:avLst/>
          </a:prstGeom>
          <a:noFill/>
          <a:ln/>
        </p:spPr>
        <p:txBody>
          <a:bodyPr wrap="square" lIns="0" tIns="0" rIns="0" bIns="0" rtlCol="0" anchor="t"/>
          <a:lstStyle/>
          <a:p>
            <a:pPr algn="l" indent="0" marL="0">
              <a:buNone/>
            </a:pPr>
            <a:r>
              <a:rPr lang="en-US" sz="900" spc="100" kern="0" dirty="0">
                <a:solidFill>
                  <a:srgbClr val="2DD4BF"/>
                </a:solidFill>
                <a:latin typeface="Consolas" pitchFamily="34" charset="0"/>
                <a:ea typeface="Consolas" pitchFamily="34" charset="-122"/>
                <a:cs typeface="Consolas" pitchFamily="34" charset="-120"/>
              </a:rPr>
              <a:t>FORMAL BOUND  (Listing 3.1, abridged)</a:t>
            </a:r>
            <a:endParaRPr lang="en-US" sz="900" dirty="0"/>
          </a:p>
        </p:txBody>
      </p:sp>
      <p:sp>
        <p:nvSpPr>
          <p:cNvPr id="9" name="Text 7"/>
          <p:cNvSpPr txBox="1"/>
          <p:nvPr/>
        </p:nvSpPr>
        <p:spPr>
          <a:xfrm>
            <a:off x="731520" y="2249424"/>
            <a:ext cx="3108960" cy="146304"/>
          </a:xfrm>
          <a:prstGeom prst="rect">
            <a:avLst/>
          </a:prstGeom>
          <a:noFill/>
          <a:ln/>
        </p:spPr>
        <p:txBody>
          <a:bodyPr wrap="square" lIns="0" tIns="0" rIns="0" bIns="0" rtlCol="0" anchor="t"/>
          <a:lstStyle/>
          <a:p>
            <a:pPr algn="l" indent="0" marL="0">
              <a:buNone/>
            </a:pPr>
            <a:r>
              <a:rPr lang="en-US" sz="780" dirty="0">
                <a:solidFill>
                  <a:srgbClr val="93A0B8"/>
                </a:solidFill>
                <a:latin typeface="Consolas" pitchFamily="34" charset="0"/>
                <a:ea typeface="Consolas" pitchFamily="34" charset="-122"/>
                <a:cs typeface="Consolas" pitchFamily="34" charset="-120"/>
              </a:rPr>
              <a:t>{</a:t>
            </a:r>
            <a:endParaRPr lang="en-US" sz="780" dirty="0"/>
          </a:p>
        </p:txBody>
      </p:sp>
      <p:sp>
        <p:nvSpPr>
          <p:cNvPr id="10" name="Text 8"/>
          <p:cNvSpPr txBox="1"/>
          <p:nvPr/>
        </p:nvSpPr>
        <p:spPr>
          <a:xfrm>
            <a:off x="731520" y="2388413"/>
            <a:ext cx="3108960" cy="146304"/>
          </a:xfrm>
          <a:prstGeom prst="rect">
            <a:avLst/>
          </a:prstGeom>
          <a:noFill/>
          <a:ln/>
        </p:spPr>
        <p:txBody>
          <a:bodyPr wrap="square" lIns="0" tIns="0" rIns="0" bIns="0" rtlCol="0" anchor="t"/>
          <a:lstStyle/>
          <a:p>
            <a:pPr algn="l" indent="0" marL="0">
              <a:buNone/>
            </a:pPr>
            <a:r>
              <a:rPr lang="en-US" sz="780" dirty="0">
                <a:solidFill>
                  <a:srgbClr val="C7D0DE"/>
                </a:solidFill>
                <a:latin typeface="Consolas" pitchFamily="34" charset="0"/>
                <a:ea typeface="Consolas" pitchFamily="34" charset="-122"/>
                <a:cs typeface="Consolas" pitchFamily="34" charset="-120"/>
              </a:rPr>
              <a:t>  "event_id": "evt_000001",</a:t>
            </a:r>
            <a:endParaRPr lang="en-US" sz="780" dirty="0"/>
          </a:p>
        </p:txBody>
      </p:sp>
      <p:sp>
        <p:nvSpPr>
          <p:cNvPr id="11" name="Text 9"/>
          <p:cNvSpPr txBox="1"/>
          <p:nvPr/>
        </p:nvSpPr>
        <p:spPr>
          <a:xfrm>
            <a:off x="731520" y="2527402"/>
            <a:ext cx="3108960" cy="146304"/>
          </a:xfrm>
          <a:prstGeom prst="rect">
            <a:avLst/>
          </a:prstGeom>
          <a:noFill/>
          <a:ln/>
        </p:spPr>
        <p:txBody>
          <a:bodyPr wrap="square" lIns="0" tIns="0" rIns="0" bIns="0" rtlCol="0" anchor="t"/>
          <a:lstStyle/>
          <a:p>
            <a:pPr algn="l" indent="0" marL="0">
              <a:buNone/>
            </a:pPr>
            <a:r>
              <a:rPr lang="en-US" sz="780" dirty="0">
                <a:solidFill>
                  <a:srgbClr val="C7D0DE"/>
                </a:solidFill>
                <a:latin typeface="Consolas" pitchFamily="34" charset="0"/>
                <a:ea typeface="Consolas" pitchFamily="34" charset="-122"/>
                <a:cs typeface="Consolas" pitchFamily="34" charset="-120"/>
              </a:rPr>
              <a:t>  "formal_bound_version": "2.1",</a:t>
            </a:r>
            <a:endParaRPr lang="en-US" sz="780" dirty="0"/>
          </a:p>
        </p:txBody>
      </p:sp>
      <p:sp>
        <p:nvSpPr>
          <p:cNvPr id="12" name="Text 10"/>
          <p:cNvSpPr txBox="1"/>
          <p:nvPr/>
        </p:nvSpPr>
        <p:spPr>
          <a:xfrm>
            <a:off x="731520" y="2666390"/>
            <a:ext cx="3108960" cy="146304"/>
          </a:xfrm>
          <a:prstGeom prst="rect">
            <a:avLst/>
          </a:prstGeom>
          <a:noFill/>
          <a:ln/>
        </p:spPr>
        <p:txBody>
          <a:bodyPr wrap="square" lIns="0" tIns="0" rIns="0" bIns="0" rtlCol="0" anchor="t"/>
          <a:lstStyle/>
          <a:p>
            <a:pPr algn="l" indent="0" marL="0">
              <a:buNone/>
            </a:pPr>
            <a:r>
              <a:rPr lang="en-US" sz="780" dirty="0">
                <a:solidFill>
                  <a:srgbClr val="C7D0DE"/>
                </a:solidFill>
                <a:latin typeface="Consolas" pitchFamily="34" charset="0"/>
                <a:ea typeface="Consolas" pitchFamily="34" charset="-122"/>
                <a:cs typeface="Consolas" pitchFamily="34" charset="-120"/>
              </a:rPr>
              <a:t>  "schema_status":</a:t>
            </a:r>
            <a:endParaRPr lang="en-US" sz="780" dirty="0"/>
          </a:p>
        </p:txBody>
      </p:sp>
      <p:sp>
        <p:nvSpPr>
          <p:cNvPr id="13" name="Text 11"/>
          <p:cNvSpPr txBox="1"/>
          <p:nvPr/>
        </p:nvSpPr>
        <p:spPr>
          <a:xfrm>
            <a:off x="731520" y="2805379"/>
            <a:ext cx="3108960" cy="146304"/>
          </a:xfrm>
          <a:prstGeom prst="rect">
            <a:avLst/>
          </a:prstGeom>
          <a:noFill/>
          <a:ln/>
        </p:spPr>
        <p:txBody>
          <a:bodyPr wrap="square" lIns="0" tIns="0" rIns="0" bIns="0" rtlCol="0" anchor="t"/>
          <a:lstStyle/>
          <a:p>
            <a:pPr algn="l" indent="0" marL="0">
              <a:buNone/>
            </a:pPr>
            <a:r>
              <a:rPr lang="en-US" sz="780" dirty="0">
                <a:solidFill>
                  <a:srgbClr val="F5A524"/>
                </a:solidFill>
                <a:latin typeface="Consolas" pitchFamily="34" charset="0"/>
                <a:ea typeface="Consolas" pitchFamily="34" charset="-122"/>
                <a:cs typeface="Consolas" pitchFamily="34" charset="-120"/>
              </a:rPr>
              <a:t>    "proxy_until_official_automaton_schema",</a:t>
            </a:r>
            <a:endParaRPr lang="en-US" sz="780" dirty="0"/>
          </a:p>
        </p:txBody>
      </p:sp>
      <p:sp>
        <p:nvSpPr>
          <p:cNvPr id="14" name="Text 12"/>
          <p:cNvSpPr txBox="1"/>
          <p:nvPr/>
        </p:nvSpPr>
        <p:spPr>
          <a:xfrm>
            <a:off x="731520" y="2944368"/>
            <a:ext cx="3108960" cy="146304"/>
          </a:xfrm>
          <a:prstGeom prst="rect">
            <a:avLst/>
          </a:prstGeom>
          <a:noFill/>
          <a:ln/>
        </p:spPr>
        <p:txBody>
          <a:bodyPr wrap="square" lIns="0" tIns="0" rIns="0" bIns="0" rtlCol="0" anchor="t"/>
          <a:lstStyle/>
          <a:p>
            <a:pPr algn="l" indent="0" marL="0">
              <a:buNone/>
            </a:pPr>
            <a:r>
              <a:rPr lang="en-US" sz="780" dirty="0">
                <a:solidFill>
                  <a:srgbClr val="C7D0DE"/>
                </a:solidFill>
                <a:latin typeface="Consolas" pitchFamily="34" charset="0"/>
                <a:ea typeface="Consolas" pitchFamily="34" charset="-122"/>
                <a:cs typeface="Consolas" pitchFamily="34" charset="-120"/>
              </a:rPr>
              <a:t>  "protocol_hint": "iec104",</a:t>
            </a:r>
            <a:endParaRPr lang="en-US" sz="780" dirty="0"/>
          </a:p>
        </p:txBody>
      </p:sp>
      <p:sp>
        <p:nvSpPr>
          <p:cNvPr id="15" name="Text 13"/>
          <p:cNvSpPr txBox="1"/>
          <p:nvPr/>
        </p:nvSpPr>
        <p:spPr>
          <a:xfrm>
            <a:off x="731520" y="3083357"/>
            <a:ext cx="3108960" cy="146304"/>
          </a:xfrm>
          <a:prstGeom prst="rect">
            <a:avLst/>
          </a:prstGeom>
          <a:noFill/>
          <a:ln/>
        </p:spPr>
        <p:txBody>
          <a:bodyPr wrap="square" lIns="0" tIns="0" rIns="0" bIns="0" rtlCol="0" anchor="t"/>
          <a:lstStyle/>
          <a:p>
            <a:pPr algn="l" indent="0" marL="0">
              <a:buNone/>
            </a:pPr>
            <a:r>
              <a:rPr lang="en-US" sz="780" dirty="0">
                <a:solidFill>
                  <a:srgbClr val="C7D0DE"/>
                </a:solidFill>
                <a:latin typeface="Consolas" pitchFamily="34" charset="0"/>
                <a:ea typeface="Consolas" pitchFamily="34" charset="-122"/>
                <a:cs typeface="Consolas" pitchFamily="34" charset="-120"/>
              </a:rPr>
              <a:t>  "communication_direction":</a:t>
            </a:r>
            <a:endParaRPr lang="en-US" sz="780" dirty="0"/>
          </a:p>
        </p:txBody>
      </p:sp>
      <p:sp>
        <p:nvSpPr>
          <p:cNvPr id="16" name="Text 14"/>
          <p:cNvSpPr txBox="1"/>
          <p:nvPr/>
        </p:nvSpPr>
        <p:spPr>
          <a:xfrm>
            <a:off x="731520" y="3222346"/>
            <a:ext cx="3108960" cy="146304"/>
          </a:xfrm>
          <a:prstGeom prst="rect">
            <a:avLst/>
          </a:prstGeom>
          <a:noFill/>
          <a:ln/>
        </p:spPr>
        <p:txBody>
          <a:bodyPr wrap="square" lIns="0" tIns="0" rIns="0" bIns="0" rtlCol="0" anchor="t"/>
          <a:lstStyle/>
          <a:p>
            <a:pPr algn="l" indent="0" marL="0">
              <a:buNone/>
            </a:pPr>
            <a:r>
              <a:rPr lang="en-US" sz="780" dirty="0">
                <a:solidFill>
                  <a:srgbClr val="2DD4BF"/>
                </a:solidFill>
                <a:latin typeface="Consolas" pitchFamily="34" charset="0"/>
                <a:ea typeface="Consolas" pitchFamily="34" charset="-122"/>
                <a:cs typeface="Consolas" pitchFamily="34" charset="-120"/>
              </a:rPr>
              <a:t>    "client_to_server",</a:t>
            </a:r>
            <a:endParaRPr lang="en-US" sz="780" dirty="0"/>
          </a:p>
        </p:txBody>
      </p:sp>
      <p:sp>
        <p:nvSpPr>
          <p:cNvPr id="17" name="Text 15"/>
          <p:cNvSpPr txBox="1"/>
          <p:nvPr/>
        </p:nvSpPr>
        <p:spPr>
          <a:xfrm>
            <a:off x="731520" y="3361334"/>
            <a:ext cx="3108960" cy="146304"/>
          </a:xfrm>
          <a:prstGeom prst="rect">
            <a:avLst/>
          </a:prstGeom>
          <a:noFill/>
          <a:ln/>
        </p:spPr>
        <p:txBody>
          <a:bodyPr wrap="square" lIns="0" tIns="0" rIns="0" bIns="0" rtlCol="0" anchor="t"/>
          <a:lstStyle/>
          <a:p>
            <a:pPr algn="l" indent="0" marL="0">
              <a:buNone/>
            </a:pPr>
            <a:r>
              <a:rPr lang="en-US" sz="780" dirty="0">
                <a:solidFill>
                  <a:srgbClr val="C7D0DE"/>
                </a:solidFill>
                <a:latin typeface="Consolas" pitchFamily="34" charset="0"/>
                <a:ea typeface="Consolas" pitchFamily="34" charset="-122"/>
                <a:cs typeface="Consolas" pitchFamily="34" charset="-120"/>
              </a:rPr>
              <a:t>  "frame_type": "s_or_u_format_control",</a:t>
            </a:r>
            <a:endParaRPr lang="en-US" sz="780" dirty="0"/>
          </a:p>
        </p:txBody>
      </p:sp>
      <p:sp>
        <p:nvSpPr>
          <p:cNvPr id="18" name="Text 16"/>
          <p:cNvSpPr txBox="1"/>
          <p:nvPr/>
        </p:nvSpPr>
        <p:spPr>
          <a:xfrm>
            <a:off x="731520" y="3500323"/>
            <a:ext cx="3108960" cy="146304"/>
          </a:xfrm>
          <a:prstGeom prst="rect">
            <a:avLst/>
          </a:prstGeom>
          <a:noFill/>
          <a:ln/>
        </p:spPr>
        <p:txBody>
          <a:bodyPr wrap="square" lIns="0" tIns="0" rIns="0" bIns="0" rtlCol="0" anchor="t"/>
          <a:lstStyle/>
          <a:p>
            <a:pPr algn="l" indent="0" marL="0">
              <a:buNone/>
            </a:pPr>
            <a:r>
              <a:rPr lang="en-US" sz="780" dirty="0">
                <a:solidFill>
                  <a:srgbClr val="C7D0DE"/>
                </a:solidFill>
                <a:latin typeface="Consolas" pitchFamily="34" charset="0"/>
                <a:ea typeface="Consolas" pitchFamily="34" charset="-122"/>
                <a:cs typeface="Consolas" pitchFamily="34" charset="-120"/>
              </a:rPr>
              <a:t>  "features": { "source_id": 1,</a:t>
            </a:r>
            <a:endParaRPr lang="en-US" sz="780" dirty="0"/>
          </a:p>
        </p:txBody>
      </p:sp>
      <p:sp>
        <p:nvSpPr>
          <p:cNvPr id="19" name="Text 17"/>
          <p:cNvSpPr txBox="1"/>
          <p:nvPr/>
        </p:nvSpPr>
        <p:spPr>
          <a:xfrm>
            <a:off x="731520" y="3639312"/>
            <a:ext cx="3108960" cy="146304"/>
          </a:xfrm>
          <a:prstGeom prst="rect">
            <a:avLst/>
          </a:prstGeom>
          <a:noFill/>
          <a:ln/>
        </p:spPr>
        <p:txBody>
          <a:bodyPr wrap="square" lIns="0" tIns="0" rIns="0" bIns="0" rtlCol="0" anchor="t"/>
          <a:lstStyle/>
          <a:p>
            <a:pPr algn="l" indent="0" marL="0">
              <a:buNone/>
            </a:pPr>
            <a:r>
              <a:rPr lang="en-US" sz="780" dirty="0">
                <a:solidFill>
                  <a:srgbClr val="2DD4BF"/>
                </a:solidFill>
                <a:latin typeface="Consolas" pitchFamily="34" charset="0"/>
                <a:ea typeface="Consolas" pitchFamily="34" charset="-122"/>
                <a:cs typeface="Consolas" pitchFamily="34" charset="-120"/>
              </a:rPr>
              <a:t>    "destination_id": 2, "dstport": 2404,</a:t>
            </a:r>
            <a:endParaRPr lang="en-US" sz="780" dirty="0"/>
          </a:p>
        </p:txBody>
      </p:sp>
      <p:sp>
        <p:nvSpPr>
          <p:cNvPr id="20" name="Text 18"/>
          <p:cNvSpPr txBox="1"/>
          <p:nvPr/>
        </p:nvSpPr>
        <p:spPr>
          <a:xfrm>
            <a:off x="731520" y="3778301"/>
            <a:ext cx="3108960" cy="146304"/>
          </a:xfrm>
          <a:prstGeom prst="rect">
            <a:avLst/>
          </a:prstGeom>
          <a:noFill/>
          <a:ln/>
        </p:spPr>
        <p:txBody>
          <a:bodyPr wrap="square" lIns="0" tIns="0" rIns="0" bIns="0" rtlCol="0" anchor="t"/>
          <a:lstStyle/>
          <a:p>
            <a:pPr algn="l" indent="0" marL="0">
              <a:buNone/>
            </a:pPr>
            <a:r>
              <a:rPr lang="en-US" sz="780" dirty="0">
                <a:solidFill>
                  <a:srgbClr val="C7D0DE"/>
                </a:solidFill>
                <a:latin typeface="Consolas" pitchFamily="34" charset="0"/>
                <a:ea typeface="Consolas" pitchFamily="34" charset="-122"/>
                <a:cs typeface="Consolas" pitchFamily="34" charset="-120"/>
              </a:rPr>
              <a:t>    "asdu_type": 0, "asdu_cot": 0, ... },</a:t>
            </a:r>
            <a:endParaRPr lang="en-US" sz="780" dirty="0"/>
          </a:p>
        </p:txBody>
      </p:sp>
      <p:sp>
        <p:nvSpPr>
          <p:cNvPr id="21" name="Text 19"/>
          <p:cNvSpPr txBox="1"/>
          <p:nvPr/>
        </p:nvSpPr>
        <p:spPr>
          <a:xfrm>
            <a:off x="731520" y="3917290"/>
            <a:ext cx="3108960" cy="146304"/>
          </a:xfrm>
          <a:prstGeom prst="rect">
            <a:avLst/>
          </a:prstGeom>
          <a:noFill/>
          <a:ln/>
        </p:spPr>
        <p:txBody>
          <a:bodyPr wrap="square" lIns="0" tIns="0" rIns="0" bIns="0" rtlCol="0" anchor="t"/>
          <a:lstStyle/>
          <a:p>
            <a:pPr algn="l" indent="0" marL="0">
              <a:buNone/>
            </a:pPr>
            <a:r>
              <a:rPr lang="en-US" sz="780" dirty="0">
                <a:solidFill>
                  <a:srgbClr val="C7D0DE"/>
                </a:solidFill>
                <a:latin typeface="Consolas" pitchFamily="34" charset="0"/>
                <a:ea typeface="Consolas" pitchFamily="34" charset="-122"/>
                <a:cs typeface="Consolas" pitchFamily="34" charset="-120"/>
              </a:rPr>
              <a:t>  "allowed_claims":   [ 10 statements ],</a:t>
            </a:r>
            <a:endParaRPr lang="en-US" sz="780" dirty="0"/>
          </a:p>
        </p:txBody>
      </p:sp>
      <p:sp>
        <p:nvSpPr>
          <p:cNvPr id="22" name="Text 20"/>
          <p:cNvSpPr txBox="1"/>
          <p:nvPr/>
        </p:nvSpPr>
        <p:spPr>
          <a:xfrm>
            <a:off x="731520" y="4056278"/>
            <a:ext cx="3108960" cy="146304"/>
          </a:xfrm>
          <a:prstGeom prst="rect">
            <a:avLst/>
          </a:prstGeom>
          <a:noFill/>
          <a:ln/>
        </p:spPr>
        <p:txBody>
          <a:bodyPr wrap="square" lIns="0" tIns="0" rIns="0" bIns="0" rtlCol="0" anchor="t"/>
          <a:lstStyle/>
          <a:p>
            <a:pPr algn="l" indent="0" marL="0">
              <a:buNone/>
            </a:pPr>
            <a:r>
              <a:rPr lang="en-US" sz="780" dirty="0">
                <a:solidFill>
                  <a:srgbClr val="F5A524"/>
                </a:solidFill>
                <a:latin typeface="Consolas" pitchFamily="34" charset="0"/>
                <a:ea typeface="Consolas" pitchFamily="34" charset="-122"/>
                <a:cs typeface="Consolas" pitchFamily="34" charset="-120"/>
              </a:rPr>
              <a:t>  "required_claims":  [ 5 statements ],</a:t>
            </a:r>
            <a:endParaRPr lang="en-US" sz="780" dirty="0"/>
          </a:p>
        </p:txBody>
      </p:sp>
      <p:sp>
        <p:nvSpPr>
          <p:cNvPr id="23" name="Text 21"/>
          <p:cNvSpPr txBox="1"/>
          <p:nvPr/>
        </p:nvSpPr>
        <p:spPr>
          <a:xfrm>
            <a:off x="731520" y="4195267"/>
            <a:ext cx="3108960" cy="146304"/>
          </a:xfrm>
          <a:prstGeom prst="rect">
            <a:avLst/>
          </a:prstGeom>
          <a:noFill/>
          <a:ln/>
        </p:spPr>
        <p:txBody>
          <a:bodyPr wrap="square" lIns="0" tIns="0" rIns="0" bIns="0" rtlCol="0" anchor="t"/>
          <a:lstStyle/>
          <a:p>
            <a:pPr algn="l" indent="0" marL="0">
              <a:buNone/>
            </a:pPr>
            <a:r>
              <a:rPr lang="en-US" sz="780" dirty="0">
                <a:solidFill>
                  <a:srgbClr val="F0605E"/>
                </a:solidFill>
                <a:latin typeface="Consolas" pitchFamily="34" charset="0"/>
                <a:ea typeface="Consolas" pitchFamily="34" charset="-122"/>
                <a:cs typeface="Consolas" pitchFamily="34" charset="-120"/>
              </a:rPr>
              <a:t>  "forbidden_claims": [ 8 statements ],</a:t>
            </a:r>
            <a:endParaRPr lang="en-US" sz="780" dirty="0"/>
          </a:p>
        </p:txBody>
      </p:sp>
      <p:sp>
        <p:nvSpPr>
          <p:cNvPr id="24" name="Text 22"/>
          <p:cNvSpPr txBox="1"/>
          <p:nvPr/>
        </p:nvSpPr>
        <p:spPr>
          <a:xfrm>
            <a:off x="731520" y="4334256"/>
            <a:ext cx="3108960" cy="146304"/>
          </a:xfrm>
          <a:prstGeom prst="rect">
            <a:avLst/>
          </a:prstGeom>
          <a:noFill/>
          <a:ln/>
        </p:spPr>
        <p:txBody>
          <a:bodyPr wrap="square" lIns="0" tIns="0" rIns="0" bIns="0" rtlCol="0" anchor="t"/>
          <a:lstStyle/>
          <a:p>
            <a:pPr algn="l" indent="0" marL="0">
              <a:buNone/>
            </a:pPr>
            <a:r>
              <a:rPr lang="en-US" sz="780" dirty="0">
                <a:solidFill>
                  <a:srgbClr val="C7D0DE"/>
                </a:solidFill>
                <a:latin typeface="Consolas" pitchFamily="34" charset="0"/>
                <a:ea typeface="Consolas" pitchFamily="34" charset="-122"/>
                <a:cs typeface="Consolas" pitchFamily="34" charset="-120"/>
              </a:rPr>
              <a:t>  "machine_constraints": {</a:t>
            </a:r>
            <a:endParaRPr lang="en-US" sz="780" dirty="0"/>
          </a:p>
        </p:txBody>
      </p:sp>
      <p:sp>
        <p:nvSpPr>
          <p:cNvPr id="25" name="Text 23"/>
          <p:cNvSpPr txBox="1"/>
          <p:nvPr/>
        </p:nvSpPr>
        <p:spPr>
          <a:xfrm>
            <a:off x="731520" y="4473245"/>
            <a:ext cx="3108960" cy="146304"/>
          </a:xfrm>
          <a:prstGeom prst="rect">
            <a:avLst/>
          </a:prstGeom>
          <a:noFill/>
          <a:ln/>
        </p:spPr>
        <p:txBody>
          <a:bodyPr wrap="square" lIns="0" tIns="0" rIns="0" bIns="0" rtlCol="0" anchor="t"/>
          <a:lstStyle/>
          <a:p>
            <a:pPr algn="l" indent="0" marL="0">
              <a:buNone/>
            </a:pPr>
            <a:r>
              <a:rPr lang="en-US" sz="780" dirty="0">
                <a:solidFill>
                  <a:srgbClr val="F0605E"/>
                </a:solidFill>
                <a:latin typeface="Consolas" pitchFamily="34" charset="0"/>
                <a:ea typeface="Consolas" pitchFamily="34" charset="-122"/>
                <a:cs typeface="Consolas" pitchFamily="34" charset="-120"/>
              </a:rPr>
              <a:t>    "attack_claim_allowed": false,</a:t>
            </a:r>
            <a:endParaRPr lang="en-US" sz="780" dirty="0"/>
          </a:p>
        </p:txBody>
      </p:sp>
      <p:sp>
        <p:nvSpPr>
          <p:cNvPr id="26" name="Text 24"/>
          <p:cNvSpPr txBox="1"/>
          <p:nvPr/>
        </p:nvSpPr>
        <p:spPr>
          <a:xfrm>
            <a:off x="731520" y="4612234"/>
            <a:ext cx="3108960" cy="146304"/>
          </a:xfrm>
          <a:prstGeom prst="rect">
            <a:avLst/>
          </a:prstGeom>
          <a:noFill/>
          <a:ln/>
        </p:spPr>
        <p:txBody>
          <a:bodyPr wrap="square" lIns="0" tIns="0" rIns="0" bIns="0" rtlCol="0" anchor="t"/>
          <a:lstStyle/>
          <a:p>
            <a:pPr algn="l" indent="0" marL="0">
              <a:buNone/>
            </a:pPr>
            <a:r>
              <a:rPr lang="en-US" sz="780" dirty="0">
                <a:solidFill>
                  <a:srgbClr val="C7D0DE"/>
                </a:solidFill>
                <a:latin typeface="Consolas" pitchFamily="34" charset="0"/>
                <a:ea typeface="Consolas" pitchFamily="34" charset="-122"/>
                <a:cs typeface="Consolas" pitchFamily="34" charset="-120"/>
              </a:rPr>
              <a:t>    "malicious_claim_allowed": false,</a:t>
            </a:r>
            <a:endParaRPr lang="en-US" sz="780" dirty="0"/>
          </a:p>
        </p:txBody>
      </p:sp>
      <p:sp>
        <p:nvSpPr>
          <p:cNvPr id="27" name="Text 25"/>
          <p:cNvSpPr txBox="1"/>
          <p:nvPr/>
        </p:nvSpPr>
        <p:spPr>
          <a:xfrm>
            <a:off x="731520" y="4751222"/>
            <a:ext cx="3108960" cy="146304"/>
          </a:xfrm>
          <a:prstGeom prst="rect">
            <a:avLst/>
          </a:prstGeom>
          <a:noFill/>
          <a:ln/>
        </p:spPr>
        <p:txBody>
          <a:bodyPr wrap="square" lIns="0" tIns="0" rIns="0" bIns="0" rtlCol="0" anchor="t"/>
          <a:lstStyle/>
          <a:p>
            <a:pPr algn="l" indent="0" marL="0">
              <a:buNone/>
            </a:pPr>
            <a:r>
              <a:rPr lang="en-US" sz="780" dirty="0">
                <a:solidFill>
                  <a:srgbClr val="C7D0DE"/>
                </a:solidFill>
                <a:latin typeface="Consolas" pitchFamily="34" charset="0"/>
                <a:ea typeface="Consolas" pitchFamily="34" charset="-122"/>
                <a:cs typeface="Consolas" pitchFamily="34" charset="-120"/>
              </a:rPr>
              <a:t>    "causal_claim_allowed": false, ... }</a:t>
            </a:r>
            <a:endParaRPr lang="en-US" sz="780" dirty="0"/>
          </a:p>
        </p:txBody>
      </p:sp>
      <p:sp>
        <p:nvSpPr>
          <p:cNvPr id="28" name="Text 26"/>
          <p:cNvSpPr txBox="1"/>
          <p:nvPr/>
        </p:nvSpPr>
        <p:spPr>
          <a:xfrm>
            <a:off x="731520" y="4890211"/>
            <a:ext cx="3108960" cy="146304"/>
          </a:xfrm>
          <a:prstGeom prst="rect">
            <a:avLst/>
          </a:prstGeom>
          <a:noFill/>
          <a:ln/>
        </p:spPr>
        <p:txBody>
          <a:bodyPr wrap="square" lIns="0" tIns="0" rIns="0" bIns="0" rtlCol="0" anchor="t"/>
          <a:lstStyle/>
          <a:p>
            <a:pPr algn="l" indent="0" marL="0">
              <a:buNone/>
            </a:pPr>
            <a:r>
              <a:rPr lang="en-US" sz="780" dirty="0">
                <a:solidFill>
                  <a:srgbClr val="93A0B8"/>
                </a:solidFill>
                <a:latin typeface="Consolas" pitchFamily="34" charset="0"/>
                <a:ea typeface="Consolas" pitchFamily="34" charset="-122"/>
                <a:cs typeface="Consolas" pitchFamily="34" charset="-120"/>
              </a:rPr>
              <a:t>}</a:t>
            </a:r>
            <a:endParaRPr lang="en-US" sz="780" dirty="0"/>
          </a:p>
        </p:txBody>
      </p:sp>
      <p:sp>
        <p:nvSpPr>
          <p:cNvPr id="29" name="Shape 27"/>
          <p:cNvSpPr/>
          <p:nvPr/>
        </p:nvSpPr>
        <p:spPr>
          <a:xfrm>
            <a:off x="731520" y="5129784"/>
            <a:ext cx="1417320" cy="237744"/>
          </a:xfrm>
          <a:prstGeom prst="roundRect">
            <a:avLst>
              <a:gd name="adj" fmla="val 57692"/>
            </a:avLst>
          </a:prstGeom>
          <a:solidFill>
            <a:srgbClr val="4A1F1F"/>
          </a:solidFill>
          <a:ln w="7620">
            <a:solidFill>
              <a:srgbClr val="F0605E"/>
            </a:solidFill>
            <a:prstDash val="solid"/>
          </a:ln>
        </p:spPr>
      </p:sp>
      <p:sp>
        <p:nvSpPr>
          <p:cNvPr id="30" name="Text 28"/>
          <p:cNvSpPr txBox="1"/>
          <p:nvPr/>
        </p:nvSpPr>
        <p:spPr>
          <a:xfrm>
            <a:off x="731520" y="5129784"/>
            <a:ext cx="1417320" cy="237744"/>
          </a:xfrm>
          <a:prstGeom prst="rect">
            <a:avLst/>
          </a:prstGeom>
          <a:noFill/>
          <a:ln/>
        </p:spPr>
        <p:txBody>
          <a:bodyPr wrap="square" lIns="0" tIns="0" rIns="0" bIns="0" rtlCol="0" anchor="ctr"/>
          <a:lstStyle/>
          <a:p>
            <a:pPr algn="ctr" indent="0" marL="0">
              <a:buNone/>
            </a:pPr>
            <a:r>
              <a:rPr lang="en-US" sz="750" b="1" dirty="0">
                <a:solidFill>
                  <a:srgbClr val="F0605E"/>
                </a:solidFill>
                <a:latin typeface="Consolas" pitchFamily="34" charset="0"/>
                <a:ea typeface="Consolas" pitchFamily="34" charset="-122"/>
                <a:cs typeface="Consolas" pitchFamily="34" charset="-120"/>
              </a:rPr>
              <a:t>forbidden → V1 / V2</a:t>
            </a:r>
            <a:endParaRPr lang="en-US" sz="750" dirty="0"/>
          </a:p>
        </p:txBody>
      </p:sp>
      <p:sp>
        <p:nvSpPr>
          <p:cNvPr id="31" name="Shape 29"/>
          <p:cNvSpPr/>
          <p:nvPr/>
        </p:nvSpPr>
        <p:spPr>
          <a:xfrm>
            <a:off x="2286000" y="5129784"/>
            <a:ext cx="1417320" cy="237744"/>
          </a:xfrm>
          <a:prstGeom prst="roundRect">
            <a:avLst>
              <a:gd name="adj" fmla="val 57692"/>
            </a:avLst>
          </a:prstGeom>
          <a:solidFill>
            <a:srgbClr val="4A3410"/>
          </a:solidFill>
          <a:ln w="7620">
            <a:solidFill>
              <a:srgbClr val="F5A524"/>
            </a:solidFill>
            <a:prstDash val="solid"/>
          </a:ln>
        </p:spPr>
      </p:sp>
      <p:sp>
        <p:nvSpPr>
          <p:cNvPr id="32" name="Text 30"/>
          <p:cNvSpPr txBox="1"/>
          <p:nvPr/>
        </p:nvSpPr>
        <p:spPr>
          <a:xfrm>
            <a:off x="2286000" y="5129784"/>
            <a:ext cx="1417320" cy="237744"/>
          </a:xfrm>
          <a:prstGeom prst="rect">
            <a:avLst/>
          </a:prstGeom>
          <a:noFill/>
          <a:ln/>
        </p:spPr>
        <p:txBody>
          <a:bodyPr wrap="square" lIns="0" tIns="0" rIns="0" bIns="0" rtlCol="0" anchor="ctr"/>
          <a:lstStyle/>
          <a:p>
            <a:pPr algn="ctr" indent="0" marL="0">
              <a:buNone/>
            </a:pPr>
            <a:r>
              <a:rPr lang="en-US" sz="750" b="1" dirty="0">
                <a:solidFill>
                  <a:srgbClr val="F5A524"/>
                </a:solidFill>
                <a:latin typeface="Consolas" pitchFamily="34" charset="0"/>
                <a:ea typeface="Consolas" pitchFamily="34" charset="-122"/>
                <a:cs typeface="Consolas" pitchFamily="34" charset="-120"/>
              </a:rPr>
              <a:t>required → V3 / V4</a:t>
            </a:r>
            <a:endParaRPr lang="en-US" sz="750" dirty="0"/>
          </a:p>
        </p:txBody>
      </p:sp>
      <p:sp>
        <p:nvSpPr>
          <p:cNvPr id="33" name="Shape 31"/>
          <p:cNvSpPr/>
          <p:nvPr/>
        </p:nvSpPr>
        <p:spPr>
          <a:xfrm>
            <a:off x="4206240" y="1810512"/>
            <a:ext cx="7436815" cy="347472"/>
          </a:xfrm>
          <a:prstGeom prst="rect">
            <a:avLst/>
          </a:prstGeom>
          <a:solidFill>
            <a:srgbClr val="1F2C47"/>
          </a:solidFill>
          <a:ln/>
        </p:spPr>
      </p:sp>
      <p:sp>
        <p:nvSpPr>
          <p:cNvPr id="34" name="Text 32"/>
          <p:cNvSpPr txBox="1"/>
          <p:nvPr/>
        </p:nvSpPr>
        <p:spPr>
          <a:xfrm>
            <a:off x="4315968" y="1810512"/>
            <a:ext cx="2139696" cy="347472"/>
          </a:xfrm>
          <a:prstGeom prst="rect">
            <a:avLst/>
          </a:prstGeom>
          <a:noFill/>
          <a:ln/>
        </p:spPr>
        <p:txBody>
          <a:bodyPr wrap="square" lIns="0" tIns="0" rIns="0" bIns="0" rtlCol="0" anchor="ctr"/>
          <a:lstStyle/>
          <a:p>
            <a:pPr algn="l" indent="0" marL="0">
              <a:buNone/>
            </a:pPr>
            <a:r>
              <a:rPr lang="en-US" sz="950" b="1" dirty="0">
                <a:solidFill>
                  <a:srgbClr val="C7D0DE"/>
                </a:solidFill>
                <a:latin typeface="Helvetica Neue" pitchFamily="34" charset="0"/>
                <a:ea typeface="Helvetica Neue" pitchFamily="34" charset="-122"/>
                <a:cs typeface="Helvetica Neue" pitchFamily="34" charset="-120"/>
              </a:rPr>
              <a:t>Explanation sentence</a:t>
            </a:r>
            <a:endParaRPr lang="en-US" sz="950" dirty="0"/>
          </a:p>
        </p:txBody>
      </p:sp>
      <p:sp>
        <p:nvSpPr>
          <p:cNvPr id="35" name="Text 33"/>
          <p:cNvSpPr txBox="1"/>
          <p:nvPr/>
        </p:nvSpPr>
        <p:spPr>
          <a:xfrm>
            <a:off x="6601968" y="1810512"/>
            <a:ext cx="1591056" cy="347472"/>
          </a:xfrm>
          <a:prstGeom prst="rect">
            <a:avLst/>
          </a:prstGeom>
          <a:noFill/>
          <a:ln/>
        </p:spPr>
        <p:txBody>
          <a:bodyPr wrap="square" lIns="0" tIns="0" rIns="0" bIns="0" rtlCol="0" anchor="ctr"/>
          <a:lstStyle/>
          <a:p>
            <a:pPr algn="l" indent="0" marL="0">
              <a:buNone/>
            </a:pPr>
            <a:r>
              <a:rPr lang="en-US" sz="950" b="1" dirty="0">
                <a:solidFill>
                  <a:srgbClr val="C7D0DE"/>
                </a:solidFill>
                <a:latin typeface="Helvetica Neue" pitchFamily="34" charset="0"/>
                <a:ea typeface="Helvetica Neue" pitchFamily="34" charset="-122"/>
                <a:cs typeface="Helvetica Neue" pitchFamily="34" charset="-120"/>
              </a:rPr>
              <a:t>Extracted claim(s)</a:t>
            </a:r>
            <a:endParaRPr lang="en-US" sz="950" dirty="0"/>
          </a:p>
        </p:txBody>
      </p:sp>
      <p:sp>
        <p:nvSpPr>
          <p:cNvPr id="36" name="Text 34"/>
          <p:cNvSpPr txBox="1"/>
          <p:nvPr/>
        </p:nvSpPr>
        <p:spPr>
          <a:xfrm>
            <a:off x="8339328" y="1810512"/>
            <a:ext cx="1453896" cy="347472"/>
          </a:xfrm>
          <a:prstGeom prst="rect">
            <a:avLst/>
          </a:prstGeom>
          <a:noFill/>
          <a:ln/>
        </p:spPr>
        <p:txBody>
          <a:bodyPr wrap="square" lIns="0" tIns="0" rIns="0" bIns="0" rtlCol="0" anchor="ctr"/>
          <a:lstStyle/>
          <a:p>
            <a:pPr algn="l" indent="0" marL="0">
              <a:buNone/>
            </a:pPr>
            <a:r>
              <a:rPr lang="en-US" sz="950" b="1" dirty="0">
                <a:solidFill>
                  <a:srgbClr val="C7D0DE"/>
                </a:solidFill>
                <a:latin typeface="Helvetica Neue" pitchFamily="34" charset="0"/>
                <a:ea typeface="Helvetica Neue" pitchFamily="34" charset="-122"/>
                <a:cs typeface="Helvetica Neue" pitchFamily="34" charset="-120"/>
              </a:rPr>
              <a:t>Check against bound</a:t>
            </a:r>
            <a:endParaRPr lang="en-US" sz="950" dirty="0"/>
          </a:p>
        </p:txBody>
      </p:sp>
      <p:sp>
        <p:nvSpPr>
          <p:cNvPr id="37" name="Text 35"/>
          <p:cNvSpPr txBox="1"/>
          <p:nvPr/>
        </p:nvSpPr>
        <p:spPr>
          <a:xfrm>
            <a:off x="9939528" y="1810512"/>
            <a:ext cx="768096" cy="347472"/>
          </a:xfrm>
          <a:prstGeom prst="rect">
            <a:avLst/>
          </a:prstGeom>
          <a:noFill/>
          <a:ln/>
        </p:spPr>
        <p:txBody>
          <a:bodyPr wrap="square" lIns="0" tIns="0" rIns="0" bIns="0" rtlCol="0" anchor="ctr"/>
          <a:lstStyle/>
          <a:p>
            <a:pPr algn="l" indent="0" marL="0">
              <a:buNone/>
            </a:pPr>
            <a:r>
              <a:rPr lang="en-US" sz="950" b="1" dirty="0">
                <a:solidFill>
                  <a:srgbClr val="C7D0DE"/>
                </a:solidFill>
                <a:latin typeface="Helvetica Neue" pitchFamily="34" charset="0"/>
                <a:ea typeface="Helvetica Neue" pitchFamily="34" charset="-122"/>
                <a:cs typeface="Helvetica Neue" pitchFamily="34" charset="-120"/>
              </a:rPr>
              <a:t>Verdict</a:t>
            </a:r>
            <a:endParaRPr lang="en-US" sz="950" dirty="0"/>
          </a:p>
        </p:txBody>
      </p:sp>
      <p:sp>
        <p:nvSpPr>
          <p:cNvPr id="38" name="Text 36"/>
          <p:cNvSpPr txBox="1"/>
          <p:nvPr/>
        </p:nvSpPr>
        <p:spPr>
          <a:xfrm>
            <a:off x="10853928" y="1810512"/>
            <a:ext cx="752551" cy="347472"/>
          </a:xfrm>
          <a:prstGeom prst="rect">
            <a:avLst/>
          </a:prstGeom>
          <a:noFill/>
          <a:ln/>
        </p:spPr>
        <p:txBody>
          <a:bodyPr wrap="square" lIns="0" tIns="0" rIns="0" bIns="0" rtlCol="0" anchor="ctr"/>
          <a:lstStyle/>
          <a:p>
            <a:pPr algn="l" indent="0" marL="0">
              <a:buNone/>
            </a:pPr>
            <a:r>
              <a:rPr lang="en-US" sz="950" b="1" dirty="0">
                <a:solidFill>
                  <a:srgbClr val="C7D0DE"/>
                </a:solidFill>
                <a:latin typeface="Helvetica Neue" pitchFamily="34" charset="0"/>
                <a:ea typeface="Helvetica Neue" pitchFamily="34" charset="-122"/>
                <a:cs typeface="Helvetica Neue" pitchFamily="34" charset="-120"/>
              </a:rPr>
              <a:t>Violation</a:t>
            </a:r>
            <a:endParaRPr lang="en-US" sz="950" dirty="0"/>
          </a:p>
        </p:txBody>
      </p:sp>
      <p:sp>
        <p:nvSpPr>
          <p:cNvPr id="39" name="Shape 37"/>
          <p:cNvSpPr/>
          <p:nvPr/>
        </p:nvSpPr>
        <p:spPr>
          <a:xfrm>
            <a:off x="4206240" y="2157984"/>
            <a:ext cx="7436815" cy="640080"/>
          </a:xfrm>
          <a:prstGeom prst="rect">
            <a:avLst/>
          </a:prstGeom>
          <a:solidFill>
            <a:srgbClr val="18233A"/>
          </a:solidFill>
          <a:ln/>
        </p:spPr>
      </p:sp>
      <p:sp>
        <p:nvSpPr>
          <p:cNvPr id="40" name="Text 38"/>
          <p:cNvSpPr txBox="1"/>
          <p:nvPr/>
        </p:nvSpPr>
        <p:spPr>
          <a:xfrm>
            <a:off x="4315968" y="2194560"/>
            <a:ext cx="2103120" cy="566928"/>
          </a:xfrm>
          <a:prstGeom prst="rect">
            <a:avLst/>
          </a:prstGeom>
          <a:noFill/>
          <a:ln/>
        </p:spPr>
        <p:txBody>
          <a:bodyPr wrap="square" lIns="0" tIns="0" rIns="0" bIns="0" rtlCol="0" anchor="ctr"/>
          <a:lstStyle/>
          <a:p>
            <a:pPr algn="l" indent="0" marL="0">
              <a:buNone/>
            </a:pPr>
            <a:r>
              <a:rPr lang="en-US" sz="900" i="1" dirty="0">
                <a:solidFill>
                  <a:srgbClr val="E9EEF6"/>
                </a:solidFill>
                <a:latin typeface="Helvetica Neue" pitchFamily="34" charset="0"/>
                <a:ea typeface="Helvetica Neue" pitchFamily="34" charset="-122"/>
                <a:cs typeface="Helvetica Neue" pitchFamily="34" charset="-120"/>
              </a:rPr>
              <a:t>“This is an IEC-104 control frame sent from the source with identifier 1 to the destination with identifier 2.”</a:t>
            </a:r>
            <a:endParaRPr lang="en-US" sz="900" dirty="0"/>
          </a:p>
        </p:txBody>
      </p:sp>
      <p:sp>
        <p:nvSpPr>
          <p:cNvPr id="41" name="Text 39"/>
          <p:cNvSpPr txBox="1"/>
          <p:nvPr/>
        </p:nvSpPr>
        <p:spPr>
          <a:xfrm>
            <a:off x="6565392" y="2194560"/>
            <a:ext cx="1609344" cy="566928"/>
          </a:xfrm>
          <a:prstGeom prst="rect">
            <a:avLst/>
          </a:prstGeom>
          <a:noFill/>
          <a:ln/>
        </p:spPr>
        <p:txBody>
          <a:bodyPr wrap="square" lIns="0" tIns="0" rIns="0" bIns="0" rtlCol="0" anchor="ctr"/>
          <a:lstStyle/>
          <a:p>
            <a:pPr algn="l" indent="0" marL="0">
              <a:buNone/>
            </a:pPr>
            <a:r>
              <a:rPr lang="en-US" sz="780" dirty="0">
                <a:solidFill>
                  <a:srgbClr val="C7D0DE"/>
                </a:solidFill>
                <a:latin typeface="Consolas" pitchFamily="34" charset="0"/>
                <a:ea typeface="Consolas" pitchFamily="34" charset="-122"/>
                <a:cs typeface="Consolas" pitchFamily="34" charset="-120"/>
              </a:rPr>
              <a:t>protocol iec104 · frame control · source_id 1 · destination_id 2 · direction 1 → 2</a:t>
            </a:r>
            <a:endParaRPr lang="en-US" sz="780" dirty="0"/>
          </a:p>
        </p:txBody>
      </p:sp>
      <p:sp>
        <p:nvSpPr>
          <p:cNvPr id="42" name="Text 40"/>
          <p:cNvSpPr txBox="1"/>
          <p:nvPr/>
        </p:nvSpPr>
        <p:spPr>
          <a:xfrm>
            <a:off x="8302752" y="2194560"/>
            <a:ext cx="1472184" cy="566928"/>
          </a:xfrm>
          <a:prstGeom prst="rect">
            <a:avLst/>
          </a:prstGeom>
          <a:noFill/>
          <a:ln/>
        </p:spPr>
        <p:txBody>
          <a:bodyPr wrap="square" lIns="0" tIns="0" rIns="0" bIns="0" rtlCol="0" anchor="ctr"/>
          <a:lstStyle/>
          <a:p>
            <a:pPr algn="l" indent="0" marL="0">
              <a:buNone/>
            </a:pPr>
            <a:r>
              <a:rPr lang="en-US" sz="780" dirty="0">
                <a:solidFill>
                  <a:srgbClr val="93A0B8"/>
                </a:solidFill>
                <a:latin typeface="Consolas" pitchFamily="34" charset="0"/>
                <a:ea typeface="Consolas" pitchFamily="34" charset="-122"/>
                <a:cs typeface="Consolas" pitchFamily="34" charset="-120"/>
              </a:rPr>
              <a:t>matches features and allowed claims</a:t>
            </a:r>
            <a:endParaRPr lang="en-US" sz="780" dirty="0"/>
          </a:p>
        </p:txBody>
      </p:sp>
      <p:sp>
        <p:nvSpPr>
          <p:cNvPr id="43" name="Shape 41"/>
          <p:cNvSpPr/>
          <p:nvPr/>
        </p:nvSpPr>
        <p:spPr>
          <a:xfrm>
            <a:off x="9884664" y="2359152"/>
            <a:ext cx="804672" cy="237744"/>
          </a:xfrm>
          <a:prstGeom prst="roundRect">
            <a:avLst>
              <a:gd name="adj" fmla="val 57692"/>
            </a:avLst>
          </a:prstGeom>
          <a:solidFill>
            <a:srgbClr val="0F3D3A"/>
          </a:solidFill>
          <a:ln w="7620">
            <a:solidFill>
              <a:srgbClr val="2DD4BF"/>
            </a:solidFill>
            <a:prstDash val="solid"/>
          </a:ln>
        </p:spPr>
      </p:sp>
      <p:sp>
        <p:nvSpPr>
          <p:cNvPr id="44" name="Text 42"/>
          <p:cNvSpPr txBox="1"/>
          <p:nvPr/>
        </p:nvSpPr>
        <p:spPr>
          <a:xfrm>
            <a:off x="9884664" y="2359152"/>
            <a:ext cx="804672" cy="237744"/>
          </a:xfrm>
          <a:prstGeom prst="rect">
            <a:avLst/>
          </a:prstGeom>
          <a:noFill/>
          <a:ln/>
        </p:spPr>
        <p:txBody>
          <a:bodyPr wrap="square" lIns="0" tIns="0" rIns="0" bIns="0" rtlCol="0" anchor="ctr"/>
          <a:lstStyle/>
          <a:p>
            <a:pPr algn="ctr" indent="0" marL="0">
              <a:buNone/>
            </a:pPr>
            <a:r>
              <a:rPr lang="en-US" sz="750" b="1" dirty="0">
                <a:solidFill>
                  <a:srgbClr val="2DD4BF"/>
                </a:solidFill>
                <a:latin typeface="Consolas" pitchFamily="34" charset="0"/>
                <a:ea typeface="Consolas" pitchFamily="34" charset="-122"/>
                <a:cs typeface="Consolas" pitchFamily="34" charset="-120"/>
              </a:rPr>
              <a:t>SUPPORTED</a:t>
            </a:r>
            <a:endParaRPr lang="en-US" sz="750" dirty="0"/>
          </a:p>
        </p:txBody>
      </p:sp>
      <p:sp>
        <p:nvSpPr>
          <p:cNvPr id="45" name="Shape 43"/>
          <p:cNvSpPr/>
          <p:nvPr/>
        </p:nvSpPr>
        <p:spPr>
          <a:xfrm>
            <a:off x="10799064" y="2359152"/>
            <a:ext cx="770839" cy="237744"/>
          </a:xfrm>
          <a:prstGeom prst="roundRect">
            <a:avLst>
              <a:gd name="adj" fmla="val 57692"/>
            </a:avLst>
          </a:prstGeom>
          <a:solidFill>
            <a:srgbClr val="18233A"/>
          </a:solidFill>
          <a:ln w="7620">
            <a:solidFill>
              <a:srgbClr val="93A0B8"/>
            </a:solidFill>
            <a:prstDash val="solid"/>
          </a:ln>
        </p:spPr>
      </p:sp>
      <p:sp>
        <p:nvSpPr>
          <p:cNvPr id="46" name="Text 44"/>
          <p:cNvSpPr txBox="1"/>
          <p:nvPr/>
        </p:nvSpPr>
        <p:spPr>
          <a:xfrm>
            <a:off x="10799064" y="2359152"/>
            <a:ext cx="770839" cy="237744"/>
          </a:xfrm>
          <a:prstGeom prst="rect">
            <a:avLst/>
          </a:prstGeom>
          <a:noFill/>
          <a:ln/>
        </p:spPr>
        <p:txBody>
          <a:bodyPr wrap="square" lIns="0" tIns="0" rIns="0" bIns="0" rtlCol="0" anchor="ctr"/>
          <a:lstStyle/>
          <a:p>
            <a:pPr algn="ctr" indent="0" marL="0">
              <a:buNone/>
            </a:pPr>
            <a:r>
              <a:rPr lang="en-US" sz="800" b="1" dirty="0">
                <a:solidFill>
                  <a:srgbClr val="93A0B8"/>
                </a:solidFill>
                <a:latin typeface="Consolas" pitchFamily="34" charset="0"/>
                <a:ea typeface="Consolas" pitchFamily="34" charset="-122"/>
                <a:cs typeface="Consolas" pitchFamily="34" charset="-120"/>
              </a:rPr>
              <a:t>—</a:t>
            </a:r>
            <a:endParaRPr lang="en-US" sz="800" dirty="0"/>
          </a:p>
        </p:txBody>
      </p:sp>
      <p:sp>
        <p:nvSpPr>
          <p:cNvPr id="47" name="Shape 45"/>
          <p:cNvSpPr/>
          <p:nvPr/>
        </p:nvSpPr>
        <p:spPr>
          <a:xfrm>
            <a:off x="4206240" y="2798064"/>
            <a:ext cx="7436815" cy="640080"/>
          </a:xfrm>
          <a:prstGeom prst="rect">
            <a:avLst/>
          </a:prstGeom>
          <a:solidFill>
            <a:srgbClr val="121B2E"/>
          </a:solidFill>
          <a:ln/>
        </p:spPr>
      </p:sp>
      <p:sp>
        <p:nvSpPr>
          <p:cNvPr id="48" name="Text 46"/>
          <p:cNvSpPr txBox="1"/>
          <p:nvPr/>
        </p:nvSpPr>
        <p:spPr>
          <a:xfrm>
            <a:off x="4315968" y="2834640"/>
            <a:ext cx="2103120" cy="566928"/>
          </a:xfrm>
          <a:prstGeom prst="rect">
            <a:avLst/>
          </a:prstGeom>
          <a:noFill/>
          <a:ln/>
        </p:spPr>
        <p:txBody>
          <a:bodyPr wrap="square" lIns="0" tIns="0" rIns="0" bIns="0" rtlCol="0" anchor="ctr"/>
          <a:lstStyle/>
          <a:p>
            <a:pPr algn="l" indent="0" marL="0">
              <a:buNone/>
            </a:pPr>
            <a:r>
              <a:rPr lang="en-US" sz="900" i="1" dirty="0">
                <a:solidFill>
                  <a:srgbClr val="E9EEF6"/>
                </a:solidFill>
                <a:latin typeface="Helvetica Neue" pitchFamily="34" charset="0"/>
                <a:ea typeface="Helvetica Neue" pitchFamily="34" charset="-122"/>
                <a:cs typeface="Helvetica Neue" pitchFamily="34" charset="-120"/>
              </a:rPr>
              <a:t>“The frame was observed in traffic on port 2404.”</a:t>
            </a:r>
            <a:endParaRPr lang="en-US" sz="900" dirty="0"/>
          </a:p>
        </p:txBody>
      </p:sp>
      <p:sp>
        <p:nvSpPr>
          <p:cNvPr id="49" name="Text 47"/>
          <p:cNvSpPr txBox="1"/>
          <p:nvPr/>
        </p:nvSpPr>
        <p:spPr>
          <a:xfrm>
            <a:off x="6565392" y="2834640"/>
            <a:ext cx="1609344" cy="566928"/>
          </a:xfrm>
          <a:prstGeom prst="rect">
            <a:avLst/>
          </a:prstGeom>
          <a:noFill/>
          <a:ln/>
        </p:spPr>
        <p:txBody>
          <a:bodyPr wrap="square" lIns="0" tIns="0" rIns="0" bIns="0" rtlCol="0" anchor="ctr"/>
          <a:lstStyle/>
          <a:p>
            <a:pPr algn="l" indent="0" marL="0">
              <a:buNone/>
            </a:pPr>
            <a:r>
              <a:rPr lang="en-US" sz="780" dirty="0">
                <a:solidFill>
                  <a:srgbClr val="C7D0DE"/>
                </a:solidFill>
                <a:latin typeface="Consolas" pitchFamily="34" charset="0"/>
                <a:ea typeface="Consolas" pitchFamily="34" charset="-122"/>
                <a:cs typeface="Consolas" pitchFamily="34" charset="-120"/>
              </a:rPr>
              <a:t>number 2404</a:t>
            </a:r>
            <a:endParaRPr lang="en-US" sz="780" dirty="0"/>
          </a:p>
        </p:txBody>
      </p:sp>
      <p:sp>
        <p:nvSpPr>
          <p:cNvPr id="50" name="Text 48"/>
          <p:cNvSpPr txBox="1"/>
          <p:nvPr/>
        </p:nvSpPr>
        <p:spPr>
          <a:xfrm>
            <a:off x="8302752" y="2834640"/>
            <a:ext cx="1472184" cy="566928"/>
          </a:xfrm>
          <a:prstGeom prst="rect">
            <a:avLst/>
          </a:prstGeom>
          <a:noFill/>
          <a:ln/>
        </p:spPr>
        <p:txBody>
          <a:bodyPr wrap="square" lIns="0" tIns="0" rIns="0" bIns="0" rtlCol="0" anchor="ctr"/>
          <a:lstStyle/>
          <a:p>
            <a:pPr algn="l" indent="0" marL="0">
              <a:buNone/>
            </a:pPr>
            <a:r>
              <a:rPr lang="en-US" sz="780" dirty="0">
                <a:solidFill>
                  <a:srgbClr val="93A0B8"/>
                </a:solidFill>
                <a:latin typeface="Consolas" pitchFamily="34" charset="0"/>
                <a:ea typeface="Consolas" pitchFamily="34" charset="-122"/>
                <a:cs typeface="Consolas" pitchFamily="34" charset="-120"/>
              </a:rPr>
              <a:t>∈ bound values ∪ {104, 2404}</a:t>
            </a:r>
            <a:endParaRPr lang="en-US" sz="780" dirty="0"/>
          </a:p>
        </p:txBody>
      </p:sp>
      <p:sp>
        <p:nvSpPr>
          <p:cNvPr id="51" name="Shape 49"/>
          <p:cNvSpPr/>
          <p:nvPr/>
        </p:nvSpPr>
        <p:spPr>
          <a:xfrm>
            <a:off x="9884664" y="2999232"/>
            <a:ext cx="804672" cy="237744"/>
          </a:xfrm>
          <a:prstGeom prst="roundRect">
            <a:avLst>
              <a:gd name="adj" fmla="val 57692"/>
            </a:avLst>
          </a:prstGeom>
          <a:solidFill>
            <a:srgbClr val="0F3D3A"/>
          </a:solidFill>
          <a:ln w="7620">
            <a:solidFill>
              <a:srgbClr val="2DD4BF"/>
            </a:solidFill>
            <a:prstDash val="solid"/>
          </a:ln>
        </p:spPr>
      </p:sp>
      <p:sp>
        <p:nvSpPr>
          <p:cNvPr id="52" name="Text 50"/>
          <p:cNvSpPr txBox="1"/>
          <p:nvPr/>
        </p:nvSpPr>
        <p:spPr>
          <a:xfrm>
            <a:off x="9884664" y="2999232"/>
            <a:ext cx="804672" cy="237744"/>
          </a:xfrm>
          <a:prstGeom prst="rect">
            <a:avLst/>
          </a:prstGeom>
          <a:noFill/>
          <a:ln/>
        </p:spPr>
        <p:txBody>
          <a:bodyPr wrap="square" lIns="0" tIns="0" rIns="0" bIns="0" rtlCol="0" anchor="ctr"/>
          <a:lstStyle/>
          <a:p>
            <a:pPr algn="ctr" indent="0" marL="0">
              <a:buNone/>
            </a:pPr>
            <a:r>
              <a:rPr lang="en-US" sz="750" b="1" dirty="0">
                <a:solidFill>
                  <a:srgbClr val="2DD4BF"/>
                </a:solidFill>
                <a:latin typeface="Consolas" pitchFamily="34" charset="0"/>
                <a:ea typeface="Consolas" pitchFamily="34" charset="-122"/>
                <a:cs typeface="Consolas" pitchFamily="34" charset="-120"/>
              </a:rPr>
              <a:t>SUPPORTED</a:t>
            </a:r>
            <a:endParaRPr lang="en-US" sz="750" dirty="0"/>
          </a:p>
        </p:txBody>
      </p:sp>
      <p:sp>
        <p:nvSpPr>
          <p:cNvPr id="53" name="Shape 51"/>
          <p:cNvSpPr/>
          <p:nvPr/>
        </p:nvSpPr>
        <p:spPr>
          <a:xfrm>
            <a:off x="10799064" y="2999232"/>
            <a:ext cx="770839" cy="237744"/>
          </a:xfrm>
          <a:prstGeom prst="roundRect">
            <a:avLst>
              <a:gd name="adj" fmla="val 57692"/>
            </a:avLst>
          </a:prstGeom>
          <a:solidFill>
            <a:srgbClr val="18233A"/>
          </a:solidFill>
          <a:ln w="7620">
            <a:solidFill>
              <a:srgbClr val="93A0B8"/>
            </a:solidFill>
            <a:prstDash val="solid"/>
          </a:ln>
        </p:spPr>
      </p:sp>
      <p:sp>
        <p:nvSpPr>
          <p:cNvPr id="54" name="Text 52"/>
          <p:cNvSpPr txBox="1"/>
          <p:nvPr/>
        </p:nvSpPr>
        <p:spPr>
          <a:xfrm>
            <a:off x="10799064" y="2999232"/>
            <a:ext cx="770839" cy="237744"/>
          </a:xfrm>
          <a:prstGeom prst="rect">
            <a:avLst/>
          </a:prstGeom>
          <a:noFill/>
          <a:ln/>
        </p:spPr>
        <p:txBody>
          <a:bodyPr wrap="square" lIns="0" tIns="0" rIns="0" bIns="0" rtlCol="0" anchor="ctr"/>
          <a:lstStyle/>
          <a:p>
            <a:pPr algn="ctr" indent="0" marL="0">
              <a:buNone/>
            </a:pPr>
            <a:r>
              <a:rPr lang="en-US" sz="800" b="1" dirty="0">
                <a:solidFill>
                  <a:srgbClr val="93A0B8"/>
                </a:solidFill>
                <a:latin typeface="Consolas" pitchFamily="34" charset="0"/>
                <a:ea typeface="Consolas" pitchFamily="34" charset="-122"/>
                <a:cs typeface="Consolas" pitchFamily="34" charset="-120"/>
              </a:rPr>
              <a:t>—</a:t>
            </a:r>
            <a:endParaRPr lang="en-US" sz="800" dirty="0"/>
          </a:p>
        </p:txBody>
      </p:sp>
      <p:sp>
        <p:nvSpPr>
          <p:cNvPr id="55" name="Shape 53"/>
          <p:cNvSpPr/>
          <p:nvPr/>
        </p:nvSpPr>
        <p:spPr>
          <a:xfrm>
            <a:off x="4206240" y="3438144"/>
            <a:ext cx="7436815" cy="640080"/>
          </a:xfrm>
          <a:prstGeom prst="rect">
            <a:avLst/>
          </a:prstGeom>
          <a:solidFill>
            <a:srgbClr val="18233A"/>
          </a:solidFill>
          <a:ln/>
        </p:spPr>
      </p:sp>
      <p:sp>
        <p:nvSpPr>
          <p:cNvPr id="56" name="Text 54"/>
          <p:cNvSpPr txBox="1"/>
          <p:nvPr/>
        </p:nvSpPr>
        <p:spPr>
          <a:xfrm>
            <a:off x="4315968" y="3474720"/>
            <a:ext cx="2103120" cy="566928"/>
          </a:xfrm>
          <a:prstGeom prst="rect">
            <a:avLst/>
          </a:prstGeom>
          <a:noFill/>
          <a:ln/>
        </p:spPr>
        <p:txBody>
          <a:bodyPr wrap="square" lIns="0" tIns="0" rIns="0" bIns="0" rtlCol="0" anchor="ctr"/>
          <a:lstStyle/>
          <a:p>
            <a:pPr algn="l" indent="0" marL="0">
              <a:buNone/>
            </a:pPr>
            <a:r>
              <a:rPr lang="en-US" sz="900" i="1" dirty="0">
                <a:solidFill>
                  <a:srgbClr val="E9EEF6"/>
                </a:solidFill>
                <a:latin typeface="Helvetica Neue" pitchFamily="34" charset="0"/>
                <a:ea typeface="Helvetica Neue" pitchFamily="34" charset="-122"/>
                <a:cs typeface="Helvetica Neue" pitchFamily="34" charset="-120"/>
              </a:rPr>
              <a:t>“This looks like a replay attack.”</a:t>
            </a:r>
            <a:endParaRPr lang="en-US" sz="900" dirty="0"/>
          </a:p>
        </p:txBody>
      </p:sp>
      <p:sp>
        <p:nvSpPr>
          <p:cNvPr id="57" name="Text 55"/>
          <p:cNvSpPr txBox="1"/>
          <p:nvPr/>
        </p:nvSpPr>
        <p:spPr>
          <a:xfrm>
            <a:off x="6565392" y="3474720"/>
            <a:ext cx="1609344" cy="566928"/>
          </a:xfrm>
          <a:prstGeom prst="rect">
            <a:avLst/>
          </a:prstGeom>
          <a:noFill/>
          <a:ln/>
        </p:spPr>
        <p:txBody>
          <a:bodyPr wrap="square" lIns="0" tIns="0" rIns="0" bIns="0" rtlCol="0" anchor="ctr"/>
          <a:lstStyle/>
          <a:p>
            <a:pPr algn="l" indent="0" marL="0">
              <a:buNone/>
            </a:pPr>
            <a:r>
              <a:rPr lang="en-US" sz="780" dirty="0">
                <a:solidFill>
                  <a:srgbClr val="C7D0DE"/>
                </a:solidFill>
                <a:latin typeface="Consolas" pitchFamily="34" charset="0"/>
                <a:ea typeface="Consolas" pitchFamily="34" charset="-122"/>
                <a:cs typeface="Consolas" pitchFamily="34" charset="-120"/>
              </a:rPr>
              <a:t>attack term “replay attack”, not negated</a:t>
            </a:r>
            <a:endParaRPr lang="en-US" sz="780" dirty="0"/>
          </a:p>
        </p:txBody>
      </p:sp>
      <p:sp>
        <p:nvSpPr>
          <p:cNvPr id="58" name="Text 56"/>
          <p:cNvSpPr txBox="1"/>
          <p:nvPr/>
        </p:nvSpPr>
        <p:spPr>
          <a:xfrm>
            <a:off x="8302752" y="3474720"/>
            <a:ext cx="1472184" cy="566928"/>
          </a:xfrm>
          <a:prstGeom prst="rect">
            <a:avLst/>
          </a:prstGeom>
          <a:noFill/>
          <a:ln/>
        </p:spPr>
        <p:txBody>
          <a:bodyPr wrap="square" lIns="0" tIns="0" rIns="0" bIns="0" rtlCol="0" anchor="ctr"/>
          <a:lstStyle/>
          <a:p>
            <a:pPr algn="l" indent="0" marL="0">
              <a:buNone/>
            </a:pPr>
            <a:r>
              <a:rPr lang="en-US" sz="780" dirty="0">
                <a:solidFill>
                  <a:srgbClr val="93A0B8"/>
                </a:solidFill>
                <a:latin typeface="Consolas" pitchFamily="34" charset="0"/>
                <a:ea typeface="Consolas" pitchFamily="34" charset="-122"/>
                <a:cs typeface="Consolas" pitchFamily="34" charset="-120"/>
              </a:rPr>
              <a:t>attack_claim_allowed = false · not an allowed claim</a:t>
            </a:r>
            <a:endParaRPr lang="en-US" sz="780" dirty="0"/>
          </a:p>
        </p:txBody>
      </p:sp>
      <p:sp>
        <p:nvSpPr>
          <p:cNvPr id="59" name="Shape 57"/>
          <p:cNvSpPr/>
          <p:nvPr/>
        </p:nvSpPr>
        <p:spPr>
          <a:xfrm>
            <a:off x="9884664" y="3639312"/>
            <a:ext cx="804672" cy="237744"/>
          </a:xfrm>
          <a:prstGeom prst="roundRect">
            <a:avLst>
              <a:gd name="adj" fmla="val 57692"/>
            </a:avLst>
          </a:prstGeom>
          <a:solidFill>
            <a:srgbClr val="4A3410"/>
          </a:solidFill>
          <a:ln w="7620">
            <a:solidFill>
              <a:srgbClr val="F5A524"/>
            </a:solidFill>
            <a:prstDash val="solid"/>
          </a:ln>
        </p:spPr>
      </p:sp>
      <p:sp>
        <p:nvSpPr>
          <p:cNvPr id="60" name="Text 58"/>
          <p:cNvSpPr txBox="1"/>
          <p:nvPr/>
        </p:nvSpPr>
        <p:spPr>
          <a:xfrm>
            <a:off x="9884664" y="3639312"/>
            <a:ext cx="804672" cy="237744"/>
          </a:xfrm>
          <a:prstGeom prst="rect">
            <a:avLst/>
          </a:prstGeom>
          <a:noFill/>
          <a:ln/>
        </p:spPr>
        <p:txBody>
          <a:bodyPr wrap="square" lIns="0" tIns="0" rIns="0" bIns="0" rtlCol="0" anchor="ctr"/>
          <a:lstStyle/>
          <a:p>
            <a:pPr algn="ctr" indent="0" marL="0">
              <a:buNone/>
            </a:pPr>
            <a:r>
              <a:rPr lang="en-US" sz="750" b="1" dirty="0">
                <a:solidFill>
                  <a:srgbClr val="F5A524"/>
                </a:solidFill>
                <a:latin typeface="Consolas" pitchFamily="34" charset="0"/>
                <a:ea typeface="Consolas" pitchFamily="34" charset="-122"/>
                <a:cs typeface="Consolas" pitchFamily="34" charset="-120"/>
              </a:rPr>
              <a:t>UNSUPPORTED</a:t>
            </a:r>
            <a:endParaRPr lang="en-US" sz="750" dirty="0"/>
          </a:p>
        </p:txBody>
      </p:sp>
      <p:sp>
        <p:nvSpPr>
          <p:cNvPr id="61" name="Shape 59"/>
          <p:cNvSpPr/>
          <p:nvPr/>
        </p:nvSpPr>
        <p:spPr>
          <a:xfrm>
            <a:off x="10799064" y="3639312"/>
            <a:ext cx="770839" cy="237744"/>
          </a:xfrm>
          <a:prstGeom prst="roundRect">
            <a:avLst>
              <a:gd name="adj" fmla="val 57692"/>
            </a:avLst>
          </a:prstGeom>
          <a:solidFill>
            <a:srgbClr val="4A1F1F"/>
          </a:solidFill>
          <a:ln w="7620">
            <a:solidFill>
              <a:srgbClr val="F0605E"/>
            </a:solidFill>
            <a:prstDash val="solid"/>
          </a:ln>
        </p:spPr>
      </p:sp>
      <p:sp>
        <p:nvSpPr>
          <p:cNvPr id="62" name="Text 60"/>
          <p:cNvSpPr txBox="1"/>
          <p:nvPr/>
        </p:nvSpPr>
        <p:spPr>
          <a:xfrm>
            <a:off x="10799064" y="3639312"/>
            <a:ext cx="770839" cy="237744"/>
          </a:xfrm>
          <a:prstGeom prst="rect">
            <a:avLst/>
          </a:prstGeom>
          <a:noFill/>
          <a:ln/>
        </p:spPr>
        <p:txBody>
          <a:bodyPr wrap="square" lIns="0" tIns="0" rIns="0" bIns="0" rtlCol="0" anchor="ctr"/>
          <a:lstStyle/>
          <a:p>
            <a:pPr algn="ctr" indent="0" marL="0">
              <a:buNone/>
            </a:pPr>
            <a:r>
              <a:rPr lang="en-US" sz="800" b="1" dirty="0">
                <a:solidFill>
                  <a:srgbClr val="F0605E"/>
                </a:solidFill>
                <a:latin typeface="Consolas" pitchFamily="34" charset="0"/>
                <a:ea typeface="Consolas" pitchFamily="34" charset="-122"/>
                <a:cs typeface="Consolas" pitchFamily="34" charset="-120"/>
              </a:rPr>
              <a:t>V1 · HIGH</a:t>
            </a:r>
            <a:endParaRPr lang="en-US" sz="800" dirty="0"/>
          </a:p>
        </p:txBody>
      </p:sp>
      <p:sp>
        <p:nvSpPr>
          <p:cNvPr id="63" name="Shape 61"/>
          <p:cNvSpPr/>
          <p:nvPr/>
        </p:nvSpPr>
        <p:spPr>
          <a:xfrm>
            <a:off x="4206240" y="4078224"/>
            <a:ext cx="7436815" cy="640080"/>
          </a:xfrm>
          <a:prstGeom prst="rect">
            <a:avLst/>
          </a:prstGeom>
          <a:solidFill>
            <a:srgbClr val="121B2E"/>
          </a:solidFill>
          <a:ln/>
        </p:spPr>
      </p:sp>
      <p:sp>
        <p:nvSpPr>
          <p:cNvPr id="64" name="Text 62"/>
          <p:cNvSpPr txBox="1"/>
          <p:nvPr/>
        </p:nvSpPr>
        <p:spPr>
          <a:xfrm>
            <a:off x="4315968" y="4114800"/>
            <a:ext cx="2103120" cy="566928"/>
          </a:xfrm>
          <a:prstGeom prst="rect">
            <a:avLst/>
          </a:prstGeom>
          <a:noFill/>
          <a:ln/>
        </p:spPr>
        <p:txBody>
          <a:bodyPr wrap="square" lIns="0" tIns="0" rIns="0" bIns="0" rtlCol="0" anchor="ctr"/>
          <a:lstStyle/>
          <a:p>
            <a:pPr algn="l" indent="0" marL="0">
              <a:buNone/>
            </a:pPr>
            <a:r>
              <a:rPr lang="en-US" sz="900" i="1" dirty="0">
                <a:solidFill>
                  <a:srgbClr val="E9EEF6"/>
                </a:solidFill>
                <a:latin typeface="Helvetica Neue" pitchFamily="34" charset="0"/>
                <a:ea typeface="Helvetica Neue" pitchFamily="34" charset="-122"/>
                <a:cs typeface="Helvetica Neue" pitchFamily="34" charset="-120"/>
              </a:rPr>
              <a:t>“Traffic goes from device 2 to device 1.”</a:t>
            </a:r>
            <a:endParaRPr lang="en-US" sz="900" dirty="0"/>
          </a:p>
        </p:txBody>
      </p:sp>
      <p:sp>
        <p:nvSpPr>
          <p:cNvPr id="65" name="Text 63"/>
          <p:cNvSpPr txBox="1"/>
          <p:nvPr/>
        </p:nvSpPr>
        <p:spPr>
          <a:xfrm>
            <a:off x="6565392" y="4114800"/>
            <a:ext cx="1609344" cy="566928"/>
          </a:xfrm>
          <a:prstGeom prst="rect">
            <a:avLst/>
          </a:prstGeom>
          <a:noFill/>
          <a:ln/>
        </p:spPr>
        <p:txBody>
          <a:bodyPr wrap="square" lIns="0" tIns="0" rIns="0" bIns="0" rtlCol="0" anchor="ctr"/>
          <a:lstStyle/>
          <a:p>
            <a:pPr algn="l" indent="0" marL="0">
              <a:buNone/>
            </a:pPr>
            <a:r>
              <a:rPr lang="en-US" sz="780" dirty="0">
                <a:solidFill>
                  <a:srgbClr val="C7D0DE"/>
                </a:solidFill>
                <a:latin typeface="Consolas" pitchFamily="34" charset="0"/>
                <a:ea typeface="Consolas" pitchFamily="34" charset="-122"/>
                <a:cs typeface="Consolas" pitchFamily="34" charset="-120"/>
              </a:rPr>
              <a:t>direction 2 → 1 (server_to_client)</a:t>
            </a:r>
            <a:endParaRPr lang="en-US" sz="780" dirty="0"/>
          </a:p>
        </p:txBody>
      </p:sp>
      <p:sp>
        <p:nvSpPr>
          <p:cNvPr id="66" name="Text 64"/>
          <p:cNvSpPr txBox="1"/>
          <p:nvPr/>
        </p:nvSpPr>
        <p:spPr>
          <a:xfrm>
            <a:off x="8302752" y="4114800"/>
            <a:ext cx="1472184" cy="566928"/>
          </a:xfrm>
          <a:prstGeom prst="rect">
            <a:avLst/>
          </a:prstGeom>
          <a:noFill/>
          <a:ln/>
        </p:spPr>
        <p:txBody>
          <a:bodyPr wrap="square" lIns="0" tIns="0" rIns="0" bIns="0" rtlCol="0" anchor="ctr"/>
          <a:lstStyle/>
          <a:p>
            <a:pPr algn="l" indent="0" marL="0">
              <a:buNone/>
            </a:pPr>
            <a:r>
              <a:rPr lang="en-US" sz="780" dirty="0">
                <a:solidFill>
                  <a:srgbClr val="93A0B8"/>
                </a:solidFill>
                <a:latin typeface="Consolas" pitchFamily="34" charset="0"/>
                <a:ea typeface="Consolas" pitchFamily="34" charset="-122"/>
                <a:cs typeface="Consolas" pitchFamily="34" charset="-120"/>
              </a:rPr>
              <a:t>bound: client_to_server, 1 → 2</a:t>
            </a:r>
            <a:endParaRPr lang="en-US" sz="780" dirty="0"/>
          </a:p>
        </p:txBody>
      </p:sp>
      <p:sp>
        <p:nvSpPr>
          <p:cNvPr id="67" name="Shape 65"/>
          <p:cNvSpPr/>
          <p:nvPr/>
        </p:nvSpPr>
        <p:spPr>
          <a:xfrm>
            <a:off x="9884664" y="4279392"/>
            <a:ext cx="804672" cy="237744"/>
          </a:xfrm>
          <a:prstGeom prst="roundRect">
            <a:avLst>
              <a:gd name="adj" fmla="val 57692"/>
            </a:avLst>
          </a:prstGeom>
          <a:solidFill>
            <a:srgbClr val="4A1F1F"/>
          </a:solidFill>
          <a:ln w="7620">
            <a:solidFill>
              <a:srgbClr val="F0605E"/>
            </a:solidFill>
            <a:prstDash val="solid"/>
          </a:ln>
        </p:spPr>
      </p:sp>
      <p:sp>
        <p:nvSpPr>
          <p:cNvPr id="68" name="Text 66"/>
          <p:cNvSpPr txBox="1"/>
          <p:nvPr/>
        </p:nvSpPr>
        <p:spPr>
          <a:xfrm>
            <a:off x="9884664" y="4279392"/>
            <a:ext cx="804672" cy="237744"/>
          </a:xfrm>
          <a:prstGeom prst="rect">
            <a:avLst/>
          </a:prstGeom>
          <a:noFill/>
          <a:ln/>
        </p:spPr>
        <p:txBody>
          <a:bodyPr wrap="square" lIns="0" tIns="0" rIns="0" bIns="0" rtlCol="0" anchor="ctr"/>
          <a:lstStyle/>
          <a:p>
            <a:pPr algn="ctr" indent="0" marL="0">
              <a:buNone/>
            </a:pPr>
            <a:r>
              <a:rPr lang="en-US" sz="750" b="1" dirty="0">
                <a:solidFill>
                  <a:srgbClr val="F0605E"/>
                </a:solidFill>
                <a:latin typeface="Consolas" pitchFamily="34" charset="0"/>
                <a:ea typeface="Consolas" pitchFamily="34" charset="-122"/>
                <a:cs typeface="Consolas" pitchFamily="34" charset="-120"/>
              </a:rPr>
              <a:t>CONTRADICTED</a:t>
            </a:r>
            <a:endParaRPr lang="en-US" sz="750" dirty="0"/>
          </a:p>
        </p:txBody>
      </p:sp>
      <p:sp>
        <p:nvSpPr>
          <p:cNvPr id="69" name="Shape 67"/>
          <p:cNvSpPr/>
          <p:nvPr/>
        </p:nvSpPr>
        <p:spPr>
          <a:xfrm>
            <a:off x="10799064" y="4279392"/>
            <a:ext cx="770839" cy="237744"/>
          </a:xfrm>
          <a:prstGeom prst="roundRect">
            <a:avLst>
              <a:gd name="adj" fmla="val 57692"/>
            </a:avLst>
          </a:prstGeom>
          <a:solidFill>
            <a:srgbClr val="4A1F1F"/>
          </a:solidFill>
          <a:ln w="7620">
            <a:solidFill>
              <a:srgbClr val="F0605E"/>
            </a:solidFill>
            <a:prstDash val="solid"/>
          </a:ln>
        </p:spPr>
      </p:sp>
      <p:sp>
        <p:nvSpPr>
          <p:cNvPr id="70" name="Text 68"/>
          <p:cNvSpPr txBox="1"/>
          <p:nvPr/>
        </p:nvSpPr>
        <p:spPr>
          <a:xfrm>
            <a:off x="10799064" y="4279392"/>
            <a:ext cx="770839" cy="237744"/>
          </a:xfrm>
          <a:prstGeom prst="rect">
            <a:avLst/>
          </a:prstGeom>
          <a:noFill/>
          <a:ln/>
        </p:spPr>
        <p:txBody>
          <a:bodyPr wrap="square" lIns="0" tIns="0" rIns="0" bIns="0" rtlCol="0" anchor="ctr"/>
          <a:lstStyle/>
          <a:p>
            <a:pPr algn="ctr" indent="0" marL="0">
              <a:buNone/>
            </a:pPr>
            <a:r>
              <a:rPr lang="en-US" sz="800" b="1" dirty="0">
                <a:solidFill>
                  <a:srgbClr val="F0605E"/>
                </a:solidFill>
                <a:latin typeface="Consolas" pitchFamily="34" charset="0"/>
                <a:ea typeface="Consolas" pitchFamily="34" charset="-122"/>
                <a:cs typeface="Consolas" pitchFamily="34" charset="-120"/>
              </a:rPr>
              <a:t>V2 · HIGH</a:t>
            </a:r>
            <a:endParaRPr lang="en-US" sz="800" dirty="0"/>
          </a:p>
        </p:txBody>
      </p:sp>
      <p:sp>
        <p:nvSpPr>
          <p:cNvPr id="71" name="Shape 69"/>
          <p:cNvSpPr/>
          <p:nvPr/>
        </p:nvSpPr>
        <p:spPr>
          <a:xfrm>
            <a:off x="4206240" y="4718304"/>
            <a:ext cx="7436815" cy="640080"/>
          </a:xfrm>
          <a:prstGeom prst="rect">
            <a:avLst/>
          </a:prstGeom>
          <a:solidFill>
            <a:srgbClr val="18233A"/>
          </a:solidFill>
          <a:ln/>
        </p:spPr>
      </p:sp>
      <p:sp>
        <p:nvSpPr>
          <p:cNvPr id="72" name="Text 70"/>
          <p:cNvSpPr txBox="1"/>
          <p:nvPr/>
        </p:nvSpPr>
        <p:spPr>
          <a:xfrm>
            <a:off x="4315968" y="4754880"/>
            <a:ext cx="2103120" cy="566928"/>
          </a:xfrm>
          <a:prstGeom prst="rect">
            <a:avLst/>
          </a:prstGeom>
          <a:noFill/>
          <a:ln/>
        </p:spPr>
        <p:txBody>
          <a:bodyPr wrap="square" lIns="0" tIns="0" rIns="0" bIns="0" rtlCol="0" anchor="ctr"/>
          <a:lstStyle/>
          <a:p>
            <a:pPr algn="l" indent="0" marL="0">
              <a:buNone/>
            </a:pPr>
            <a:r>
              <a:rPr lang="en-US" sz="900" i="1" dirty="0">
                <a:solidFill>
                  <a:srgbClr val="E9EEF6"/>
                </a:solidFill>
                <a:latin typeface="Helvetica Neue" pitchFamily="34" charset="0"/>
                <a:ea typeface="Helvetica Neue" pitchFamily="34" charset="-122"/>
                <a:cs typeface="Helvetica Neue" pitchFamily="34" charset="-120"/>
              </a:rPr>
              <a:t>( port and ASDU fields never mentioned )</a:t>
            </a:r>
            <a:endParaRPr lang="en-US" sz="900" dirty="0"/>
          </a:p>
        </p:txBody>
      </p:sp>
      <p:sp>
        <p:nvSpPr>
          <p:cNvPr id="73" name="Text 71"/>
          <p:cNvSpPr txBox="1"/>
          <p:nvPr/>
        </p:nvSpPr>
        <p:spPr>
          <a:xfrm>
            <a:off x="6565392" y="4754880"/>
            <a:ext cx="1609344" cy="566928"/>
          </a:xfrm>
          <a:prstGeom prst="rect">
            <a:avLst/>
          </a:prstGeom>
          <a:noFill/>
          <a:ln/>
        </p:spPr>
        <p:txBody>
          <a:bodyPr wrap="square" lIns="0" tIns="0" rIns="0" bIns="0" rtlCol="0" anchor="ctr"/>
          <a:lstStyle/>
          <a:p>
            <a:pPr algn="l" indent="0" marL="0">
              <a:buNone/>
            </a:pPr>
            <a:r>
              <a:rPr lang="en-US" sz="780" dirty="0">
                <a:solidFill>
                  <a:srgbClr val="C7D0DE"/>
                </a:solidFill>
                <a:latin typeface="Consolas" pitchFamily="34" charset="0"/>
                <a:ea typeface="Consolas" pitchFamily="34" charset="-122"/>
                <a:cs typeface="Consolas" pitchFamily="34" charset="-120"/>
              </a:rPr>
              <a:t>required references: port, ASDU</a:t>
            </a:r>
            <a:endParaRPr lang="en-US" sz="780" dirty="0"/>
          </a:p>
        </p:txBody>
      </p:sp>
      <p:sp>
        <p:nvSpPr>
          <p:cNvPr id="74" name="Text 72"/>
          <p:cNvSpPr txBox="1"/>
          <p:nvPr/>
        </p:nvSpPr>
        <p:spPr>
          <a:xfrm>
            <a:off x="8302752" y="4754880"/>
            <a:ext cx="1472184" cy="566928"/>
          </a:xfrm>
          <a:prstGeom prst="rect">
            <a:avLst/>
          </a:prstGeom>
          <a:noFill/>
          <a:ln/>
        </p:spPr>
        <p:txBody>
          <a:bodyPr wrap="square" lIns="0" tIns="0" rIns="0" bIns="0" rtlCol="0" anchor="ctr"/>
          <a:lstStyle/>
          <a:p>
            <a:pPr algn="l" indent="0" marL="0">
              <a:buNone/>
            </a:pPr>
            <a:r>
              <a:rPr lang="en-US" sz="780" dirty="0">
                <a:solidFill>
                  <a:srgbClr val="93A0B8"/>
                </a:solidFill>
                <a:latin typeface="Consolas" pitchFamily="34" charset="0"/>
                <a:ea typeface="Consolas" pitchFamily="34" charset="-122"/>
                <a:cs typeface="Consolas" pitchFamily="34" charset="-120"/>
              </a:rPr>
              <a:t>required claim absent</a:t>
            </a:r>
            <a:endParaRPr lang="en-US" sz="780" dirty="0"/>
          </a:p>
        </p:txBody>
      </p:sp>
      <p:sp>
        <p:nvSpPr>
          <p:cNvPr id="75" name="Shape 73"/>
          <p:cNvSpPr/>
          <p:nvPr/>
        </p:nvSpPr>
        <p:spPr>
          <a:xfrm>
            <a:off x="9884664" y="4919472"/>
            <a:ext cx="804672" cy="237744"/>
          </a:xfrm>
          <a:prstGeom prst="roundRect">
            <a:avLst>
              <a:gd name="adj" fmla="val 57692"/>
            </a:avLst>
          </a:prstGeom>
          <a:solidFill>
            <a:srgbClr val="18233A"/>
          </a:solidFill>
          <a:ln w="7620">
            <a:solidFill>
              <a:srgbClr val="93A0B8"/>
            </a:solidFill>
            <a:prstDash val="solid"/>
          </a:ln>
        </p:spPr>
      </p:sp>
      <p:sp>
        <p:nvSpPr>
          <p:cNvPr id="76" name="Text 74"/>
          <p:cNvSpPr txBox="1"/>
          <p:nvPr/>
        </p:nvSpPr>
        <p:spPr>
          <a:xfrm>
            <a:off x="9884664" y="4919472"/>
            <a:ext cx="804672" cy="237744"/>
          </a:xfrm>
          <a:prstGeom prst="rect">
            <a:avLst/>
          </a:prstGeom>
          <a:noFill/>
          <a:ln/>
        </p:spPr>
        <p:txBody>
          <a:bodyPr wrap="square" lIns="0" tIns="0" rIns="0" bIns="0" rtlCol="0" anchor="ctr"/>
          <a:lstStyle/>
          <a:p>
            <a:pPr algn="ctr" indent="0" marL="0">
              <a:buNone/>
            </a:pPr>
            <a:r>
              <a:rPr lang="en-US" sz="750" b="1" dirty="0">
                <a:solidFill>
                  <a:srgbClr val="93A0B8"/>
                </a:solidFill>
                <a:latin typeface="Consolas" pitchFamily="34" charset="0"/>
                <a:ea typeface="Consolas" pitchFamily="34" charset="-122"/>
                <a:cs typeface="Consolas" pitchFamily="34" charset="-120"/>
              </a:rPr>
              <a:t>MISSING</a:t>
            </a:r>
            <a:endParaRPr lang="en-US" sz="750" dirty="0"/>
          </a:p>
        </p:txBody>
      </p:sp>
      <p:sp>
        <p:nvSpPr>
          <p:cNvPr id="77" name="Shape 75"/>
          <p:cNvSpPr/>
          <p:nvPr/>
        </p:nvSpPr>
        <p:spPr>
          <a:xfrm>
            <a:off x="10799064" y="4919472"/>
            <a:ext cx="770839" cy="237744"/>
          </a:xfrm>
          <a:prstGeom prst="roundRect">
            <a:avLst>
              <a:gd name="adj" fmla="val 57692"/>
            </a:avLst>
          </a:prstGeom>
          <a:solidFill>
            <a:srgbClr val="4A3410"/>
          </a:solidFill>
          <a:ln w="7620">
            <a:solidFill>
              <a:srgbClr val="F5A524"/>
            </a:solidFill>
            <a:prstDash val="solid"/>
          </a:ln>
        </p:spPr>
      </p:sp>
      <p:sp>
        <p:nvSpPr>
          <p:cNvPr id="78" name="Text 76"/>
          <p:cNvSpPr txBox="1"/>
          <p:nvPr/>
        </p:nvSpPr>
        <p:spPr>
          <a:xfrm>
            <a:off x="10799064" y="4919472"/>
            <a:ext cx="770839" cy="237744"/>
          </a:xfrm>
          <a:prstGeom prst="rect">
            <a:avLst/>
          </a:prstGeom>
          <a:noFill/>
          <a:ln/>
        </p:spPr>
        <p:txBody>
          <a:bodyPr wrap="square" lIns="0" tIns="0" rIns="0" bIns="0" rtlCol="0" anchor="ctr"/>
          <a:lstStyle/>
          <a:p>
            <a:pPr algn="ctr" indent="0" marL="0">
              <a:buNone/>
            </a:pPr>
            <a:r>
              <a:rPr lang="en-US" sz="800" b="1" dirty="0">
                <a:solidFill>
                  <a:srgbClr val="F5A524"/>
                </a:solidFill>
                <a:latin typeface="Consolas" pitchFamily="34" charset="0"/>
                <a:ea typeface="Consolas" pitchFamily="34" charset="-122"/>
                <a:cs typeface="Consolas" pitchFamily="34" charset="-120"/>
              </a:rPr>
              <a:t>V4 · LOW</a:t>
            </a:r>
            <a:endParaRPr lang="en-US" sz="800" dirty="0"/>
          </a:p>
        </p:txBody>
      </p:sp>
      <p:sp>
        <p:nvSpPr>
          <p:cNvPr id="79" name="Shape 77"/>
          <p:cNvSpPr/>
          <p:nvPr/>
        </p:nvSpPr>
        <p:spPr>
          <a:xfrm>
            <a:off x="4206240" y="5486400"/>
            <a:ext cx="7436815" cy="566928"/>
          </a:xfrm>
          <a:prstGeom prst="roundRect">
            <a:avLst>
              <a:gd name="adj" fmla="val 12903"/>
            </a:avLst>
          </a:prstGeom>
          <a:solidFill>
            <a:srgbClr val="18233A"/>
          </a:solidFill>
          <a:ln w="9525">
            <a:solidFill>
              <a:srgbClr val="1E2A42"/>
            </a:solidFill>
            <a:prstDash val="solid"/>
          </a:ln>
        </p:spPr>
      </p:sp>
      <p:sp>
        <p:nvSpPr>
          <p:cNvPr id="80" name="Text 78"/>
          <p:cNvSpPr txBox="1"/>
          <p:nvPr/>
        </p:nvSpPr>
        <p:spPr>
          <a:xfrm>
            <a:off x="4370832" y="5486400"/>
            <a:ext cx="7162495" cy="566928"/>
          </a:xfrm>
          <a:prstGeom prst="rect">
            <a:avLst/>
          </a:prstGeom>
          <a:noFill/>
          <a:ln/>
        </p:spPr>
        <p:txBody>
          <a:bodyPr wrap="square" lIns="0" tIns="0" rIns="0" bIns="0" rtlCol="0" anchor="ctr"/>
          <a:lstStyle/>
          <a:p>
            <a:pPr algn="l" indent="0" marL="0">
              <a:buNone/>
            </a:pPr>
            <a:r>
              <a:rPr lang="en-US" sz="900" dirty="0">
                <a:solidFill>
                  <a:srgbClr val="C7D0DE"/>
                </a:solidFill>
                <a:latin typeface="Consolas" pitchFamily="34" charset="0"/>
                <a:ea typeface="Consolas" pitchFamily="34" charset="-122"/>
                <a:cs typeface="Consolas" pitchFamily="34" charset="-120"/>
              </a:rPr>
              <a:t>Result  </a:t>
            </a:r>
            <a:pPr algn="l" indent="0" marL="0">
              <a:buNone/>
            </a:pPr>
            <a:r>
              <a:rPr lang="en-US" sz="1050" dirty="0">
                <a:solidFill>
                  <a:srgbClr val="93A0B8"/>
                </a:solidFill>
                <a:latin typeface="Helvetica Neue" pitchFamily="34" charset="0"/>
                <a:ea typeface="Helvetica Neue" pitchFamily="34" charset="-122"/>
                <a:cs typeface="Helvetica Neue" pitchFamily="34" charset="-120"/>
              </a:rPr>
              <a:t>violations {V1, V2, V4} → severity </a:t>
            </a:r>
            <a:pPr algn="l" indent="0" marL="0">
              <a:buNone/>
            </a:pPr>
            <a:r>
              <a:rPr lang="en-US" sz="1050" b="1" dirty="0">
                <a:solidFill>
                  <a:srgbClr val="F0605E"/>
                </a:solidFill>
                <a:latin typeface="Helvetica Neue" pitchFamily="34" charset="0"/>
                <a:ea typeface="Helvetica Neue" pitchFamily="34" charset="-122"/>
                <a:cs typeface="Helvetica Neue" pitchFamily="34" charset="-120"/>
              </a:rPr>
              <a:t>HIGH</a:t>
            </a:r>
            <a:pPr algn="l" indent="0" marL="0">
              <a:buNone/>
            </a:pPr>
            <a:r>
              <a:rPr lang="en-US" sz="1050" dirty="0">
                <a:solidFill>
                  <a:srgbClr val="93A0B8"/>
                </a:solidFill>
                <a:latin typeface="Helvetica Neue" pitchFamily="34" charset="0"/>
                <a:ea typeface="Helvetica Neue" pitchFamily="34" charset="-122"/>
                <a:cs typeface="Helvetica Neue" pitchFamily="34" charset="-120"/>
              </a:rPr>
              <a:t>   ·   the faithful five-sentence version (adds ASDU + proxy caveat, drops 3–4) → </a:t>
            </a:r>
            <a:pPr algn="l" indent="0" marL="0">
              <a:buNone/>
            </a:pPr>
            <a:r>
              <a:rPr lang="en-US" sz="1050" b="1" dirty="0">
                <a:solidFill>
                  <a:srgbClr val="2DD4BF"/>
                </a:solidFill>
                <a:latin typeface="Helvetica Neue" pitchFamily="34" charset="0"/>
                <a:ea typeface="Helvetica Neue" pitchFamily="34" charset="-122"/>
                <a:cs typeface="Helvetica Neue" pitchFamily="34" charset="-120"/>
              </a:rPr>
              <a:t>NONE</a:t>
            </a:r>
            <a:endParaRPr lang="en-US" sz="900" dirty="0"/>
          </a:p>
        </p:txBody>
      </p:sp>
      <p:sp>
        <p:nvSpPr>
          <p:cNvPr id="81" name="Text 79"/>
          <p:cNvSpPr txBox="1"/>
          <p:nvPr/>
        </p:nvSpPr>
        <p:spPr>
          <a:xfrm>
            <a:off x="4206240" y="6144768"/>
            <a:ext cx="7436815" cy="274320"/>
          </a:xfrm>
          <a:prstGeom prst="rect">
            <a:avLst/>
          </a:prstGeom>
          <a:noFill/>
          <a:ln/>
        </p:spPr>
        <p:txBody>
          <a:bodyPr wrap="square" lIns="0" tIns="0" rIns="0" bIns="0" rtlCol="0" anchor="t"/>
          <a:lstStyle/>
          <a:p>
            <a:pPr algn="l" indent="0" marL="0">
              <a:buNone/>
            </a:pPr>
            <a:r>
              <a:rPr lang="en-US" sz="950" i="1" dirty="0">
                <a:solidFill>
                  <a:srgbClr val="93A0B8"/>
                </a:solidFill>
                <a:latin typeface="Helvetica Neue" pitchFamily="34" charset="0"/>
                <a:ea typeface="Helvetica Neue" pitchFamily="34" charset="-122"/>
                <a:cs typeface="Helvetica Neue" pitchFamily="34" charset="-120"/>
              </a:rPr>
              <a:t>Deterministic: the same explanation always yields the same claims and the same verdict — there is no sampling variance in the verifier.</a:t>
            </a:r>
            <a:endParaRPr lang="en-US" sz="9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indent="0" marL="0">
              <a:buNone/>
            </a:pPr>
            <a:r>
              <a:rPr lang="en-US" sz="1050" spc="200" kern="0" dirty="0">
                <a:solidFill>
                  <a:srgbClr val="2DD4BF"/>
                </a:solidFill>
                <a:latin typeface="Consolas" pitchFamily="34" charset="0"/>
                <a:ea typeface="Consolas" pitchFamily="34" charset="-122"/>
                <a:cs typeface="Consolas" pitchFamily="34" charset="-120"/>
              </a:rPr>
              <a:t>08 · EXPERIMENTAL SETUP</a:t>
            </a:r>
            <a:endParaRPr lang="en-US" sz="1050" dirty="0"/>
          </a:p>
        </p:txBody>
      </p:sp>
      <p:sp>
        <p:nvSpPr>
          <p:cNvPr id="3" name="Text 1"/>
          <p:cNvSpPr txBox="1"/>
          <p:nvPr/>
        </p:nvSpPr>
        <p:spPr>
          <a:xfrm>
            <a:off x="548640" y="603504"/>
            <a:ext cx="11094415" cy="566928"/>
          </a:xfrm>
          <a:prstGeom prst="rect">
            <a:avLst/>
          </a:prstGeom>
          <a:noFill/>
          <a:ln/>
        </p:spPr>
        <p:txBody>
          <a:bodyPr wrap="square" lIns="0" tIns="0" rIns="0" bIns="0" rtlCol="0" anchor="t"/>
          <a:lstStyle/>
          <a:p>
            <a:pPr indent="0" marL="0">
              <a:buNone/>
            </a:pPr>
            <a:r>
              <a:rPr lang="en-US" sz="2350" b="1" dirty="0">
                <a:solidFill>
                  <a:srgbClr val="E9EEF6"/>
                </a:solidFill>
                <a:latin typeface="Helvetica Neue" pitchFamily="34" charset="0"/>
                <a:ea typeface="Helvetica Neue" pitchFamily="34" charset="-122"/>
                <a:cs typeface="Helvetica Neue" pitchFamily="34" charset="-120"/>
              </a:rPr>
              <a:t>One strict prompt, five LLMs, four event types — 1,000 verdicts</a:t>
            </a:r>
            <a:endParaRPr lang="en-US" sz="235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350" dirty="0">
                <a:solidFill>
                  <a:srgbClr val="93A0B8"/>
                </a:solidFill>
                <a:latin typeface="Helvetica Neue" pitchFamily="34" charset="0"/>
                <a:ea typeface="Helvetica Neue" pitchFamily="34" charset="-122"/>
                <a:cs typeface="Helvetica Neue" pitchFamily="34" charset="-120"/>
              </a:rPr>
              <a:t>Everything is reproducible from configuration: fixed seed, fixed sampling parameters, MLflow runs and a public repository (Appendix C).</a:t>
            </a:r>
            <a:endParaRPr lang="en-US" sz="1350" dirty="0"/>
          </a:p>
        </p:txBody>
      </p:sp>
      <p:sp>
        <p:nvSpPr>
          <p:cNvPr id="5" name="Text 3"/>
          <p:cNvSpPr txBox="1"/>
          <p:nvPr/>
        </p:nvSpPr>
        <p:spPr>
          <a:xfrm>
            <a:off x="548640" y="6473952"/>
            <a:ext cx="8778240" cy="219456"/>
          </a:xfrm>
          <a:prstGeom prst="rect">
            <a:avLst/>
          </a:prstGeom>
          <a:noFill/>
          <a:ln/>
        </p:spPr>
        <p:txBody>
          <a:bodyPr wrap="square" lIns="0" tIns="0" rIns="0" bIns="0" rtlCol="0" anchor="ctr"/>
          <a:lstStyle/>
          <a:p>
            <a:pPr indent="0" marL="0">
              <a:buNone/>
            </a:pPr>
            <a:r>
              <a:rPr lang="en-US" sz="850" dirty="0">
                <a:solidFill>
                  <a:srgbClr val="5C6A85"/>
                </a:solidFill>
                <a:latin typeface="Helvetica Neue" pitchFamily="34" charset="0"/>
                <a:ea typeface="Helvetica Neue" pitchFamily="34" charset="-122"/>
                <a:cs typeface="Helvetica Neue" pitchFamily="34" charset="-120"/>
              </a:rPr>
              <a:t>ReasonGuard  ·  Runtime Verification of AI Reasoning Faithfulness  ·  R. Bilalov  ·  SRH University Hamburg / FIT VUT Brno</a:t>
            </a:r>
            <a:endParaRPr lang="en-US" sz="850" dirty="0"/>
          </a:p>
        </p:txBody>
      </p:sp>
      <p:sp>
        <p:nvSpPr>
          <p:cNvPr id="6" name="Text 4"/>
          <p:cNvSpPr txBox="1"/>
          <p:nvPr/>
        </p:nvSpPr>
        <p:spPr>
          <a:xfrm>
            <a:off x="548640" y="6272784"/>
            <a:ext cx="9997135" cy="201168"/>
          </a:xfrm>
          <a:prstGeom prst="rect">
            <a:avLst/>
          </a:prstGeom>
          <a:noFill/>
          <a:ln/>
        </p:spPr>
        <p:txBody>
          <a:bodyPr wrap="square" lIns="0" tIns="0" rIns="0" bIns="0" rtlCol="0" anchor="ctr"/>
          <a:lstStyle/>
          <a:p>
            <a:pPr indent="0" marL="0">
              <a:buNone/>
            </a:pPr>
            <a:r>
              <a:rPr lang="en-US" sz="850" i="1" dirty="0">
                <a:solidFill>
                  <a:srgbClr val="5C6A85"/>
                </a:solidFill>
                <a:latin typeface="Helvetica Neue" pitchFamily="34" charset="0"/>
                <a:ea typeface="Helvetica Neue" pitchFamily="34" charset="-122"/>
                <a:cs typeface="Helvetica Neue" pitchFamily="34" charset="-120"/>
              </a:rPr>
              <a:t>Data: Matoušek, Ryšavý &amp; Grofčík (2022), ICS dataset for smart grid anomaly detection, IEEE DataPort. Modbus dataset (Ryšavý &amp; Matoušek, 2021) not used — future work.</a:t>
            </a:r>
            <a:endParaRPr lang="en-US" sz="850" dirty="0"/>
          </a:p>
        </p:txBody>
      </p:sp>
      <p:sp>
        <p:nvSpPr>
          <p:cNvPr id="7" name="Text 5"/>
          <p:cNvSpPr txBox="1"/>
          <p:nvPr/>
        </p:nvSpPr>
        <p:spPr>
          <a:xfrm>
            <a:off x="10545775" y="6473952"/>
            <a:ext cx="1097280" cy="219456"/>
          </a:xfrm>
          <a:prstGeom prst="rect">
            <a:avLst/>
          </a:prstGeom>
          <a:noFill/>
          <a:ln/>
        </p:spPr>
        <p:txBody>
          <a:bodyPr wrap="square" lIns="0" tIns="0" rIns="0" bIns="0" rtlCol="0" anchor="ctr"/>
          <a:lstStyle/>
          <a:p>
            <a:pPr algn="r" indent="0" marL="0">
              <a:buNone/>
            </a:pPr>
            <a:r>
              <a:rPr lang="en-US" sz="900" dirty="0">
                <a:solidFill>
                  <a:srgbClr val="5C6A85"/>
                </a:solidFill>
                <a:latin typeface="Consolas" pitchFamily="34" charset="0"/>
                <a:ea typeface="Consolas" pitchFamily="34" charset="-122"/>
                <a:cs typeface="Consolas" pitchFamily="34" charset="-120"/>
              </a:rPr>
              <a:t>9 / 18</a:t>
            </a:r>
            <a:endParaRPr lang="en-US" sz="900" dirty="0"/>
          </a:p>
        </p:txBody>
      </p:sp>
      <p:sp>
        <p:nvSpPr>
          <p:cNvPr id="8" name="Shape 6"/>
          <p:cNvSpPr/>
          <p:nvPr/>
        </p:nvSpPr>
        <p:spPr>
          <a:xfrm>
            <a:off x="548640" y="1810512"/>
            <a:ext cx="2650160" cy="3310128"/>
          </a:xfrm>
          <a:prstGeom prst="roundRect">
            <a:avLst>
              <a:gd name="adj" fmla="val 2760"/>
            </a:avLst>
          </a:prstGeom>
          <a:solidFill>
            <a:srgbClr val="121B2E"/>
          </a:solidFill>
          <a:ln w="9525">
            <a:solidFill>
              <a:srgbClr val="2A3752"/>
            </a:solidFill>
            <a:prstDash val="solid"/>
          </a:ln>
        </p:spPr>
      </p:sp>
      <p:sp>
        <p:nvSpPr>
          <p:cNvPr id="9" name="Text 7"/>
          <p:cNvSpPr txBox="1"/>
          <p:nvPr/>
        </p:nvSpPr>
        <p:spPr>
          <a:xfrm>
            <a:off x="731520" y="1956816"/>
            <a:ext cx="2284400" cy="219456"/>
          </a:xfrm>
          <a:prstGeom prst="rect">
            <a:avLst/>
          </a:prstGeom>
          <a:noFill/>
          <a:ln/>
        </p:spPr>
        <p:txBody>
          <a:bodyPr wrap="square" lIns="0" tIns="0" rIns="0" bIns="0" rtlCol="0" anchor="t"/>
          <a:lstStyle/>
          <a:p>
            <a:pPr algn="l" indent="0" marL="0">
              <a:buNone/>
            </a:pPr>
            <a:r>
              <a:rPr lang="en-US" sz="950" spc="100" kern="0" dirty="0">
                <a:solidFill>
                  <a:srgbClr val="2DD4BF"/>
                </a:solidFill>
                <a:latin typeface="Consolas" pitchFamily="34" charset="0"/>
                <a:ea typeface="Consolas" pitchFamily="34" charset="-122"/>
                <a:cs typeface="Consolas" pitchFamily="34" charset="-120"/>
              </a:rPr>
              <a:t>DATA</a:t>
            </a:r>
            <a:endParaRPr lang="en-US" sz="950" dirty="0"/>
          </a:p>
        </p:txBody>
      </p:sp>
      <p:sp>
        <p:nvSpPr>
          <p:cNvPr id="10" name="Text 8"/>
          <p:cNvSpPr txBox="1"/>
          <p:nvPr/>
        </p:nvSpPr>
        <p:spPr>
          <a:xfrm>
            <a:off x="731520" y="2267712"/>
            <a:ext cx="228440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IEC-104 smart-grid traffic</a:t>
            </a:r>
            <a:endParaRPr lang="en-US" sz="1050" dirty="0"/>
          </a:p>
        </p:txBody>
      </p:sp>
      <p:sp>
        <p:nvSpPr>
          <p:cNvPr id="11" name="Text 9"/>
          <p:cNvSpPr txBox="1"/>
          <p:nvPr/>
        </p:nvSpPr>
        <p:spPr>
          <a:xfrm>
            <a:off x="731520" y="2514600"/>
            <a:ext cx="2284400" cy="356616"/>
          </a:xfrm>
          <a:prstGeom prst="rect">
            <a:avLst/>
          </a:prstGeom>
          <a:noFill/>
          <a:ln/>
        </p:spPr>
        <p:txBody>
          <a:bodyPr wrap="square" lIns="0" tIns="0" rIns="0" bIns="0" rtlCol="0" anchor="t"/>
          <a:lstStyle/>
          <a:p>
            <a:pPr algn="l" indent="0" marL="0">
              <a:lnSpc>
                <a:spcPct val="103000"/>
              </a:lnSpc>
              <a:buNone/>
            </a:pPr>
            <a:r>
              <a:rPr lang="en-US" sz="930" dirty="0">
                <a:solidFill>
                  <a:srgbClr val="93A0B8"/>
                </a:solidFill>
                <a:latin typeface="Helvetica Neue" pitchFamily="34" charset="0"/>
                <a:ea typeface="Helvetica Neue" pitchFamily="34" charset="-122"/>
                <a:cs typeface="Helvetica Neue" pitchFamily="34" charset="-120"/>
              </a:rPr>
              <a:t>NES@FIT testbed, Brno (Matoušek et al., 2022)</a:t>
            </a:r>
            <a:endParaRPr lang="en-US" sz="930" dirty="0"/>
          </a:p>
        </p:txBody>
      </p:sp>
      <p:sp>
        <p:nvSpPr>
          <p:cNvPr id="12" name="Text 10"/>
          <p:cNvSpPr txBox="1"/>
          <p:nvPr/>
        </p:nvSpPr>
        <p:spPr>
          <a:xfrm>
            <a:off x="731520" y="2999232"/>
            <a:ext cx="228440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20,000 frames → 20,000 bounds</a:t>
            </a:r>
            <a:endParaRPr lang="en-US" sz="1050" dirty="0"/>
          </a:p>
        </p:txBody>
      </p:sp>
      <p:sp>
        <p:nvSpPr>
          <p:cNvPr id="13" name="Text 11"/>
          <p:cNvSpPr txBox="1"/>
          <p:nvPr/>
        </p:nvSpPr>
        <p:spPr>
          <a:xfrm>
            <a:off x="731520" y="3246120"/>
            <a:ext cx="2284400" cy="356616"/>
          </a:xfrm>
          <a:prstGeom prst="rect">
            <a:avLst/>
          </a:prstGeom>
          <a:noFill/>
          <a:ln/>
        </p:spPr>
        <p:txBody>
          <a:bodyPr wrap="square" lIns="0" tIns="0" rIns="0" bIns="0" rtlCol="0" anchor="t"/>
          <a:lstStyle/>
          <a:p>
            <a:pPr algn="l" indent="0" marL="0">
              <a:lnSpc>
                <a:spcPct val="103000"/>
              </a:lnSpc>
              <a:buNone/>
            </a:pPr>
            <a:r>
              <a:rPr lang="en-US" sz="930" dirty="0">
                <a:solidFill>
                  <a:srgbClr val="93A0B8"/>
                </a:solidFill>
                <a:latin typeface="Helvetica Neue" pitchFamily="34" charset="0"/>
                <a:ea typeface="Helvetica Neue" pitchFamily="34" charset="-122"/>
                <a:cs typeface="Helvetica Neue" pitchFamily="34" charset="-120"/>
              </a:rPr>
              <a:t>sample_003.csv · 0 rows dropped or filtered</a:t>
            </a:r>
            <a:endParaRPr lang="en-US" sz="930" dirty="0"/>
          </a:p>
        </p:txBody>
      </p:sp>
      <p:sp>
        <p:nvSpPr>
          <p:cNvPr id="14" name="Text 12"/>
          <p:cNvSpPr txBox="1"/>
          <p:nvPr/>
        </p:nvSpPr>
        <p:spPr>
          <a:xfrm>
            <a:off x="731520" y="3730752"/>
            <a:ext cx="228440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Proxy event types (of 20,000)</a:t>
            </a:r>
            <a:endParaRPr lang="en-US" sz="1050" dirty="0"/>
          </a:p>
        </p:txBody>
      </p:sp>
      <p:sp>
        <p:nvSpPr>
          <p:cNvPr id="15" name="Text 13"/>
          <p:cNvSpPr txBox="1"/>
          <p:nvPr/>
        </p:nvSpPr>
        <p:spPr>
          <a:xfrm>
            <a:off x="731520" y="3977640"/>
            <a:ext cx="2284400" cy="658368"/>
          </a:xfrm>
          <a:prstGeom prst="rect">
            <a:avLst/>
          </a:prstGeom>
          <a:noFill/>
          <a:ln/>
        </p:spPr>
        <p:txBody>
          <a:bodyPr wrap="square" lIns="0" tIns="0" rIns="0" bIns="0" rtlCol="0" anchor="t"/>
          <a:lstStyle/>
          <a:p>
            <a:pPr algn="l" indent="0" marL="0">
              <a:lnSpc>
                <a:spcPct val="103000"/>
              </a:lnSpc>
              <a:buNone/>
            </a:pPr>
            <a:r>
              <a:rPr lang="en-US" sz="930" dirty="0">
                <a:solidFill>
                  <a:srgbClr val="93A0B8"/>
                </a:solidFill>
                <a:latin typeface="Helvetica Neue" pitchFamily="34" charset="0"/>
                <a:ea typeface="Helvetica Neue" pitchFamily="34" charset="-122"/>
                <a:cs typeface="Helvetica Neue" pitchFamily="34" charset="-120"/>
              </a:rPr>
              <a:t>normal polling 16,205 · topology change 3,683 · network scan 68 · function-code violation 44 · replay attack 0 (absent)</a:t>
            </a:r>
            <a:endParaRPr lang="en-US" sz="930" dirty="0"/>
          </a:p>
        </p:txBody>
      </p:sp>
      <p:sp>
        <p:nvSpPr>
          <p:cNvPr id="16" name="Shape 14"/>
          <p:cNvSpPr/>
          <p:nvPr/>
        </p:nvSpPr>
        <p:spPr>
          <a:xfrm>
            <a:off x="3363392" y="1810512"/>
            <a:ext cx="2650160" cy="3310128"/>
          </a:xfrm>
          <a:prstGeom prst="roundRect">
            <a:avLst>
              <a:gd name="adj" fmla="val 2760"/>
            </a:avLst>
          </a:prstGeom>
          <a:solidFill>
            <a:srgbClr val="121B2E"/>
          </a:solidFill>
          <a:ln w="9525">
            <a:solidFill>
              <a:srgbClr val="2A3752"/>
            </a:solidFill>
            <a:prstDash val="solid"/>
          </a:ln>
        </p:spPr>
      </p:sp>
      <p:sp>
        <p:nvSpPr>
          <p:cNvPr id="17" name="Text 15"/>
          <p:cNvSpPr txBox="1"/>
          <p:nvPr/>
        </p:nvSpPr>
        <p:spPr>
          <a:xfrm>
            <a:off x="3546272" y="1956816"/>
            <a:ext cx="2284400" cy="219456"/>
          </a:xfrm>
          <a:prstGeom prst="rect">
            <a:avLst/>
          </a:prstGeom>
          <a:noFill/>
          <a:ln/>
        </p:spPr>
        <p:txBody>
          <a:bodyPr wrap="square" lIns="0" tIns="0" rIns="0" bIns="0" rtlCol="0" anchor="t"/>
          <a:lstStyle/>
          <a:p>
            <a:pPr algn="l" indent="0" marL="0">
              <a:buNone/>
            </a:pPr>
            <a:r>
              <a:rPr lang="en-US" sz="950" spc="100" kern="0" dirty="0">
                <a:solidFill>
                  <a:srgbClr val="2DD4BF"/>
                </a:solidFill>
                <a:latin typeface="Consolas" pitchFamily="34" charset="0"/>
                <a:ea typeface="Consolas" pitchFamily="34" charset="-122"/>
                <a:cs typeface="Consolas" pitchFamily="34" charset="-120"/>
              </a:rPr>
              <a:t>PROMPTS</a:t>
            </a:r>
            <a:endParaRPr lang="en-US" sz="950" dirty="0"/>
          </a:p>
        </p:txBody>
      </p:sp>
      <p:sp>
        <p:nvSpPr>
          <p:cNvPr id="18" name="Text 16"/>
          <p:cNvSpPr txBox="1"/>
          <p:nvPr/>
        </p:nvSpPr>
        <p:spPr>
          <a:xfrm>
            <a:off x="3546272" y="2267712"/>
            <a:ext cx="228440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One prompt for every model</a:t>
            </a:r>
            <a:endParaRPr lang="en-US" sz="1050" dirty="0"/>
          </a:p>
        </p:txBody>
      </p:sp>
      <p:sp>
        <p:nvSpPr>
          <p:cNvPr id="19" name="Text 17"/>
          <p:cNvSpPr txBox="1"/>
          <p:nvPr/>
        </p:nvSpPr>
        <p:spPr>
          <a:xfrm>
            <a:off x="3546272" y="2514600"/>
            <a:ext cx="2284400" cy="356616"/>
          </a:xfrm>
          <a:prstGeom prst="rect">
            <a:avLst/>
          </a:prstGeom>
          <a:noFill/>
          <a:ln/>
        </p:spPr>
        <p:txBody>
          <a:bodyPr wrap="square" lIns="0" tIns="0" rIns="0" bIns="0" rtlCol="0" anchor="t"/>
          <a:lstStyle/>
          <a:p>
            <a:pPr algn="l" indent="0" marL="0">
              <a:lnSpc>
                <a:spcPct val="103000"/>
              </a:lnSpc>
              <a:buNone/>
            </a:pPr>
            <a:r>
              <a:rPr lang="en-US" sz="930" dirty="0">
                <a:solidFill>
                  <a:srgbClr val="93A0B8"/>
                </a:solidFill>
                <a:latin typeface="Helvetica Neue" pitchFamily="34" charset="0"/>
                <a:ea typeface="Helvetica Neue" pitchFamily="34" charset="-122"/>
                <a:cs typeface="Helvetica Neue" pitchFamily="34" charset="-120"/>
              </a:rPr>
              <a:t>ICS security-analyst role, identical system prompt (Appendix B)</a:t>
            </a:r>
            <a:endParaRPr lang="en-US" sz="930" dirty="0"/>
          </a:p>
        </p:txBody>
      </p:sp>
      <p:sp>
        <p:nvSpPr>
          <p:cNvPr id="20" name="Text 18"/>
          <p:cNvSpPr txBox="1"/>
          <p:nvPr/>
        </p:nvSpPr>
        <p:spPr>
          <a:xfrm>
            <a:off x="3546272" y="2999232"/>
            <a:ext cx="228440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Strict rules</a:t>
            </a:r>
            <a:endParaRPr lang="en-US" sz="1050" dirty="0"/>
          </a:p>
        </p:txBody>
      </p:sp>
      <p:sp>
        <p:nvSpPr>
          <p:cNvPr id="21" name="Text 19"/>
          <p:cNvSpPr txBox="1"/>
          <p:nvPr/>
        </p:nvSpPr>
        <p:spPr>
          <a:xfrm>
            <a:off x="3546272" y="3246120"/>
            <a:ext cx="2284400" cy="960120"/>
          </a:xfrm>
          <a:prstGeom prst="rect">
            <a:avLst/>
          </a:prstGeom>
          <a:noFill/>
          <a:ln/>
        </p:spPr>
        <p:txBody>
          <a:bodyPr wrap="square" lIns="0" tIns="0" rIns="0" bIns="0" rtlCol="0" anchor="t"/>
          <a:lstStyle/>
          <a:p>
            <a:pPr algn="l" indent="0" marL="0">
              <a:lnSpc>
                <a:spcPct val="103000"/>
              </a:lnSpc>
              <a:buNone/>
            </a:pPr>
            <a:r>
              <a:rPr lang="en-US" sz="930" dirty="0">
                <a:solidFill>
                  <a:srgbClr val="93A0B8"/>
                </a:solidFill>
                <a:latin typeface="Helvetica Neue" pitchFamily="34" charset="0"/>
                <a:ea typeface="Helvetica Neue" pitchFamily="34" charset="-122"/>
                <a:cs typeface="Helvetica Neue" pitchFamily="34" charset="-120"/>
              </a:rPr>
              <a:t>only bound facts · never invent attack types · never speculate on malice, causality, timing, assets, mitigation · proxy classes are labels, not verified attacks · 3–5 sentences</a:t>
            </a:r>
            <a:endParaRPr lang="en-US" sz="930" dirty="0"/>
          </a:p>
        </p:txBody>
      </p:sp>
      <p:sp>
        <p:nvSpPr>
          <p:cNvPr id="22" name="Text 20"/>
          <p:cNvSpPr txBox="1"/>
          <p:nvPr/>
        </p:nvSpPr>
        <p:spPr>
          <a:xfrm>
            <a:off x="3546272" y="4334256"/>
            <a:ext cx="228440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Consequence</a:t>
            </a:r>
            <a:endParaRPr lang="en-US" sz="1050" dirty="0"/>
          </a:p>
        </p:txBody>
      </p:sp>
      <p:sp>
        <p:nvSpPr>
          <p:cNvPr id="23" name="Text 21"/>
          <p:cNvSpPr txBox="1"/>
          <p:nvPr/>
        </p:nvSpPr>
        <p:spPr>
          <a:xfrm>
            <a:off x="3546272" y="4581144"/>
            <a:ext cx="2284400" cy="507492"/>
          </a:xfrm>
          <a:prstGeom prst="rect">
            <a:avLst/>
          </a:prstGeom>
          <a:noFill/>
          <a:ln/>
        </p:spPr>
        <p:txBody>
          <a:bodyPr wrap="square" lIns="0" tIns="0" rIns="0" bIns="0" rtlCol="0" anchor="t"/>
          <a:lstStyle/>
          <a:p>
            <a:pPr algn="l" indent="0" marL="0">
              <a:lnSpc>
                <a:spcPct val="103000"/>
              </a:lnSpc>
              <a:buNone/>
            </a:pPr>
            <a:r>
              <a:rPr lang="en-US" sz="930" dirty="0">
                <a:solidFill>
                  <a:srgbClr val="93A0B8"/>
                </a:solidFill>
                <a:latin typeface="Helvetica Neue" pitchFamily="34" charset="0"/>
                <a:ea typeface="Helvetica Neue" pitchFamily="34" charset="-122"/>
                <a:cs typeface="Helvetica Neue" pitchFamily="34" charset="-120"/>
              </a:rPr>
              <a:t>violations cannot be blamed on prompting → measured rates are a lower bound</a:t>
            </a:r>
            <a:endParaRPr lang="en-US" sz="930" dirty="0"/>
          </a:p>
        </p:txBody>
      </p:sp>
      <p:sp>
        <p:nvSpPr>
          <p:cNvPr id="24" name="Shape 22"/>
          <p:cNvSpPr/>
          <p:nvPr/>
        </p:nvSpPr>
        <p:spPr>
          <a:xfrm>
            <a:off x="6178144" y="1810512"/>
            <a:ext cx="2650160" cy="3310128"/>
          </a:xfrm>
          <a:prstGeom prst="roundRect">
            <a:avLst>
              <a:gd name="adj" fmla="val 2760"/>
            </a:avLst>
          </a:prstGeom>
          <a:solidFill>
            <a:srgbClr val="121B2E"/>
          </a:solidFill>
          <a:ln w="9525">
            <a:solidFill>
              <a:srgbClr val="2A3752"/>
            </a:solidFill>
            <a:prstDash val="solid"/>
          </a:ln>
        </p:spPr>
      </p:sp>
      <p:sp>
        <p:nvSpPr>
          <p:cNvPr id="25" name="Text 23"/>
          <p:cNvSpPr txBox="1"/>
          <p:nvPr/>
        </p:nvSpPr>
        <p:spPr>
          <a:xfrm>
            <a:off x="6361024" y="1956816"/>
            <a:ext cx="2284400" cy="219456"/>
          </a:xfrm>
          <a:prstGeom prst="rect">
            <a:avLst/>
          </a:prstGeom>
          <a:noFill/>
          <a:ln/>
        </p:spPr>
        <p:txBody>
          <a:bodyPr wrap="square" lIns="0" tIns="0" rIns="0" bIns="0" rtlCol="0" anchor="t"/>
          <a:lstStyle/>
          <a:p>
            <a:pPr algn="l" indent="0" marL="0">
              <a:buNone/>
            </a:pPr>
            <a:r>
              <a:rPr lang="en-US" sz="950" spc="100" kern="0" dirty="0">
                <a:solidFill>
                  <a:srgbClr val="2DD4BF"/>
                </a:solidFill>
                <a:latin typeface="Consolas" pitchFamily="34" charset="0"/>
                <a:ea typeface="Consolas" pitchFamily="34" charset="-122"/>
                <a:cs typeface="Consolas" pitchFamily="34" charset="-120"/>
              </a:rPr>
              <a:t>MODELS</a:t>
            </a:r>
            <a:endParaRPr lang="en-US" sz="950" dirty="0"/>
          </a:p>
        </p:txBody>
      </p:sp>
      <p:sp>
        <p:nvSpPr>
          <p:cNvPr id="26" name="Text 24"/>
          <p:cNvSpPr txBox="1"/>
          <p:nvPr/>
        </p:nvSpPr>
        <p:spPr>
          <a:xfrm>
            <a:off x="6361024" y="2267712"/>
            <a:ext cx="228440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Local, Ollama 0.23.3, 4-bit, CPU</a:t>
            </a:r>
            <a:endParaRPr lang="en-US" sz="1050" dirty="0"/>
          </a:p>
        </p:txBody>
      </p:sp>
      <p:sp>
        <p:nvSpPr>
          <p:cNvPr id="27" name="Text 25"/>
          <p:cNvSpPr txBox="1"/>
          <p:nvPr/>
        </p:nvSpPr>
        <p:spPr>
          <a:xfrm>
            <a:off x="6361024" y="2514600"/>
            <a:ext cx="2284400" cy="507492"/>
          </a:xfrm>
          <a:prstGeom prst="rect">
            <a:avLst/>
          </a:prstGeom>
          <a:noFill/>
          <a:ln/>
        </p:spPr>
        <p:txBody>
          <a:bodyPr wrap="square" lIns="0" tIns="0" rIns="0" bIns="0" rtlCol="0" anchor="t"/>
          <a:lstStyle/>
          <a:p>
            <a:pPr algn="l" indent="0" marL="0">
              <a:lnSpc>
                <a:spcPct val="103000"/>
              </a:lnSpc>
              <a:buNone/>
            </a:pPr>
            <a:r>
              <a:rPr lang="en-US" sz="930" dirty="0">
                <a:solidFill>
                  <a:srgbClr val="93A0B8"/>
                </a:solidFill>
                <a:latin typeface="Helvetica Neue" pitchFamily="34" charset="0"/>
                <a:ea typeface="Helvetica Neue" pitchFamily="34" charset="-122"/>
                <a:cs typeface="Helvetica Neue" pitchFamily="34" charset="-120"/>
              </a:rPr>
              <a:t>llama3.1:8b-instruct-q4_0 (~4.7 GB) · mistral:7b-instruct-v0.3-q4_0 (~4.1 GB) · phi3:mini (~2.2 GB)</a:t>
            </a:r>
            <a:endParaRPr lang="en-US" sz="930" dirty="0"/>
          </a:p>
        </p:txBody>
      </p:sp>
      <p:sp>
        <p:nvSpPr>
          <p:cNvPr id="28" name="Text 26"/>
          <p:cNvSpPr txBox="1"/>
          <p:nvPr/>
        </p:nvSpPr>
        <p:spPr>
          <a:xfrm>
            <a:off x="6361024" y="3150108"/>
            <a:ext cx="228440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Cloud</a:t>
            </a:r>
            <a:endParaRPr lang="en-US" sz="1050" dirty="0"/>
          </a:p>
        </p:txBody>
      </p:sp>
      <p:sp>
        <p:nvSpPr>
          <p:cNvPr id="29" name="Text 27"/>
          <p:cNvSpPr txBox="1"/>
          <p:nvPr/>
        </p:nvSpPr>
        <p:spPr>
          <a:xfrm>
            <a:off x="6361024" y="3396996"/>
            <a:ext cx="2284400" cy="356616"/>
          </a:xfrm>
          <a:prstGeom prst="rect">
            <a:avLst/>
          </a:prstGeom>
          <a:noFill/>
          <a:ln/>
        </p:spPr>
        <p:txBody>
          <a:bodyPr wrap="square" lIns="0" tIns="0" rIns="0" bIns="0" rtlCol="0" anchor="t"/>
          <a:lstStyle/>
          <a:p>
            <a:pPr algn="l" indent="0" marL="0">
              <a:lnSpc>
                <a:spcPct val="103000"/>
              </a:lnSpc>
              <a:buNone/>
            </a:pPr>
            <a:r>
              <a:rPr lang="en-US" sz="930" dirty="0">
                <a:solidFill>
                  <a:srgbClr val="93A0B8"/>
                </a:solidFill>
                <a:latin typeface="Helvetica Neue" pitchFamily="34" charset="0"/>
                <a:ea typeface="Helvetica Neue" pitchFamily="34" charset="-122"/>
                <a:cs typeface="Helvetica Neue" pitchFamily="34" charset="-120"/>
              </a:rPr>
              <a:t>gpt-4o-mini · gemini-2.5-flash-lite</a:t>
            </a:r>
            <a:endParaRPr lang="en-US" sz="930" dirty="0"/>
          </a:p>
        </p:txBody>
      </p:sp>
      <p:sp>
        <p:nvSpPr>
          <p:cNvPr id="30" name="Text 28"/>
          <p:cNvSpPr txBox="1"/>
          <p:nvPr/>
        </p:nvSpPr>
        <p:spPr>
          <a:xfrm>
            <a:off x="6361024" y="3881628"/>
            <a:ext cx="228440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Decoding</a:t>
            </a:r>
            <a:endParaRPr lang="en-US" sz="1050" dirty="0"/>
          </a:p>
        </p:txBody>
      </p:sp>
      <p:sp>
        <p:nvSpPr>
          <p:cNvPr id="31" name="Text 29"/>
          <p:cNvSpPr txBox="1"/>
          <p:nvPr/>
        </p:nvSpPr>
        <p:spPr>
          <a:xfrm>
            <a:off x="6361024" y="4128516"/>
            <a:ext cx="2284400" cy="658368"/>
          </a:xfrm>
          <a:prstGeom prst="rect">
            <a:avLst/>
          </a:prstGeom>
          <a:noFill/>
          <a:ln/>
        </p:spPr>
        <p:txBody>
          <a:bodyPr wrap="square" lIns="0" tIns="0" rIns="0" bIns="0" rtlCol="0" anchor="t"/>
          <a:lstStyle/>
          <a:p>
            <a:pPr algn="l" indent="0" marL="0">
              <a:lnSpc>
                <a:spcPct val="103000"/>
              </a:lnSpc>
              <a:buNone/>
            </a:pPr>
            <a:r>
              <a:rPr lang="en-US" sz="930" dirty="0">
                <a:solidFill>
                  <a:srgbClr val="93A0B8"/>
                </a:solidFill>
                <a:latin typeface="Helvetica Neue" pitchFamily="34" charset="0"/>
                <a:ea typeface="Helvetica Neue" pitchFamily="34" charset="-122"/>
                <a:cs typeface="Helvetica Neue" pitchFamily="34" charset="-120"/>
              </a:rPr>
              <a:t>temperature 0.1 · top-p 0.9 · 600-token cap (cloud) · 180 s timeout · mean latency ≈ 12–19 s per prompt on Apple M-series CPU</a:t>
            </a:r>
            <a:endParaRPr lang="en-US" sz="930" dirty="0"/>
          </a:p>
        </p:txBody>
      </p:sp>
      <p:sp>
        <p:nvSpPr>
          <p:cNvPr id="32" name="Shape 30"/>
          <p:cNvSpPr/>
          <p:nvPr/>
        </p:nvSpPr>
        <p:spPr>
          <a:xfrm>
            <a:off x="8992895" y="1810512"/>
            <a:ext cx="2650160" cy="3310128"/>
          </a:xfrm>
          <a:prstGeom prst="roundRect">
            <a:avLst>
              <a:gd name="adj" fmla="val 2760"/>
            </a:avLst>
          </a:prstGeom>
          <a:solidFill>
            <a:srgbClr val="121B2E"/>
          </a:solidFill>
          <a:ln w="9525">
            <a:solidFill>
              <a:srgbClr val="2A3752"/>
            </a:solidFill>
            <a:prstDash val="solid"/>
          </a:ln>
        </p:spPr>
      </p:sp>
      <p:sp>
        <p:nvSpPr>
          <p:cNvPr id="33" name="Text 31"/>
          <p:cNvSpPr txBox="1"/>
          <p:nvPr/>
        </p:nvSpPr>
        <p:spPr>
          <a:xfrm>
            <a:off x="9175775" y="1956816"/>
            <a:ext cx="2284400" cy="219456"/>
          </a:xfrm>
          <a:prstGeom prst="rect">
            <a:avLst/>
          </a:prstGeom>
          <a:noFill/>
          <a:ln/>
        </p:spPr>
        <p:txBody>
          <a:bodyPr wrap="square" lIns="0" tIns="0" rIns="0" bIns="0" rtlCol="0" anchor="t"/>
          <a:lstStyle/>
          <a:p>
            <a:pPr algn="l" indent="0" marL="0">
              <a:buNone/>
            </a:pPr>
            <a:r>
              <a:rPr lang="en-US" sz="950" spc="100" kern="0" dirty="0">
                <a:solidFill>
                  <a:srgbClr val="2DD4BF"/>
                </a:solidFill>
                <a:latin typeface="Consolas" pitchFamily="34" charset="0"/>
                <a:ea typeface="Consolas" pitchFamily="34" charset="-122"/>
                <a:cs typeface="Consolas" pitchFamily="34" charset="-120"/>
              </a:rPr>
              <a:t>RESPONSES</a:t>
            </a:r>
            <a:endParaRPr lang="en-US" sz="950" dirty="0"/>
          </a:p>
        </p:txBody>
      </p:sp>
      <p:sp>
        <p:nvSpPr>
          <p:cNvPr id="34" name="Text 32"/>
          <p:cNvSpPr txBox="1"/>
          <p:nvPr/>
        </p:nvSpPr>
        <p:spPr>
          <a:xfrm>
            <a:off x="9175775" y="2267712"/>
            <a:ext cx="228440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500 LLM explanations</a:t>
            </a:r>
            <a:endParaRPr lang="en-US" sz="1050" dirty="0"/>
          </a:p>
        </p:txBody>
      </p:sp>
      <p:sp>
        <p:nvSpPr>
          <p:cNvPr id="35" name="Text 33"/>
          <p:cNvSpPr txBox="1"/>
          <p:nvPr/>
        </p:nvSpPr>
        <p:spPr>
          <a:xfrm>
            <a:off x="9175775" y="2514600"/>
            <a:ext cx="2284400" cy="356616"/>
          </a:xfrm>
          <a:prstGeom prst="rect">
            <a:avLst/>
          </a:prstGeom>
          <a:noFill/>
          <a:ln/>
        </p:spPr>
        <p:txBody>
          <a:bodyPr wrap="square" lIns="0" tIns="0" rIns="0" bIns="0" rtlCol="0" anchor="t"/>
          <a:lstStyle/>
          <a:p>
            <a:pPr algn="l" indent="0" marL="0">
              <a:lnSpc>
                <a:spcPct val="103000"/>
              </a:lnSpc>
              <a:buNone/>
            </a:pPr>
            <a:r>
              <a:rPr lang="en-US" sz="930" dirty="0">
                <a:solidFill>
                  <a:srgbClr val="93A0B8"/>
                </a:solidFill>
                <a:latin typeface="Helvetica Neue" pitchFamily="34" charset="0"/>
                <a:ea typeface="Helvetica Neue" pitchFamily="34" charset="-122"/>
                <a:cs typeface="Helvetica Neue" pitchFamily="34" charset="-120"/>
              </a:rPr>
              <a:t>5 models × 100 prompts (25 per event type, fixed seed)</a:t>
            </a:r>
            <a:endParaRPr lang="en-US" sz="930" dirty="0"/>
          </a:p>
        </p:txBody>
      </p:sp>
      <p:sp>
        <p:nvSpPr>
          <p:cNvPr id="36" name="Text 34"/>
          <p:cNvSpPr txBox="1"/>
          <p:nvPr/>
        </p:nvSpPr>
        <p:spPr>
          <a:xfrm>
            <a:off x="9175775" y="2999232"/>
            <a:ext cx="228440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500 synthetic responses</a:t>
            </a:r>
            <a:endParaRPr lang="en-US" sz="1050" dirty="0"/>
          </a:p>
        </p:txBody>
      </p:sp>
      <p:sp>
        <p:nvSpPr>
          <p:cNvPr id="37" name="Text 35"/>
          <p:cNvSpPr txBox="1"/>
          <p:nvPr/>
        </p:nvSpPr>
        <p:spPr>
          <a:xfrm>
            <a:off x="9175775" y="3246120"/>
            <a:ext cx="2284400" cy="658368"/>
          </a:xfrm>
          <a:prstGeom prst="rect">
            <a:avLst/>
          </a:prstGeom>
          <a:noFill/>
          <a:ln/>
        </p:spPr>
        <p:txBody>
          <a:bodyPr wrap="square" lIns="0" tIns="0" rIns="0" bIns="0" rtlCol="0" anchor="t"/>
          <a:lstStyle/>
          <a:p>
            <a:pPr algn="l" indent="0" marL="0">
              <a:lnSpc>
                <a:spcPct val="103000"/>
              </a:lnSpc>
              <a:buNone/>
            </a:pPr>
            <a:r>
              <a:rPr lang="en-US" sz="930" dirty="0">
                <a:solidFill>
                  <a:srgbClr val="93A0B8"/>
                </a:solidFill>
                <a:latin typeface="Helvetica Neue" pitchFamily="34" charset="0"/>
                <a:ea typeface="Helvetica Neue" pitchFamily="34" charset="-122"/>
                <a:cs typeface="Helvetica Neue" pitchFamily="34" charset="-120"/>
              </a:rPr>
              <a:t>per sampled prompt: one canonical V1, V2, V3, V4 and one clean response — a regression test of detector coverage</a:t>
            </a:r>
            <a:endParaRPr lang="en-US" sz="930" dirty="0"/>
          </a:p>
        </p:txBody>
      </p:sp>
      <p:sp>
        <p:nvSpPr>
          <p:cNvPr id="38" name="Text 36"/>
          <p:cNvSpPr txBox="1"/>
          <p:nvPr/>
        </p:nvSpPr>
        <p:spPr>
          <a:xfrm>
            <a:off x="9175775" y="4032504"/>
            <a:ext cx="228440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1,000 verified uniformly</a:t>
            </a:r>
            <a:endParaRPr lang="en-US" sz="1050" dirty="0"/>
          </a:p>
        </p:txBody>
      </p:sp>
      <p:sp>
        <p:nvSpPr>
          <p:cNvPr id="39" name="Text 37"/>
          <p:cNvSpPr txBox="1"/>
          <p:nvPr/>
        </p:nvSpPr>
        <p:spPr>
          <a:xfrm>
            <a:off x="9175775" y="4279392"/>
            <a:ext cx="2284400" cy="356616"/>
          </a:xfrm>
          <a:prstGeom prst="rect">
            <a:avLst/>
          </a:prstGeom>
          <a:noFill/>
          <a:ln/>
        </p:spPr>
        <p:txBody>
          <a:bodyPr wrap="square" lIns="0" tIns="0" rIns="0" bIns="0" rtlCol="0" anchor="t"/>
          <a:lstStyle/>
          <a:p>
            <a:pPr algn="l" indent="0" marL="0">
              <a:lnSpc>
                <a:spcPct val="103000"/>
              </a:lnSpc>
              <a:buNone/>
            </a:pPr>
            <a:r>
              <a:rPr lang="en-US" sz="930" dirty="0">
                <a:solidFill>
                  <a:srgbClr val="93A0B8"/>
                </a:solidFill>
                <a:latin typeface="Helvetica Neue" pitchFamily="34" charset="0"/>
                <a:ea typeface="Helvetica Neue" pitchFamily="34" charset="-122"/>
                <a:cs typeface="Helvetica Neue" pitchFamily="34" charset="-120"/>
              </a:rPr>
              <a:t>synthetic results are never used for claims about LLM behaviour</a:t>
            </a:r>
            <a:endParaRPr lang="en-US" sz="930" dirty="0"/>
          </a:p>
        </p:txBody>
      </p:sp>
      <p:sp>
        <p:nvSpPr>
          <p:cNvPr id="40" name="Shape 38"/>
          <p:cNvSpPr/>
          <p:nvPr/>
        </p:nvSpPr>
        <p:spPr>
          <a:xfrm>
            <a:off x="548640" y="5285232"/>
            <a:ext cx="1627632" cy="749808"/>
          </a:xfrm>
          <a:prstGeom prst="roundRect">
            <a:avLst>
              <a:gd name="adj" fmla="val 9756"/>
            </a:avLst>
          </a:prstGeom>
          <a:solidFill>
            <a:srgbClr val="18233A"/>
          </a:solidFill>
          <a:ln w="9525">
            <a:solidFill>
              <a:srgbClr val="1E2A42"/>
            </a:solidFill>
            <a:prstDash val="solid"/>
          </a:ln>
        </p:spPr>
      </p:sp>
      <p:sp>
        <p:nvSpPr>
          <p:cNvPr id="41" name="Text 39"/>
          <p:cNvSpPr txBox="1"/>
          <p:nvPr/>
        </p:nvSpPr>
        <p:spPr>
          <a:xfrm>
            <a:off x="676656" y="5358384"/>
            <a:ext cx="1371600" cy="365760"/>
          </a:xfrm>
          <a:prstGeom prst="rect">
            <a:avLst/>
          </a:prstGeom>
          <a:noFill/>
          <a:ln/>
        </p:spPr>
        <p:txBody>
          <a:bodyPr wrap="square" lIns="0" tIns="0" rIns="0" bIns="0" rtlCol="0" anchor="t"/>
          <a:lstStyle/>
          <a:p>
            <a:pPr algn="l" indent="0" marL="0">
              <a:buNone/>
            </a:pPr>
            <a:r>
              <a:rPr lang="en-US" sz="1700" b="1" dirty="0">
                <a:solidFill>
                  <a:srgbClr val="E9EEF6"/>
                </a:solidFill>
                <a:latin typeface="Consolas" pitchFamily="34" charset="0"/>
                <a:ea typeface="Consolas" pitchFamily="34" charset="-122"/>
                <a:cs typeface="Consolas" pitchFamily="34" charset="-120"/>
              </a:rPr>
              <a:t>20,000</a:t>
            </a:r>
            <a:endParaRPr lang="en-US" sz="1700" dirty="0"/>
          </a:p>
        </p:txBody>
      </p:sp>
      <p:sp>
        <p:nvSpPr>
          <p:cNvPr id="42" name="Text 40"/>
          <p:cNvSpPr txBox="1"/>
          <p:nvPr/>
        </p:nvSpPr>
        <p:spPr>
          <a:xfrm>
            <a:off x="676656" y="5724144"/>
            <a:ext cx="1371600" cy="274320"/>
          </a:xfrm>
          <a:prstGeom prst="rect">
            <a:avLst/>
          </a:prstGeom>
          <a:noFill/>
          <a:ln/>
        </p:spPr>
        <p:txBody>
          <a:bodyPr wrap="square" lIns="0" tIns="0" rIns="0" bIns="0" rtlCol="0" anchor="t"/>
          <a:lstStyle/>
          <a:p>
            <a:pPr algn="l" indent="0" marL="0">
              <a:buNone/>
            </a:pPr>
            <a:r>
              <a:rPr lang="en-US" sz="880" dirty="0">
                <a:solidFill>
                  <a:srgbClr val="93A0B8"/>
                </a:solidFill>
                <a:latin typeface="Helvetica Neue" pitchFamily="34" charset="0"/>
                <a:ea typeface="Helvetica Neue" pitchFamily="34" charset="-122"/>
                <a:cs typeface="Helvetica Neue" pitchFamily="34" charset="-120"/>
              </a:rPr>
              <a:t>bounds</a:t>
            </a:r>
            <a:endParaRPr lang="en-US" sz="880" dirty="0"/>
          </a:p>
        </p:txBody>
      </p:sp>
      <p:sp>
        <p:nvSpPr>
          <p:cNvPr id="43" name="Shape 41"/>
          <p:cNvSpPr/>
          <p:nvPr/>
        </p:nvSpPr>
        <p:spPr>
          <a:xfrm>
            <a:off x="2203704" y="5660136"/>
            <a:ext cx="210861" cy="0"/>
          </a:xfrm>
          <a:prstGeom prst="line">
            <a:avLst/>
          </a:prstGeom>
          <a:noFill/>
          <a:ln w="12700">
            <a:solidFill>
              <a:srgbClr val="5C6A85"/>
            </a:solidFill>
            <a:prstDash val="solid"/>
            <a:tailEnd type="triangle"/>
          </a:ln>
        </p:spPr>
      </p:sp>
      <p:sp>
        <p:nvSpPr>
          <p:cNvPr id="44" name="Shape 42"/>
          <p:cNvSpPr/>
          <p:nvPr/>
        </p:nvSpPr>
        <p:spPr>
          <a:xfrm>
            <a:off x="2441997" y="5285232"/>
            <a:ext cx="1627632" cy="749808"/>
          </a:xfrm>
          <a:prstGeom prst="roundRect">
            <a:avLst>
              <a:gd name="adj" fmla="val 9756"/>
            </a:avLst>
          </a:prstGeom>
          <a:solidFill>
            <a:srgbClr val="18233A"/>
          </a:solidFill>
          <a:ln w="9525">
            <a:solidFill>
              <a:srgbClr val="1E2A42"/>
            </a:solidFill>
            <a:prstDash val="solid"/>
          </a:ln>
        </p:spPr>
      </p:sp>
      <p:sp>
        <p:nvSpPr>
          <p:cNvPr id="45" name="Text 43"/>
          <p:cNvSpPr txBox="1"/>
          <p:nvPr/>
        </p:nvSpPr>
        <p:spPr>
          <a:xfrm>
            <a:off x="2570013" y="5358384"/>
            <a:ext cx="1371600" cy="365760"/>
          </a:xfrm>
          <a:prstGeom prst="rect">
            <a:avLst/>
          </a:prstGeom>
          <a:noFill/>
          <a:ln/>
        </p:spPr>
        <p:txBody>
          <a:bodyPr wrap="square" lIns="0" tIns="0" rIns="0" bIns="0" rtlCol="0" anchor="t"/>
          <a:lstStyle/>
          <a:p>
            <a:pPr algn="l" indent="0" marL="0">
              <a:buNone/>
            </a:pPr>
            <a:r>
              <a:rPr lang="en-US" sz="1700" b="1" dirty="0">
                <a:solidFill>
                  <a:srgbClr val="E9EEF6"/>
                </a:solidFill>
                <a:latin typeface="Consolas" pitchFamily="34" charset="0"/>
                <a:ea typeface="Consolas" pitchFamily="34" charset="-122"/>
                <a:cs typeface="Consolas" pitchFamily="34" charset="-120"/>
              </a:rPr>
              <a:t>100</a:t>
            </a:r>
            <a:endParaRPr lang="en-US" sz="1700" dirty="0"/>
          </a:p>
        </p:txBody>
      </p:sp>
      <p:sp>
        <p:nvSpPr>
          <p:cNvPr id="46" name="Text 44"/>
          <p:cNvSpPr txBox="1"/>
          <p:nvPr/>
        </p:nvSpPr>
        <p:spPr>
          <a:xfrm>
            <a:off x="2570013" y="5724144"/>
            <a:ext cx="1371600" cy="274320"/>
          </a:xfrm>
          <a:prstGeom prst="rect">
            <a:avLst/>
          </a:prstGeom>
          <a:noFill/>
          <a:ln/>
        </p:spPr>
        <p:txBody>
          <a:bodyPr wrap="square" lIns="0" tIns="0" rIns="0" bIns="0" rtlCol="0" anchor="t"/>
          <a:lstStyle/>
          <a:p>
            <a:pPr algn="l" indent="0" marL="0">
              <a:buNone/>
            </a:pPr>
            <a:r>
              <a:rPr lang="en-US" sz="880" dirty="0">
                <a:solidFill>
                  <a:srgbClr val="93A0B8"/>
                </a:solidFill>
                <a:latin typeface="Helvetica Neue" pitchFamily="34" charset="0"/>
                <a:ea typeface="Helvetica Neue" pitchFamily="34" charset="-122"/>
                <a:cs typeface="Helvetica Neue" pitchFamily="34" charset="-120"/>
              </a:rPr>
              <a:t>prompts (25 × 4 types)</a:t>
            </a:r>
            <a:endParaRPr lang="en-US" sz="880" dirty="0"/>
          </a:p>
        </p:txBody>
      </p:sp>
      <p:sp>
        <p:nvSpPr>
          <p:cNvPr id="47" name="Shape 45"/>
          <p:cNvSpPr/>
          <p:nvPr/>
        </p:nvSpPr>
        <p:spPr>
          <a:xfrm>
            <a:off x="4097061" y="5660136"/>
            <a:ext cx="210861" cy="0"/>
          </a:xfrm>
          <a:prstGeom prst="line">
            <a:avLst/>
          </a:prstGeom>
          <a:noFill/>
          <a:ln w="12700">
            <a:solidFill>
              <a:srgbClr val="5C6A85"/>
            </a:solidFill>
            <a:prstDash val="solid"/>
            <a:tailEnd type="triangle"/>
          </a:ln>
        </p:spPr>
      </p:sp>
      <p:sp>
        <p:nvSpPr>
          <p:cNvPr id="48" name="Shape 46"/>
          <p:cNvSpPr/>
          <p:nvPr/>
        </p:nvSpPr>
        <p:spPr>
          <a:xfrm>
            <a:off x="4335353" y="5285232"/>
            <a:ext cx="1627632" cy="749808"/>
          </a:xfrm>
          <a:prstGeom prst="roundRect">
            <a:avLst>
              <a:gd name="adj" fmla="val 9756"/>
            </a:avLst>
          </a:prstGeom>
          <a:solidFill>
            <a:srgbClr val="18233A"/>
          </a:solidFill>
          <a:ln w="9525">
            <a:solidFill>
              <a:srgbClr val="1E2A42"/>
            </a:solidFill>
            <a:prstDash val="solid"/>
          </a:ln>
        </p:spPr>
      </p:sp>
      <p:sp>
        <p:nvSpPr>
          <p:cNvPr id="49" name="Text 47"/>
          <p:cNvSpPr txBox="1"/>
          <p:nvPr/>
        </p:nvSpPr>
        <p:spPr>
          <a:xfrm>
            <a:off x="4463369" y="5358384"/>
            <a:ext cx="1371600" cy="365760"/>
          </a:xfrm>
          <a:prstGeom prst="rect">
            <a:avLst/>
          </a:prstGeom>
          <a:noFill/>
          <a:ln/>
        </p:spPr>
        <p:txBody>
          <a:bodyPr wrap="square" lIns="0" tIns="0" rIns="0" bIns="0" rtlCol="0" anchor="t"/>
          <a:lstStyle/>
          <a:p>
            <a:pPr algn="l" indent="0" marL="0">
              <a:buNone/>
            </a:pPr>
            <a:r>
              <a:rPr lang="en-US" sz="1700" b="1" dirty="0">
                <a:solidFill>
                  <a:srgbClr val="E9EEF6"/>
                </a:solidFill>
                <a:latin typeface="Consolas" pitchFamily="34" charset="0"/>
                <a:ea typeface="Consolas" pitchFamily="34" charset="-122"/>
                <a:cs typeface="Consolas" pitchFamily="34" charset="-120"/>
              </a:rPr>
              <a:t>5 × 100</a:t>
            </a:r>
            <a:endParaRPr lang="en-US" sz="1700" dirty="0"/>
          </a:p>
        </p:txBody>
      </p:sp>
      <p:sp>
        <p:nvSpPr>
          <p:cNvPr id="50" name="Text 48"/>
          <p:cNvSpPr txBox="1"/>
          <p:nvPr/>
        </p:nvSpPr>
        <p:spPr>
          <a:xfrm>
            <a:off x="4463369" y="5724144"/>
            <a:ext cx="1371600" cy="274320"/>
          </a:xfrm>
          <a:prstGeom prst="rect">
            <a:avLst/>
          </a:prstGeom>
          <a:noFill/>
          <a:ln/>
        </p:spPr>
        <p:txBody>
          <a:bodyPr wrap="square" lIns="0" tIns="0" rIns="0" bIns="0" rtlCol="0" anchor="t"/>
          <a:lstStyle/>
          <a:p>
            <a:pPr algn="l" indent="0" marL="0">
              <a:buNone/>
            </a:pPr>
            <a:r>
              <a:rPr lang="en-US" sz="880" dirty="0">
                <a:solidFill>
                  <a:srgbClr val="93A0B8"/>
                </a:solidFill>
                <a:latin typeface="Helvetica Neue" pitchFamily="34" charset="0"/>
                <a:ea typeface="Helvetica Neue" pitchFamily="34" charset="-122"/>
                <a:cs typeface="Helvetica Neue" pitchFamily="34" charset="-120"/>
              </a:rPr>
              <a:t>LLM explanations</a:t>
            </a:r>
            <a:endParaRPr lang="en-US" sz="880" dirty="0"/>
          </a:p>
        </p:txBody>
      </p:sp>
      <p:sp>
        <p:nvSpPr>
          <p:cNvPr id="51" name="Shape 49"/>
          <p:cNvSpPr/>
          <p:nvPr/>
        </p:nvSpPr>
        <p:spPr>
          <a:xfrm>
            <a:off x="5990417" y="5660136"/>
            <a:ext cx="210861" cy="0"/>
          </a:xfrm>
          <a:prstGeom prst="line">
            <a:avLst/>
          </a:prstGeom>
          <a:noFill/>
          <a:ln w="12700">
            <a:solidFill>
              <a:srgbClr val="5C6A85"/>
            </a:solidFill>
            <a:prstDash val="solid"/>
            <a:tailEnd type="triangle"/>
          </a:ln>
        </p:spPr>
      </p:sp>
      <p:sp>
        <p:nvSpPr>
          <p:cNvPr id="52" name="Shape 50"/>
          <p:cNvSpPr/>
          <p:nvPr/>
        </p:nvSpPr>
        <p:spPr>
          <a:xfrm>
            <a:off x="6228710" y="5285232"/>
            <a:ext cx="1627632" cy="749808"/>
          </a:xfrm>
          <a:prstGeom prst="roundRect">
            <a:avLst>
              <a:gd name="adj" fmla="val 9756"/>
            </a:avLst>
          </a:prstGeom>
          <a:solidFill>
            <a:srgbClr val="18233A"/>
          </a:solidFill>
          <a:ln w="9525">
            <a:solidFill>
              <a:srgbClr val="1E2A42"/>
            </a:solidFill>
            <a:prstDash val="solid"/>
          </a:ln>
        </p:spPr>
      </p:sp>
      <p:sp>
        <p:nvSpPr>
          <p:cNvPr id="53" name="Text 51"/>
          <p:cNvSpPr txBox="1"/>
          <p:nvPr/>
        </p:nvSpPr>
        <p:spPr>
          <a:xfrm>
            <a:off x="6356726" y="5358384"/>
            <a:ext cx="1371600" cy="365760"/>
          </a:xfrm>
          <a:prstGeom prst="rect">
            <a:avLst/>
          </a:prstGeom>
          <a:noFill/>
          <a:ln/>
        </p:spPr>
        <p:txBody>
          <a:bodyPr wrap="square" lIns="0" tIns="0" rIns="0" bIns="0" rtlCol="0" anchor="t"/>
          <a:lstStyle/>
          <a:p>
            <a:pPr algn="l" indent="0" marL="0">
              <a:buNone/>
            </a:pPr>
            <a:r>
              <a:rPr lang="en-US" sz="1700" b="1" dirty="0">
                <a:solidFill>
                  <a:srgbClr val="E9EEF6"/>
                </a:solidFill>
                <a:latin typeface="Consolas" pitchFamily="34" charset="0"/>
                <a:ea typeface="Consolas" pitchFamily="34" charset="-122"/>
                <a:cs typeface="Consolas" pitchFamily="34" charset="-120"/>
              </a:rPr>
              <a:t>+ 500</a:t>
            </a:r>
            <a:endParaRPr lang="en-US" sz="1700" dirty="0"/>
          </a:p>
        </p:txBody>
      </p:sp>
      <p:sp>
        <p:nvSpPr>
          <p:cNvPr id="54" name="Text 52"/>
          <p:cNvSpPr txBox="1"/>
          <p:nvPr/>
        </p:nvSpPr>
        <p:spPr>
          <a:xfrm>
            <a:off x="6356726" y="5724144"/>
            <a:ext cx="1371600" cy="274320"/>
          </a:xfrm>
          <a:prstGeom prst="rect">
            <a:avLst/>
          </a:prstGeom>
          <a:noFill/>
          <a:ln/>
        </p:spPr>
        <p:txBody>
          <a:bodyPr wrap="square" lIns="0" tIns="0" rIns="0" bIns="0" rtlCol="0" anchor="t"/>
          <a:lstStyle/>
          <a:p>
            <a:pPr algn="l" indent="0" marL="0">
              <a:buNone/>
            </a:pPr>
            <a:r>
              <a:rPr lang="en-US" sz="880" dirty="0">
                <a:solidFill>
                  <a:srgbClr val="93A0B8"/>
                </a:solidFill>
                <a:latin typeface="Helvetica Neue" pitchFamily="34" charset="0"/>
                <a:ea typeface="Helvetica Neue" pitchFamily="34" charset="-122"/>
                <a:cs typeface="Helvetica Neue" pitchFamily="34" charset="-120"/>
              </a:rPr>
              <a:t>synthetic regression</a:t>
            </a:r>
            <a:endParaRPr lang="en-US" sz="880" dirty="0"/>
          </a:p>
        </p:txBody>
      </p:sp>
      <p:sp>
        <p:nvSpPr>
          <p:cNvPr id="55" name="Shape 53"/>
          <p:cNvSpPr/>
          <p:nvPr/>
        </p:nvSpPr>
        <p:spPr>
          <a:xfrm>
            <a:off x="7883774" y="5660136"/>
            <a:ext cx="210861" cy="0"/>
          </a:xfrm>
          <a:prstGeom prst="line">
            <a:avLst/>
          </a:prstGeom>
          <a:noFill/>
          <a:ln w="12700">
            <a:solidFill>
              <a:srgbClr val="5C6A85"/>
            </a:solidFill>
            <a:prstDash val="solid"/>
            <a:tailEnd type="triangle"/>
          </a:ln>
        </p:spPr>
      </p:sp>
      <p:sp>
        <p:nvSpPr>
          <p:cNvPr id="56" name="Shape 54"/>
          <p:cNvSpPr/>
          <p:nvPr/>
        </p:nvSpPr>
        <p:spPr>
          <a:xfrm>
            <a:off x="8122067" y="5285232"/>
            <a:ext cx="1627632" cy="749808"/>
          </a:xfrm>
          <a:prstGeom prst="roundRect">
            <a:avLst>
              <a:gd name="adj" fmla="val 9756"/>
            </a:avLst>
          </a:prstGeom>
          <a:solidFill>
            <a:srgbClr val="18233A"/>
          </a:solidFill>
          <a:ln w="9525">
            <a:solidFill>
              <a:srgbClr val="1E2A42"/>
            </a:solidFill>
            <a:prstDash val="solid"/>
          </a:ln>
        </p:spPr>
      </p:sp>
      <p:sp>
        <p:nvSpPr>
          <p:cNvPr id="57" name="Text 55"/>
          <p:cNvSpPr txBox="1"/>
          <p:nvPr/>
        </p:nvSpPr>
        <p:spPr>
          <a:xfrm>
            <a:off x="8250083" y="5358384"/>
            <a:ext cx="1371600" cy="365760"/>
          </a:xfrm>
          <a:prstGeom prst="rect">
            <a:avLst/>
          </a:prstGeom>
          <a:noFill/>
          <a:ln/>
        </p:spPr>
        <p:txBody>
          <a:bodyPr wrap="square" lIns="0" tIns="0" rIns="0" bIns="0" rtlCol="0" anchor="t"/>
          <a:lstStyle/>
          <a:p>
            <a:pPr algn="l" indent="0" marL="0">
              <a:buNone/>
            </a:pPr>
            <a:r>
              <a:rPr lang="en-US" sz="1700" b="1" dirty="0">
                <a:solidFill>
                  <a:srgbClr val="E9EEF6"/>
                </a:solidFill>
                <a:latin typeface="Consolas" pitchFamily="34" charset="0"/>
                <a:ea typeface="Consolas" pitchFamily="34" charset="-122"/>
                <a:cs typeface="Consolas" pitchFamily="34" charset="-120"/>
              </a:rPr>
              <a:t>1,000</a:t>
            </a:r>
            <a:endParaRPr lang="en-US" sz="1700" dirty="0"/>
          </a:p>
        </p:txBody>
      </p:sp>
      <p:sp>
        <p:nvSpPr>
          <p:cNvPr id="58" name="Text 56"/>
          <p:cNvSpPr txBox="1"/>
          <p:nvPr/>
        </p:nvSpPr>
        <p:spPr>
          <a:xfrm>
            <a:off x="8250083" y="5724144"/>
            <a:ext cx="1371600" cy="274320"/>
          </a:xfrm>
          <a:prstGeom prst="rect">
            <a:avLst/>
          </a:prstGeom>
          <a:noFill/>
          <a:ln/>
        </p:spPr>
        <p:txBody>
          <a:bodyPr wrap="square" lIns="0" tIns="0" rIns="0" bIns="0" rtlCol="0" anchor="t"/>
          <a:lstStyle/>
          <a:p>
            <a:pPr algn="l" indent="0" marL="0">
              <a:buNone/>
            </a:pPr>
            <a:r>
              <a:rPr lang="en-US" sz="880" dirty="0">
                <a:solidFill>
                  <a:srgbClr val="93A0B8"/>
                </a:solidFill>
                <a:latin typeface="Helvetica Neue" pitchFamily="34" charset="0"/>
                <a:ea typeface="Helvetica Neue" pitchFamily="34" charset="-122"/>
                <a:cs typeface="Helvetica Neue" pitchFamily="34" charset="-120"/>
              </a:rPr>
              <a:t>verified responses</a:t>
            </a:r>
            <a:endParaRPr lang="en-US" sz="880" dirty="0"/>
          </a:p>
        </p:txBody>
      </p:sp>
      <p:sp>
        <p:nvSpPr>
          <p:cNvPr id="59" name="Shape 57"/>
          <p:cNvSpPr/>
          <p:nvPr/>
        </p:nvSpPr>
        <p:spPr>
          <a:xfrm>
            <a:off x="9777131" y="5660136"/>
            <a:ext cx="210861" cy="0"/>
          </a:xfrm>
          <a:prstGeom prst="line">
            <a:avLst/>
          </a:prstGeom>
          <a:noFill/>
          <a:ln w="12700">
            <a:solidFill>
              <a:srgbClr val="5C6A85"/>
            </a:solidFill>
            <a:prstDash val="solid"/>
            <a:tailEnd type="triangle"/>
          </a:ln>
        </p:spPr>
      </p:sp>
      <p:sp>
        <p:nvSpPr>
          <p:cNvPr id="60" name="Shape 58"/>
          <p:cNvSpPr/>
          <p:nvPr/>
        </p:nvSpPr>
        <p:spPr>
          <a:xfrm>
            <a:off x="10015423" y="5285232"/>
            <a:ext cx="1627632" cy="749808"/>
          </a:xfrm>
          <a:prstGeom prst="roundRect">
            <a:avLst>
              <a:gd name="adj" fmla="val 9756"/>
            </a:avLst>
          </a:prstGeom>
          <a:solidFill>
            <a:srgbClr val="0F3D3A"/>
          </a:solidFill>
          <a:ln w="9525">
            <a:solidFill>
              <a:srgbClr val="2DD4BF"/>
            </a:solidFill>
            <a:prstDash val="solid"/>
          </a:ln>
        </p:spPr>
      </p:sp>
      <p:sp>
        <p:nvSpPr>
          <p:cNvPr id="61" name="Text 59"/>
          <p:cNvSpPr txBox="1"/>
          <p:nvPr/>
        </p:nvSpPr>
        <p:spPr>
          <a:xfrm>
            <a:off x="10143439" y="5358384"/>
            <a:ext cx="1371600" cy="365760"/>
          </a:xfrm>
          <a:prstGeom prst="rect">
            <a:avLst/>
          </a:prstGeom>
          <a:noFill/>
          <a:ln/>
        </p:spPr>
        <p:txBody>
          <a:bodyPr wrap="square" lIns="0" tIns="0" rIns="0" bIns="0" rtlCol="0" anchor="t"/>
          <a:lstStyle/>
          <a:p>
            <a:pPr algn="l" indent="0" marL="0">
              <a:buNone/>
            </a:pPr>
            <a:r>
              <a:rPr lang="en-US" sz="1700" b="1" dirty="0">
                <a:solidFill>
                  <a:srgbClr val="E9EEF6"/>
                </a:solidFill>
                <a:latin typeface="Consolas" pitchFamily="34" charset="0"/>
                <a:ea typeface="Consolas" pitchFamily="34" charset="-122"/>
                <a:cs typeface="Consolas" pitchFamily="34" charset="-120"/>
              </a:rPr>
              <a:t>200</a:t>
            </a:r>
            <a:endParaRPr lang="en-US" sz="1700" dirty="0"/>
          </a:p>
        </p:txBody>
      </p:sp>
      <p:sp>
        <p:nvSpPr>
          <p:cNvPr id="62" name="Text 60"/>
          <p:cNvSpPr txBox="1"/>
          <p:nvPr/>
        </p:nvSpPr>
        <p:spPr>
          <a:xfrm>
            <a:off x="10143439" y="5724144"/>
            <a:ext cx="1371600" cy="274320"/>
          </a:xfrm>
          <a:prstGeom prst="rect">
            <a:avLst/>
          </a:prstGeom>
          <a:noFill/>
          <a:ln/>
        </p:spPr>
        <p:txBody>
          <a:bodyPr wrap="square" lIns="0" tIns="0" rIns="0" bIns="0" rtlCol="0" anchor="t"/>
          <a:lstStyle/>
          <a:p>
            <a:pPr algn="l" indent="0" marL="0">
              <a:buNone/>
            </a:pPr>
            <a:r>
              <a:rPr lang="en-US" sz="880" dirty="0">
                <a:solidFill>
                  <a:srgbClr val="93A0B8"/>
                </a:solidFill>
                <a:latin typeface="Helvetica Neue" pitchFamily="34" charset="0"/>
                <a:ea typeface="Helvetica Neue" pitchFamily="34" charset="-122"/>
                <a:cs typeface="Helvetica Neue" pitchFamily="34" charset="-120"/>
              </a:rPr>
              <a:t>human-annotated pairs</a:t>
            </a:r>
            <a:endParaRPr lang="en-US" sz="88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indent="0" marL="0">
              <a:buNone/>
            </a:pPr>
            <a:r>
              <a:rPr lang="en-US" sz="1050" spc="200" kern="0" dirty="0">
                <a:solidFill>
                  <a:srgbClr val="2DD4BF"/>
                </a:solidFill>
                <a:latin typeface="Consolas" pitchFamily="34" charset="0"/>
                <a:ea typeface="Consolas" pitchFamily="34" charset="-122"/>
                <a:cs typeface="Consolas" pitchFamily="34" charset="-120"/>
              </a:rPr>
              <a:t>09 · EVALUATION DESIGN</a:t>
            </a:r>
            <a:endParaRPr lang="en-US" sz="1050" dirty="0"/>
          </a:p>
        </p:txBody>
      </p:sp>
      <p:sp>
        <p:nvSpPr>
          <p:cNvPr id="3" name="Text 1"/>
          <p:cNvSpPr txBox="1"/>
          <p:nvPr/>
        </p:nvSpPr>
        <p:spPr>
          <a:xfrm>
            <a:off x="548640" y="603504"/>
            <a:ext cx="11094415" cy="566928"/>
          </a:xfrm>
          <a:prstGeom prst="rect">
            <a:avLst/>
          </a:prstGeom>
          <a:noFill/>
          <a:ln/>
        </p:spPr>
        <p:txBody>
          <a:bodyPr wrap="square" lIns="0" tIns="0" rIns="0" bIns="0" rtlCol="0" anchor="t"/>
          <a:lstStyle/>
          <a:p>
            <a:pPr indent="0" marL="0">
              <a:buNone/>
            </a:pPr>
            <a:r>
              <a:rPr lang="en-US" sz="2100" b="1" dirty="0">
                <a:solidFill>
                  <a:srgbClr val="E9EEF6"/>
                </a:solidFill>
                <a:latin typeface="Helvetica Neue" pitchFamily="34" charset="0"/>
                <a:ea typeface="Helvetica Neue" pitchFamily="34" charset="-122"/>
                <a:cs typeface="Helvetica Neue" pitchFamily="34" charset="-120"/>
              </a:rPr>
              <a:t>Blind human reference, per-class metrics and tests of association</a:t>
            </a:r>
            <a:endParaRPr lang="en-US" sz="21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350" dirty="0">
                <a:solidFill>
                  <a:srgbClr val="93A0B8"/>
                </a:solidFill>
                <a:latin typeface="Helvetica Neue" pitchFamily="34" charset="0"/>
                <a:ea typeface="Helvetica Neue" pitchFamily="34" charset="-122"/>
                <a:cs typeface="Helvetica Neue" pitchFamily="34" charset="-120"/>
              </a:rPr>
              <a:t>Targets were fixed in the exposé before any result existed: macro-F1 ≥ 0.80 and Cohen's κ ≥ 0.70 against human judgement.</a:t>
            </a:r>
            <a:endParaRPr lang="en-US" sz="1350" dirty="0"/>
          </a:p>
        </p:txBody>
      </p:sp>
      <p:sp>
        <p:nvSpPr>
          <p:cNvPr id="5" name="Text 3"/>
          <p:cNvSpPr txBox="1"/>
          <p:nvPr/>
        </p:nvSpPr>
        <p:spPr>
          <a:xfrm>
            <a:off x="548640" y="6473952"/>
            <a:ext cx="8778240" cy="219456"/>
          </a:xfrm>
          <a:prstGeom prst="rect">
            <a:avLst/>
          </a:prstGeom>
          <a:noFill/>
          <a:ln/>
        </p:spPr>
        <p:txBody>
          <a:bodyPr wrap="square" lIns="0" tIns="0" rIns="0" bIns="0" rtlCol="0" anchor="ctr"/>
          <a:lstStyle/>
          <a:p>
            <a:pPr indent="0" marL="0">
              <a:buNone/>
            </a:pPr>
            <a:r>
              <a:rPr lang="en-US" sz="850" dirty="0">
                <a:solidFill>
                  <a:srgbClr val="5C6A85"/>
                </a:solidFill>
                <a:latin typeface="Helvetica Neue" pitchFamily="34" charset="0"/>
                <a:ea typeface="Helvetica Neue" pitchFamily="34" charset="-122"/>
                <a:cs typeface="Helvetica Neue" pitchFamily="34" charset="-120"/>
              </a:rPr>
              <a:t>ReasonGuard  ·  Runtime Verification of AI Reasoning Faithfulness  ·  R. Bilalov  ·  SRH University Hamburg / FIT VUT Brno</a:t>
            </a:r>
            <a:endParaRPr lang="en-US" sz="850" dirty="0"/>
          </a:p>
        </p:txBody>
      </p:sp>
      <p:sp>
        <p:nvSpPr>
          <p:cNvPr id="6" name="Text 4"/>
          <p:cNvSpPr txBox="1"/>
          <p:nvPr/>
        </p:nvSpPr>
        <p:spPr>
          <a:xfrm>
            <a:off x="10545775" y="6473952"/>
            <a:ext cx="1097280" cy="219456"/>
          </a:xfrm>
          <a:prstGeom prst="rect">
            <a:avLst/>
          </a:prstGeom>
          <a:noFill/>
          <a:ln/>
        </p:spPr>
        <p:txBody>
          <a:bodyPr wrap="square" lIns="0" tIns="0" rIns="0" bIns="0" rtlCol="0" anchor="ctr"/>
          <a:lstStyle/>
          <a:p>
            <a:pPr algn="r" indent="0" marL="0">
              <a:buNone/>
            </a:pPr>
            <a:r>
              <a:rPr lang="en-US" sz="900" dirty="0">
                <a:solidFill>
                  <a:srgbClr val="5C6A85"/>
                </a:solidFill>
                <a:latin typeface="Consolas" pitchFamily="34" charset="0"/>
                <a:ea typeface="Consolas" pitchFamily="34" charset="-122"/>
                <a:cs typeface="Consolas" pitchFamily="34" charset="-120"/>
              </a:rPr>
              <a:t>10 / 18</a:t>
            </a:r>
            <a:endParaRPr lang="en-US" sz="900" dirty="0"/>
          </a:p>
        </p:txBody>
      </p:sp>
      <p:sp>
        <p:nvSpPr>
          <p:cNvPr id="7" name="Shape 5"/>
          <p:cNvSpPr/>
          <p:nvPr/>
        </p:nvSpPr>
        <p:spPr>
          <a:xfrm>
            <a:off x="548640" y="1810512"/>
            <a:ext cx="3588410" cy="3291840"/>
          </a:xfrm>
          <a:prstGeom prst="roundRect">
            <a:avLst>
              <a:gd name="adj" fmla="val 2222"/>
            </a:avLst>
          </a:prstGeom>
          <a:solidFill>
            <a:srgbClr val="121B2E"/>
          </a:solidFill>
          <a:ln w="9525">
            <a:solidFill>
              <a:srgbClr val="2A3752"/>
            </a:solidFill>
            <a:prstDash val="solid"/>
          </a:ln>
        </p:spPr>
      </p:sp>
      <p:sp>
        <p:nvSpPr>
          <p:cNvPr id="8" name="Text 6"/>
          <p:cNvSpPr txBox="1"/>
          <p:nvPr/>
        </p:nvSpPr>
        <p:spPr>
          <a:xfrm>
            <a:off x="731520" y="1956816"/>
            <a:ext cx="3222650" cy="219456"/>
          </a:xfrm>
          <a:prstGeom prst="rect">
            <a:avLst/>
          </a:prstGeom>
          <a:noFill/>
          <a:ln/>
        </p:spPr>
        <p:txBody>
          <a:bodyPr wrap="square" lIns="0" tIns="0" rIns="0" bIns="0" rtlCol="0" anchor="t"/>
          <a:lstStyle/>
          <a:p>
            <a:pPr algn="l" indent="0" marL="0">
              <a:buNone/>
            </a:pPr>
            <a:r>
              <a:rPr lang="en-US" sz="950" spc="100" kern="0" dirty="0">
                <a:solidFill>
                  <a:srgbClr val="2DD4BF"/>
                </a:solidFill>
                <a:latin typeface="Consolas" pitchFamily="34" charset="0"/>
                <a:ea typeface="Consolas" pitchFamily="34" charset="-122"/>
                <a:cs typeface="Consolas" pitchFamily="34" charset="-120"/>
              </a:rPr>
              <a:t>HUMAN ANNOTATION  (200 pairs)</a:t>
            </a:r>
            <a:endParaRPr lang="en-US" sz="950" dirty="0"/>
          </a:p>
        </p:txBody>
      </p:sp>
      <p:sp>
        <p:nvSpPr>
          <p:cNvPr id="9" name="Text 7"/>
          <p:cNvSpPr txBox="1"/>
          <p:nvPr/>
        </p:nvSpPr>
        <p:spPr>
          <a:xfrm>
            <a:off x="731520" y="2267712"/>
            <a:ext cx="3222650" cy="2743200"/>
          </a:xfrm>
          <a:prstGeom prst="rect">
            <a:avLst/>
          </a:prstGeom>
          <a:noFill/>
          <a:ln/>
        </p:spPr>
        <p:txBody>
          <a:bodyPr wrap="square" lIns="0" tIns="0" rIns="0" bIns="0" rtlCol="0" anchor="t"/>
          <a:lstStyle/>
          <a:p>
            <a:pPr marL="177800" indent="-177800">
              <a:spcAft>
                <a:spcPts val="500"/>
              </a:spcAft>
              <a:buSzPct val="100000"/>
              <a:buChar char="▪"/>
            </a:pPr>
            <a:r>
              <a:rPr lang="en-US" sz="950" dirty="0">
                <a:solidFill>
                  <a:srgbClr val="C7D0DE"/>
                </a:solidFill>
                <a:latin typeface="Helvetica Neue" pitchFamily="34" charset="0"/>
                <a:ea typeface="Helvetica Neue" pitchFamily="34" charset="-122"/>
                <a:cs typeface="Helvetica Neue" pitchFamily="34" charset="-120"/>
              </a:rPr>
              <a:t>Annotator blind to ReasonGuard's verdict; terminal helper shows one (bound, explanation) pair at a time</a:t>
            </a:r>
            <a:endParaRPr lang="en-US" sz="950" dirty="0"/>
          </a:p>
          <a:p>
            <a:pPr marL="177800" indent="-177800">
              <a:spcAft>
                <a:spcPts val="500"/>
              </a:spcAft>
              <a:buSzPct val="100000"/>
              <a:buChar char="▪"/>
            </a:pPr>
            <a:r>
              <a:rPr lang="en-US" sz="950" dirty="0">
                <a:solidFill>
                  <a:srgbClr val="C7D0DE"/>
                </a:solidFill>
                <a:latin typeface="Helvetica Neue" pitchFamily="34" charset="0"/>
                <a:ea typeface="Helvetica Neue" pitchFamily="34" charset="-122"/>
                <a:cs typeface="Helvetica Neue" pitchFamily="34" charset="-120"/>
              </a:rPr>
              <a:t>Sampled to cover every class, not uniformly at random — rare classes would otherwise be absent</a:t>
            </a:r>
            <a:endParaRPr lang="en-US" sz="950" dirty="0"/>
          </a:p>
          <a:p>
            <a:pPr marL="177800" indent="-177800">
              <a:spcAft>
                <a:spcPts val="500"/>
              </a:spcAft>
              <a:buSzPct val="100000"/>
              <a:buChar char="▪"/>
            </a:pPr>
            <a:r>
              <a:rPr lang="en-US" sz="950" dirty="0">
                <a:solidFill>
                  <a:srgbClr val="C7D0DE"/>
                </a:solidFill>
                <a:latin typeface="Helvetica Neue" pitchFamily="34" charset="0"/>
                <a:ea typeface="Helvetica Neue" pitchFamily="34" charset="-122"/>
                <a:cs typeface="Helvetica Neue" pitchFamily="34" charset="-120"/>
              </a:rPr>
              <a:t>First full pass discarded: fatigue drove agreement towards 0 → re-annotated in batches of 25 with enforced breaks</a:t>
            </a:r>
            <a:endParaRPr lang="en-US" sz="950" dirty="0"/>
          </a:p>
          <a:p>
            <a:pPr marL="177800" indent="-177800">
              <a:spcAft>
                <a:spcPts val="500"/>
              </a:spcAft>
              <a:buSzPct val="100000"/>
              <a:buChar char="▪"/>
            </a:pPr>
            <a:r>
              <a:rPr lang="en-US" sz="950" dirty="0">
                <a:solidFill>
                  <a:srgbClr val="C7D0DE"/>
                </a:solidFill>
                <a:latin typeface="Helvetica Neue" pitchFamily="34" charset="0"/>
                <a:ea typeface="Helvetica Neue" pitchFamily="34" charset="-122"/>
                <a:cs typeface="Helvetica Neue" pitchFamily="34" charset="-120"/>
              </a:rPr>
              <a:t>Decision order: forbidden claim? → required claim missing? → specifics lost? → self-contradiction? → NONE; several violations ⇒ MIXED</a:t>
            </a:r>
            <a:endParaRPr lang="en-US" sz="950" dirty="0"/>
          </a:p>
          <a:p>
            <a:pPr marL="177800" indent="-177800">
              <a:spcAft>
                <a:spcPts val="500"/>
              </a:spcAft>
              <a:buSzPct val="100000"/>
              <a:buChar char="▪"/>
            </a:pPr>
            <a:r>
              <a:rPr lang="en-US" sz="950" dirty="0">
                <a:solidFill>
                  <a:srgbClr val="F5A524"/>
                </a:solidFill>
                <a:latin typeface="Helvetica Neue" pitchFamily="34" charset="0"/>
                <a:ea typeface="Helvetica Neue" pitchFamily="34" charset="-122"/>
                <a:cs typeface="Helvetica Neue" pitchFamily="34" charset="-120"/>
              </a:rPr>
              <a:t>Single annotator (author). A disjoint 50-pair blind package was sent to a domain expert at Brno University of Technology — results were not yet available for the thesis.</a:t>
            </a:r>
            <a:endParaRPr lang="en-US" sz="950" dirty="0"/>
          </a:p>
        </p:txBody>
      </p:sp>
      <p:sp>
        <p:nvSpPr>
          <p:cNvPr id="10" name="Shape 8"/>
          <p:cNvSpPr/>
          <p:nvPr/>
        </p:nvSpPr>
        <p:spPr>
          <a:xfrm>
            <a:off x="4301642" y="1810512"/>
            <a:ext cx="3588410" cy="3291840"/>
          </a:xfrm>
          <a:prstGeom prst="roundRect">
            <a:avLst>
              <a:gd name="adj" fmla="val 2222"/>
            </a:avLst>
          </a:prstGeom>
          <a:solidFill>
            <a:srgbClr val="121B2E"/>
          </a:solidFill>
          <a:ln w="9525">
            <a:solidFill>
              <a:srgbClr val="2A3752"/>
            </a:solidFill>
            <a:prstDash val="solid"/>
          </a:ln>
        </p:spPr>
      </p:sp>
      <p:sp>
        <p:nvSpPr>
          <p:cNvPr id="11" name="Text 9"/>
          <p:cNvSpPr txBox="1"/>
          <p:nvPr/>
        </p:nvSpPr>
        <p:spPr>
          <a:xfrm>
            <a:off x="4484522" y="1956816"/>
            <a:ext cx="3222650" cy="219456"/>
          </a:xfrm>
          <a:prstGeom prst="rect">
            <a:avLst/>
          </a:prstGeom>
          <a:noFill/>
          <a:ln/>
        </p:spPr>
        <p:txBody>
          <a:bodyPr wrap="square" lIns="0" tIns="0" rIns="0" bIns="0" rtlCol="0" anchor="t"/>
          <a:lstStyle/>
          <a:p>
            <a:pPr algn="l" indent="0" marL="0">
              <a:buNone/>
            </a:pPr>
            <a:r>
              <a:rPr lang="en-US" sz="950" spc="100" kern="0" dirty="0">
                <a:solidFill>
                  <a:srgbClr val="2DD4BF"/>
                </a:solidFill>
                <a:latin typeface="Consolas" pitchFamily="34" charset="0"/>
                <a:ea typeface="Consolas" pitchFamily="34" charset="-122"/>
                <a:cs typeface="Consolas" pitchFamily="34" charset="-120"/>
              </a:rPr>
              <a:t>DETECTOR METRICS</a:t>
            </a:r>
            <a:endParaRPr lang="en-US" sz="950" dirty="0"/>
          </a:p>
        </p:txBody>
      </p:sp>
      <p:sp>
        <p:nvSpPr>
          <p:cNvPr id="12" name="Text 10"/>
          <p:cNvSpPr txBox="1"/>
          <p:nvPr/>
        </p:nvSpPr>
        <p:spPr>
          <a:xfrm>
            <a:off x="4484522" y="2267712"/>
            <a:ext cx="322265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Per-class precision · recall · F1</a:t>
            </a:r>
            <a:endParaRPr lang="en-US" sz="1050" dirty="0"/>
          </a:p>
        </p:txBody>
      </p:sp>
      <p:sp>
        <p:nvSpPr>
          <p:cNvPr id="13" name="Text 11"/>
          <p:cNvSpPr txBox="1"/>
          <p:nvPr/>
        </p:nvSpPr>
        <p:spPr>
          <a:xfrm>
            <a:off x="4484522" y="2505456"/>
            <a:ext cx="3222650" cy="384048"/>
          </a:xfrm>
          <a:prstGeom prst="rect">
            <a:avLst/>
          </a:prstGeom>
          <a:noFill/>
          <a:ln/>
        </p:spPr>
        <p:txBody>
          <a:bodyPr wrap="square" lIns="0" tIns="0" rIns="0" bIns="0" rtlCol="0" anchor="t"/>
          <a:lstStyle/>
          <a:p>
            <a:pPr algn="l" indent="0" marL="0">
              <a:lnSpc>
                <a:spcPct val="103000"/>
              </a:lnSpc>
              <a:buNone/>
            </a:pPr>
            <a:r>
              <a:rPr lang="en-US" sz="900" dirty="0">
                <a:solidFill>
                  <a:srgbClr val="93A0B8"/>
                </a:solidFill>
                <a:latin typeface="Helvetica Neue" pitchFamily="34" charset="0"/>
                <a:ea typeface="Helvetica Neue" pitchFamily="34" charset="-122"/>
                <a:cs typeface="Helvetica Neue" pitchFamily="34" charset="-120"/>
              </a:rPr>
              <a:t>TP / FP / FN per class; the unit is one response with its collapsed label</a:t>
            </a:r>
            <a:endParaRPr lang="en-US" sz="900" dirty="0"/>
          </a:p>
        </p:txBody>
      </p:sp>
      <p:sp>
        <p:nvSpPr>
          <p:cNvPr id="14" name="Text 12"/>
          <p:cNvSpPr txBox="1"/>
          <p:nvPr/>
        </p:nvSpPr>
        <p:spPr>
          <a:xfrm>
            <a:off x="4484522" y="2944368"/>
            <a:ext cx="322265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Macro-F1</a:t>
            </a:r>
            <a:endParaRPr lang="en-US" sz="1050" dirty="0"/>
          </a:p>
        </p:txBody>
      </p:sp>
      <p:sp>
        <p:nvSpPr>
          <p:cNvPr id="15" name="Text 13"/>
          <p:cNvSpPr txBox="1"/>
          <p:nvPr/>
        </p:nvSpPr>
        <p:spPr>
          <a:xfrm>
            <a:off x="4484522" y="3182112"/>
            <a:ext cx="3222650" cy="384048"/>
          </a:xfrm>
          <a:prstGeom prst="rect">
            <a:avLst/>
          </a:prstGeom>
          <a:noFill/>
          <a:ln/>
        </p:spPr>
        <p:txBody>
          <a:bodyPr wrap="square" lIns="0" tIns="0" rIns="0" bIns="0" rtlCol="0" anchor="t"/>
          <a:lstStyle/>
          <a:p>
            <a:pPr algn="l" indent="0" marL="0">
              <a:lnSpc>
                <a:spcPct val="103000"/>
              </a:lnSpc>
              <a:buNone/>
            </a:pPr>
            <a:r>
              <a:rPr lang="en-US" sz="900" dirty="0">
                <a:solidFill>
                  <a:srgbClr val="93A0B8"/>
                </a:solidFill>
                <a:latin typeface="Helvetica Neue" pitchFamily="34" charset="0"/>
                <a:ea typeface="Helvetica Neue" pitchFamily="34" charset="-122"/>
                <a:cs typeface="Helvetica Neue" pitchFamily="34" charset="-120"/>
              </a:rPr>
              <a:t>unweighted mean over NONE, V1–V5; MIXED excluded — rare classes weigh as much as common ones</a:t>
            </a:r>
            <a:endParaRPr lang="en-US" sz="900" dirty="0"/>
          </a:p>
        </p:txBody>
      </p:sp>
      <p:sp>
        <p:nvSpPr>
          <p:cNvPr id="16" name="Text 14"/>
          <p:cNvSpPr txBox="1"/>
          <p:nvPr/>
        </p:nvSpPr>
        <p:spPr>
          <a:xfrm>
            <a:off x="4484522" y="3621024"/>
            <a:ext cx="322265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Accuracy</a:t>
            </a:r>
            <a:endParaRPr lang="en-US" sz="1050" dirty="0"/>
          </a:p>
        </p:txBody>
      </p:sp>
      <p:sp>
        <p:nvSpPr>
          <p:cNvPr id="17" name="Text 15"/>
          <p:cNvSpPr txBox="1"/>
          <p:nvPr/>
        </p:nvSpPr>
        <p:spPr>
          <a:xfrm>
            <a:off x="4484522" y="3858768"/>
            <a:ext cx="3222650" cy="384048"/>
          </a:xfrm>
          <a:prstGeom prst="rect">
            <a:avLst/>
          </a:prstGeom>
          <a:noFill/>
          <a:ln/>
        </p:spPr>
        <p:txBody>
          <a:bodyPr wrap="square" lIns="0" tIns="0" rIns="0" bIns="0" rtlCol="0" anchor="t"/>
          <a:lstStyle/>
          <a:p>
            <a:pPr algn="l" indent="0" marL="0">
              <a:lnSpc>
                <a:spcPct val="103000"/>
              </a:lnSpc>
              <a:buNone/>
            </a:pPr>
            <a:r>
              <a:rPr lang="en-US" sz="900" dirty="0">
                <a:solidFill>
                  <a:srgbClr val="93A0B8"/>
                </a:solidFill>
                <a:latin typeface="Helvetica Neue" pitchFamily="34" charset="0"/>
                <a:ea typeface="Helvetica Neue" pitchFamily="34" charset="-122"/>
                <a:cs typeface="Helvetica Neue" pitchFamily="34" charset="-120"/>
              </a:rPr>
              <a:t>reported, but least informative: no partial credit when the human label is MIXED</a:t>
            </a:r>
            <a:endParaRPr lang="en-US" sz="900" dirty="0"/>
          </a:p>
        </p:txBody>
      </p:sp>
      <p:sp>
        <p:nvSpPr>
          <p:cNvPr id="18" name="Text 16"/>
          <p:cNvSpPr txBox="1"/>
          <p:nvPr/>
        </p:nvSpPr>
        <p:spPr>
          <a:xfrm>
            <a:off x="4484522" y="4297680"/>
            <a:ext cx="322265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Cohen's κ</a:t>
            </a:r>
            <a:endParaRPr lang="en-US" sz="1050" dirty="0"/>
          </a:p>
        </p:txBody>
      </p:sp>
      <p:sp>
        <p:nvSpPr>
          <p:cNvPr id="19" name="Text 17"/>
          <p:cNvSpPr txBox="1"/>
          <p:nvPr/>
        </p:nvSpPr>
        <p:spPr>
          <a:xfrm>
            <a:off x="4484522" y="4535424"/>
            <a:ext cx="3222650" cy="384048"/>
          </a:xfrm>
          <a:prstGeom prst="rect">
            <a:avLst/>
          </a:prstGeom>
          <a:noFill/>
          <a:ln/>
        </p:spPr>
        <p:txBody>
          <a:bodyPr wrap="square" lIns="0" tIns="0" rIns="0" bIns="0" rtlCol="0" anchor="t"/>
          <a:lstStyle/>
          <a:p>
            <a:pPr algn="l" indent="0" marL="0">
              <a:lnSpc>
                <a:spcPct val="103000"/>
              </a:lnSpc>
              <a:buNone/>
            </a:pPr>
            <a:r>
              <a:rPr lang="en-US" sz="900" dirty="0">
                <a:solidFill>
                  <a:srgbClr val="93A0B8"/>
                </a:solidFill>
                <a:latin typeface="Helvetica Neue" pitchFamily="34" charset="0"/>
                <a:ea typeface="Helvetica Neue" pitchFamily="34" charset="-122"/>
                <a:cs typeface="Helvetica Neue" pitchFamily="34" charset="-120"/>
              </a:rPr>
              <a:t>chance-corrected agreement ReasonGuard vs. human — the main reliability metric (target ≥ 0.70)</a:t>
            </a:r>
            <a:endParaRPr lang="en-US" sz="900" dirty="0"/>
          </a:p>
        </p:txBody>
      </p:sp>
      <p:sp>
        <p:nvSpPr>
          <p:cNvPr id="20" name="Shape 18"/>
          <p:cNvSpPr/>
          <p:nvPr/>
        </p:nvSpPr>
        <p:spPr>
          <a:xfrm>
            <a:off x="8054645" y="1810512"/>
            <a:ext cx="3588410" cy="3291840"/>
          </a:xfrm>
          <a:prstGeom prst="roundRect">
            <a:avLst>
              <a:gd name="adj" fmla="val 2222"/>
            </a:avLst>
          </a:prstGeom>
          <a:solidFill>
            <a:srgbClr val="121B2E"/>
          </a:solidFill>
          <a:ln w="9525">
            <a:solidFill>
              <a:srgbClr val="2A3752"/>
            </a:solidFill>
            <a:prstDash val="solid"/>
          </a:ln>
        </p:spPr>
      </p:sp>
      <p:sp>
        <p:nvSpPr>
          <p:cNvPr id="21" name="Text 19"/>
          <p:cNvSpPr txBox="1"/>
          <p:nvPr/>
        </p:nvSpPr>
        <p:spPr>
          <a:xfrm>
            <a:off x="8237525" y="1956816"/>
            <a:ext cx="3222650" cy="219456"/>
          </a:xfrm>
          <a:prstGeom prst="rect">
            <a:avLst/>
          </a:prstGeom>
          <a:noFill/>
          <a:ln/>
        </p:spPr>
        <p:txBody>
          <a:bodyPr wrap="square" lIns="0" tIns="0" rIns="0" bIns="0" rtlCol="0" anchor="t"/>
          <a:lstStyle/>
          <a:p>
            <a:pPr algn="l" indent="0" marL="0">
              <a:buNone/>
            </a:pPr>
            <a:r>
              <a:rPr lang="en-US" sz="950" spc="100" kern="0" dirty="0">
                <a:solidFill>
                  <a:srgbClr val="2DD4BF"/>
                </a:solidFill>
                <a:latin typeface="Consolas" pitchFamily="34" charset="0"/>
                <a:ea typeface="Consolas" pitchFamily="34" charset="-122"/>
                <a:cs typeface="Consolas" pitchFamily="34" charset="-120"/>
              </a:rPr>
              <a:t>ASSOCIATION TESTS</a:t>
            </a:r>
            <a:endParaRPr lang="en-US" sz="950" dirty="0"/>
          </a:p>
        </p:txBody>
      </p:sp>
      <p:sp>
        <p:nvSpPr>
          <p:cNvPr id="22" name="Text 20"/>
          <p:cNvSpPr txBox="1"/>
          <p:nvPr/>
        </p:nvSpPr>
        <p:spPr>
          <a:xfrm>
            <a:off x="8237525" y="2267712"/>
            <a:ext cx="322265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χ² test of independence</a:t>
            </a:r>
            <a:endParaRPr lang="en-US" sz="1050" dirty="0"/>
          </a:p>
        </p:txBody>
      </p:sp>
      <p:sp>
        <p:nvSpPr>
          <p:cNvPr id="23" name="Text 21"/>
          <p:cNvSpPr txBox="1"/>
          <p:nvPr/>
        </p:nvSpPr>
        <p:spPr>
          <a:xfrm>
            <a:off x="8237525" y="2505456"/>
            <a:ext cx="3222650" cy="384048"/>
          </a:xfrm>
          <a:prstGeom prst="rect">
            <a:avLst/>
          </a:prstGeom>
          <a:noFill/>
          <a:ln/>
        </p:spPr>
        <p:txBody>
          <a:bodyPr wrap="square" lIns="0" tIns="0" rIns="0" bIns="0" rtlCol="0" anchor="t"/>
          <a:lstStyle/>
          <a:p>
            <a:pPr algn="l" indent="0" marL="0">
              <a:lnSpc>
                <a:spcPct val="103000"/>
              </a:lnSpc>
              <a:buNone/>
            </a:pPr>
            <a:r>
              <a:rPr lang="en-US" sz="900" dirty="0">
                <a:solidFill>
                  <a:srgbClr val="93A0B8"/>
                </a:solidFill>
                <a:latin typeface="Helvetica Neue" pitchFamily="34" charset="0"/>
                <a:ea typeface="Helvetica Neue" pitchFamily="34" charset="-122"/>
                <a:cs typeface="Helvetica Neue" pitchFamily="34" charset="-120"/>
              </a:rPr>
              <a:t>violation label (one per response) vs. (a) model and (b) proxy event type; α = 0.05</a:t>
            </a:r>
            <a:endParaRPr lang="en-US" sz="900" dirty="0"/>
          </a:p>
        </p:txBody>
      </p:sp>
      <p:sp>
        <p:nvSpPr>
          <p:cNvPr id="24" name="Text 22"/>
          <p:cNvSpPr txBox="1"/>
          <p:nvPr/>
        </p:nvSpPr>
        <p:spPr>
          <a:xfrm>
            <a:off x="8237525" y="2944368"/>
            <a:ext cx="322265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Sample sizes</a:t>
            </a:r>
            <a:endParaRPr lang="en-US" sz="1050" dirty="0"/>
          </a:p>
        </p:txBody>
      </p:sp>
      <p:sp>
        <p:nvSpPr>
          <p:cNvPr id="25" name="Text 23"/>
          <p:cNvSpPr txBox="1"/>
          <p:nvPr/>
        </p:nvSpPr>
        <p:spPr>
          <a:xfrm>
            <a:off x="8237525" y="3182112"/>
            <a:ext cx="3222650" cy="384048"/>
          </a:xfrm>
          <a:prstGeom prst="rect">
            <a:avLst/>
          </a:prstGeom>
          <a:noFill/>
          <a:ln/>
        </p:spPr>
        <p:txBody>
          <a:bodyPr wrap="square" lIns="0" tIns="0" rIns="0" bIns="0" rtlCol="0" anchor="t"/>
          <a:lstStyle/>
          <a:p>
            <a:pPr algn="l" indent="0" marL="0">
              <a:lnSpc>
                <a:spcPct val="103000"/>
              </a:lnSpc>
              <a:buNone/>
            </a:pPr>
            <a:r>
              <a:rPr lang="en-US" sz="900" dirty="0">
                <a:solidFill>
                  <a:srgbClr val="93A0B8"/>
                </a:solidFill>
                <a:latin typeface="Helvetica Neue" pitchFamily="34" charset="0"/>
                <a:ea typeface="Helvetica Neue" pitchFamily="34" charset="-122"/>
                <a:cs typeface="Helvetica Neue" pitchFamily="34" charset="-120"/>
              </a:rPr>
              <a:t>model test N = 500 (synthetic excluded — it is not a language model); event-type test N = 1,000</a:t>
            </a:r>
            <a:endParaRPr lang="en-US" sz="900" dirty="0"/>
          </a:p>
        </p:txBody>
      </p:sp>
      <p:sp>
        <p:nvSpPr>
          <p:cNvPr id="26" name="Text 24"/>
          <p:cNvSpPr txBox="1"/>
          <p:nvPr/>
        </p:nvSpPr>
        <p:spPr>
          <a:xfrm>
            <a:off x="8237525" y="3621024"/>
            <a:ext cx="322265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Labels tested</a:t>
            </a:r>
            <a:endParaRPr lang="en-US" sz="1050" dirty="0"/>
          </a:p>
        </p:txBody>
      </p:sp>
      <p:sp>
        <p:nvSpPr>
          <p:cNvPr id="27" name="Text 25"/>
          <p:cNvSpPr txBox="1"/>
          <p:nvPr/>
        </p:nvSpPr>
        <p:spPr>
          <a:xfrm>
            <a:off x="8237525" y="3858768"/>
            <a:ext cx="3222650" cy="384048"/>
          </a:xfrm>
          <a:prstGeom prst="rect">
            <a:avLst/>
          </a:prstGeom>
          <a:noFill/>
          <a:ln/>
        </p:spPr>
        <p:txBody>
          <a:bodyPr wrap="square" lIns="0" tIns="0" rIns="0" bIns="0" rtlCol="0" anchor="t"/>
          <a:lstStyle/>
          <a:p>
            <a:pPr algn="l" indent="0" marL="0">
              <a:lnSpc>
                <a:spcPct val="103000"/>
              </a:lnSpc>
              <a:buNone/>
            </a:pPr>
            <a:r>
              <a:rPr lang="en-US" sz="900" dirty="0">
                <a:solidFill>
                  <a:srgbClr val="93A0B8"/>
                </a:solidFill>
                <a:latin typeface="Helvetica Neue" pitchFamily="34" charset="0"/>
                <a:ea typeface="Helvetica Neue" pitchFamily="34" charset="-122"/>
                <a:cs typeface="Helvetica Neue" pitchFamily="34" charset="-120"/>
              </a:rPr>
              <a:t>NONE, V1, V4, V5, MIXED — V2 and V3 dropped (zero count across all groups)</a:t>
            </a:r>
            <a:endParaRPr lang="en-US" sz="900" dirty="0"/>
          </a:p>
        </p:txBody>
      </p:sp>
      <p:sp>
        <p:nvSpPr>
          <p:cNvPr id="28" name="Text 26"/>
          <p:cNvSpPr txBox="1"/>
          <p:nvPr/>
        </p:nvSpPr>
        <p:spPr>
          <a:xfrm>
            <a:off x="8237525" y="4297680"/>
            <a:ext cx="3222650" cy="237744"/>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Effect size and assumptions</a:t>
            </a:r>
            <a:endParaRPr lang="en-US" sz="1050" dirty="0"/>
          </a:p>
        </p:txBody>
      </p:sp>
      <p:sp>
        <p:nvSpPr>
          <p:cNvPr id="29" name="Text 27"/>
          <p:cNvSpPr txBox="1"/>
          <p:nvPr/>
        </p:nvSpPr>
        <p:spPr>
          <a:xfrm>
            <a:off x="8237525" y="4535424"/>
            <a:ext cx="3222650" cy="384048"/>
          </a:xfrm>
          <a:prstGeom prst="rect">
            <a:avLst/>
          </a:prstGeom>
          <a:noFill/>
          <a:ln/>
        </p:spPr>
        <p:txBody>
          <a:bodyPr wrap="square" lIns="0" tIns="0" rIns="0" bIns="0" rtlCol="0" anchor="t"/>
          <a:lstStyle/>
          <a:p>
            <a:pPr algn="l" indent="0" marL="0">
              <a:lnSpc>
                <a:spcPct val="103000"/>
              </a:lnSpc>
              <a:buNone/>
            </a:pPr>
            <a:r>
              <a:rPr lang="en-US" sz="900" dirty="0">
                <a:solidFill>
                  <a:srgbClr val="93A0B8"/>
                </a:solidFill>
                <a:latin typeface="Helvetica Neue" pitchFamily="34" charset="0"/>
                <a:ea typeface="Helvetica Neue" pitchFamily="34" charset="-122"/>
                <a:cs typeface="Helvetica Neue" pitchFamily="34" charset="-120"/>
              </a:rPr>
              <a:t>Cramér's V; 20 % of expected cells &lt; 5, no expected count below 2</a:t>
            </a:r>
            <a:endParaRPr lang="en-US" sz="900" dirty="0"/>
          </a:p>
        </p:txBody>
      </p:sp>
      <p:sp>
        <p:nvSpPr>
          <p:cNvPr id="30" name="Text 28"/>
          <p:cNvSpPr txBox="1"/>
          <p:nvPr/>
        </p:nvSpPr>
        <p:spPr>
          <a:xfrm>
            <a:off x="548640" y="5285232"/>
            <a:ext cx="4572000" cy="201168"/>
          </a:xfrm>
          <a:prstGeom prst="rect">
            <a:avLst/>
          </a:prstGeom>
          <a:noFill/>
          <a:ln/>
        </p:spPr>
        <p:txBody>
          <a:bodyPr wrap="square" lIns="0" tIns="0" rIns="0" bIns="0" rtlCol="0" anchor="t"/>
          <a:lstStyle/>
          <a:p>
            <a:pPr algn="l" indent="0" marL="0">
              <a:buNone/>
            </a:pPr>
            <a:r>
              <a:rPr lang="en-US" sz="850" spc="100" kern="0" dirty="0">
                <a:solidFill>
                  <a:srgbClr val="93A0B8"/>
                </a:solidFill>
                <a:latin typeface="Consolas" pitchFamily="34" charset="0"/>
                <a:ea typeface="Consolas" pitchFamily="34" charset="-122"/>
                <a:cs typeface="Consolas" pitchFamily="34" charset="-120"/>
              </a:rPr>
              <a:t>COMPOSITION OF THE 200 ANNOTATED PAIRS</a:t>
            </a:r>
            <a:endParaRPr lang="en-US" sz="850" dirty="0"/>
          </a:p>
        </p:txBody>
      </p:sp>
      <p:sp>
        <p:nvSpPr>
          <p:cNvPr id="31" name="Shape 29"/>
          <p:cNvSpPr/>
          <p:nvPr/>
        </p:nvSpPr>
        <p:spPr>
          <a:xfrm>
            <a:off x="548640" y="5522976"/>
            <a:ext cx="4655951" cy="384048"/>
          </a:xfrm>
          <a:prstGeom prst="rect">
            <a:avLst/>
          </a:prstGeom>
          <a:solidFill>
            <a:srgbClr val="1F2C47"/>
          </a:solidFill>
          <a:ln w="12700">
            <a:solidFill>
              <a:srgbClr val="0B1220"/>
            </a:solidFill>
            <a:prstDash val="solid"/>
          </a:ln>
        </p:spPr>
      </p:sp>
      <p:sp>
        <p:nvSpPr>
          <p:cNvPr id="32" name="Text 30"/>
          <p:cNvSpPr txBox="1"/>
          <p:nvPr/>
        </p:nvSpPr>
        <p:spPr>
          <a:xfrm>
            <a:off x="640080" y="5522976"/>
            <a:ext cx="4518791" cy="384048"/>
          </a:xfrm>
          <a:prstGeom prst="rect">
            <a:avLst/>
          </a:prstGeom>
          <a:noFill/>
          <a:ln/>
        </p:spPr>
        <p:txBody>
          <a:bodyPr wrap="square" lIns="0" tIns="0" rIns="0" bIns="0" rtlCol="0" anchor="ctr"/>
          <a:lstStyle/>
          <a:p>
            <a:pPr algn="l" indent="0" marL="0">
              <a:buNone/>
            </a:pPr>
            <a:r>
              <a:rPr lang="en-US" sz="900" dirty="0">
                <a:solidFill>
                  <a:srgbClr val="E9EEF6"/>
                </a:solidFill>
                <a:latin typeface="Helvetica Neue" pitchFamily="34" charset="0"/>
                <a:ea typeface="Helvetica Neue" pitchFamily="34" charset="-122"/>
                <a:cs typeface="Helvetica Neue" pitchFamily="34" charset="-120"/>
              </a:rPr>
              <a:t>synthetic regression  114</a:t>
            </a:r>
            <a:endParaRPr lang="en-US" sz="900" dirty="0"/>
          </a:p>
        </p:txBody>
      </p:sp>
      <p:sp>
        <p:nvSpPr>
          <p:cNvPr id="33" name="Shape 31"/>
          <p:cNvSpPr/>
          <p:nvPr/>
        </p:nvSpPr>
        <p:spPr>
          <a:xfrm>
            <a:off x="5204591" y="5522976"/>
            <a:ext cx="1021042" cy="384048"/>
          </a:xfrm>
          <a:prstGeom prst="rect">
            <a:avLst/>
          </a:prstGeom>
          <a:solidFill>
            <a:srgbClr val="16605A"/>
          </a:solidFill>
          <a:ln w="12700">
            <a:solidFill>
              <a:srgbClr val="0B1220"/>
            </a:solidFill>
            <a:prstDash val="solid"/>
          </a:ln>
        </p:spPr>
      </p:sp>
      <p:sp>
        <p:nvSpPr>
          <p:cNvPr id="34" name="Text 32"/>
          <p:cNvSpPr txBox="1"/>
          <p:nvPr/>
        </p:nvSpPr>
        <p:spPr>
          <a:xfrm>
            <a:off x="5296031" y="5522976"/>
            <a:ext cx="883882" cy="384048"/>
          </a:xfrm>
          <a:prstGeom prst="rect">
            <a:avLst/>
          </a:prstGeom>
          <a:noFill/>
          <a:ln/>
        </p:spPr>
        <p:txBody>
          <a:bodyPr wrap="square" lIns="0" tIns="0" rIns="0" bIns="0" rtlCol="0" anchor="ctr"/>
          <a:lstStyle/>
          <a:p>
            <a:pPr algn="l" indent="0" marL="0">
              <a:buNone/>
            </a:pPr>
            <a:r>
              <a:rPr lang="en-US" sz="900" dirty="0">
                <a:solidFill>
                  <a:srgbClr val="E9EEF6"/>
                </a:solidFill>
                <a:latin typeface="Helvetica Neue" pitchFamily="34" charset="0"/>
                <a:ea typeface="Helvetica Neue" pitchFamily="34" charset="-122"/>
                <a:cs typeface="Helvetica Neue" pitchFamily="34" charset="-120"/>
              </a:rPr>
              <a:t>llama3.1:8b  25</a:t>
            </a:r>
            <a:endParaRPr lang="en-US" sz="900" dirty="0"/>
          </a:p>
        </p:txBody>
      </p:sp>
      <p:sp>
        <p:nvSpPr>
          <p:cNvPr id="35" name="Shape 33"/>
          <p:cNvSpPr/>
          <p:nvPr/>
        </p:nvSpPr>
        <p:spPr>
          <a:xfrm>
            <a:off x="6225633" y="5522976"/>
            <a:ext cx="1143567" cy="384048"/>
          </a:xfrm>
          <a:prstGeom prst="rect">
            <a:avLst/>
          </a:prstGeom>
          <a:solidFill>
            <a:srgbClr val="0F3D3A"/>
          </a:solidFill>
          <a:ln w="12700">
            <a:solidFill>
              <a:srgbClr val="0B1220"/>
            </a:solidFill>
            <a:prstDash val="solid"/>
          </a:ln>
        </p:spPr>
      </p:sp>
      <p:sp>
        <p:nvSpPr>
          <p:cNvPr id="36" name="Text 34"/>
          <p:cNvSpPr txBox="1"/>
          <p:nvPr/>
        </p:nvSpPr>
        <p:spPr>
          <a:xfrm>
            <a:off x="6317073" y="5522976"/>
            <a:ext cx="1006407" cy="384048"/>
          </a:xfrm>
          <a:prstGeom prst="rect">
            <a:avLst/>
          </a:prstGeom>
          <a:noFill/>
          <a:ln/>
        </p:spPr>
        <p:txBody>
          <a:bodyPr wrap="square" lIns="0" tIns="0" rIns="0" bIns="0" rtlCol="0" anchor="ctr"/>
          <a:lstStyle/>
          <a:p>
            <a:pPr algn="l" indent="0" marL="0">
              <a:buNone/>
            </a:pPr>
            <a:r>
              <a:rPr lang="en-US" sz="900" dirty="0">
                <a:solidFill>
                  <a:srgbClr val="E9EEF6"/>
                </a:solidFill>
                <a:latin typeface="Helvetica Neue" pitchFamily="34" charset="0"/>
                <a:ea typeface="Helvetica Neue" pitchFamily="34" charset="-122"/>
                <a:cs typeface="Helvetica Neue" pitchFamily="34" charset="-120"/>
              </a:rPr>
              <a:t>mistral:7b  28</a:t>
            </a:r>
            <a:endParaRPr lang="en-US" sz="900" dirty="0"/>
          </a:p>
        </p:txBody>
      </p:sp>
      <p:sp>
        <p:nvSpPr>
          <p:cNvPr id="37" name="Shape 35"/>
          <p:cNvSpPr/>
          <p:nvPr/>
        </p:nvSpPr>
        <p:spPr>
          <a:xfrm>
            <a:off x="7369200" y="5522976"/>
            <a:ext cx="1347775" cy="384048"/>
          </a:xfrm>
          <a:prstGeom prst="rect">
            <a:avLst/>
          </a:prstGeom>
          <a:solidFill>
            <a:srgbClr val="0E4A45"/>
          </a:solidFill>
          <a:ln w="12700">
            <a:solidFill>
              <a:srgbClr val="0B1220"/>
            </a:solidFill>
            <a:prstDash val="solid"/>
          </a:ln>
        </p:spPr>
      </p:sp>
      <p:sp>
        <p:nvSpPr>
          <p:cNvPr id="38" name="Text 36"/>
          <p:cNvSpPr txBox="1"/>
          <p:nvPr/>
        </p:nvSpPr>
        <p:spPr>
          <a:xfrm>
            <a:off x="7460640" y="5522976"/>
            <a:ext cx="1210615" cy="384048"/>
          </a:xfrm>
          <a:prstGeom prst="rect">
            <a:avLst/>
          </a:prstGeom>
          <a:noFill/>
          <a:ln/>
        </p:spPr>
        <p:txBody>
          <a:bodyPr wrap="square" lIns="0" tIns="0" rIns="0" bIns="0" rtlCol="0" anchor="ctr"/>
          <a:lstStyle/>
          <a:p>
            <a:pPr algn="l" indent="0" marL="0">
              <a:buNone/>
            </a:pPr>
            <a:r>
              <a:rPr lang="en-US" sz="900" dirty="0">
                <a:solidFill>
                  <a:srgbClr val="E9EEF6"/>
                </a:solidFill>
                <a:latin typeface="Helvetica Neue" pitchFamily="34" charset="0"/>
                <a:ea typeface="Helvetica Neue" pitchFamily="34" charset="-122"/>
                <a:cs typeface="Helvetica Neue" pitchFamily="34" charset="-120"/>
              </a:rPr>
              <a:t>phi3:mini  33</a:t>
            </a:r>
            <a:endParaRPr lang="en-US" sz="900" dirty="0"/>
          </a:p>
        </p:txBody>
      </p:sp>
      <p:sp>
        <p:nvSpPr>
          <p:cNvPr id="39" name="Text 37"/>
          <p:cNvSpPr txBox="1"/>
          <p:nvPr/>
        </p:nvSpPr>
        <p:spPr>
          <a:xfrm>
            <a:off x="8854135" y="5522976"/>
            <a:ext cx="2788920" cy="384048"/>
          </a:xfrm>
          <a:prstGeom prst="rect">
            <a:avLst/>
          </a:prstGeom>
          <a:noFill/>
          <a:ln/>
        </p:spPr>
        <p:txBody>
          <a:bodyPr wrap="square" lIns="0" tIns="0" rIns="0" bIns="0" rtlCol="0" anchor="ctr"/>
          <a:lstStyle/>
          <a:p>
            <a:pPr algn="l" indent="0" marL="0">
              <a:buNone/>
            </a:pPr>
            <a:r>
              <a:rPr lang="en-US" sz="950" b="1" dirty="0">
                <a:solidFill>
                  <a:srgbClr val="C7D0DE"/>
                </a:solidFill>
                <a:latin typeface="Helvetica Neue" pitchFamily="34" charset="0"/>
                <a:ea typeface="Helvetica Neue" pitchFamily="34" charset="-122"/>
                <a:cs typeface="Helvetica Neue" pitchFamily="34" charset="-120"/>
              </a:rPr>
              <a:t>86 local-model</a:t>
            </a:r>
            <a:pPr algn="l" indent="0" marL="0">
              <a:buNone/>
            </a:pPr>
            <a:r>
              <a:rPr lang="en-US" sz="950" dirty="0">
                <a:solidFill>
                  <a:srgbClr val="93A0B8"/>
                </a:solidFill>
                <a:latin typeface="Helvetica Neue" pitchFamily="34" charset="0"/>
                <a:ea typeface="Helvetica Neue" pitchFamily="34" charset="-122"/>
                <a:cs typeface="Helvetica Neue" pitchFamily="34" charset="-120"/>
              </a:rPr>
              <a:t> + </a:t>
            </a:r>
            <a:pPr algn="l" indent="0" marL="0">
              <a:buNone/>
            </a:pPr>
            <a:r>
              <a:rPr lang="en-US" sz="950" b="1" dirty="0">
                <a:solidFill>
                  <a:srgbClr val="C7D0DE"/>
                </a:solidFill>
                <a:latin typeface="Helvetica Neue" pitchFamily="34" charset="0"/>
                <a:ea typeface="Helvetica Neue" pitchFamily="34" charset="-122"/>
                <a:cs typeface="Helvetica Neue" pitchFamily="34" charset="-120"/>
              </a:rPr>
              <a:t>114 synthetic</a:t>
            </a:r>
            <a:pPr algn="l" indent="0" marL="0">
              <a:buNone/>
            </a:pPr>
            <a:r>
              <a:rPr lang="en-US" sz="950" dirty="0">
                <a:solidFill>
                  <a:srgbClr val="93A0B8"/>
                </a:solidFill>
                <a:latin typeface="Helvetica Neue" pitchFamily="34" charset="0"/>
                <a:ea typeface="Helvetica Neue" pitchFamily="34" charset="-122"/>
                <a:cs typeface="Helvetica Neue" pitchFamily="34" charset="-120"/>
              </a:rPr>
              <a:t> · no cloud responses · 9 pairs labelled MIXED</a:t>
            </a:r>
            <a:endParaRPr lang="en-US" sz="9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indent="0" marL="0">
              <a:buNone/>
            </a:pPr>
            <a:r>
              <a:rPr lang="en-US" sz="1050" spc="200" kern="0" dirty="0">
                <a:solidFill>
                  <a:srgbClr val="2DD4BF"/>
                </a:solidFill>
                <a:latin typeface="Consolas" pitchFamily="34" charset="0"/>
                <a:ea typeface="Consolas" pitchFamily="34" charset="-122"/>
                <a:cs typeface="Consolas" pitchFamily="34" charset="-120"/>
              </a:rPr>
              <a:t>10 · RESULTS — VIOLATION PATTERNS PER MODEL</a:t>
            </a:r>
            <a:endParaRPr lang="en-US" sz="1050" dirty="0"/>
          </a:p>
        </p:txBody>
      </p:sp>
      <p:sp>
        <p:nvSpPr>
          <p:cNvPr id="3" name="Text 1"/>
          <p:cNvSpPr txBox="1"/>
          <p:nvPr/>
        </p:nvSpPr>
        <p:spPr>
          <a:xfrm>
            <a:off x="548640" y="603504"/>
            <a:ext cx="11094415" cy="566928"/>
          </a:xfrm>
          <a:prstGeom prst="rect">
            <a:avLst/>
          </a:prstGeom>
          <a:noFill/>
          <a:ln/>
        </p:spPr>
        <p:txBody>
          <a:bodyPr wrap="square" lIns="0" tIns="0" rIns="0" bIns="0" rtlCol="0" anchor="t"/>
          <a:lstStyle/>
          <a:p>
            <a:pPr indent="0" marL="0">
              <a:buNone/>
            </a:pPr>
            <a:r>
              <a:rPr lang="en-US" sz="2100" b="1" dirty="0">
                <a:solidFill>
                  <a:srgbClr val="E9EEF6"/>
                </a:solidFill>
                <a:latin typeface="Helvetica Neue" pitchFamily="34" charset="0"/>
                <a:ea typeface="Helvetica Neue" pitchFamily="34" charset="-122"/>
                <a:cs typeface="Helvetica Neue" pitchFamily="34" charset="-120"/>
              </a:rPr>
              <a:t>Every model fails differently — clean rates range from 0 % to 63 %</a:t>
            </a:r>
            <a:endParaRPr lang="en-US" sz="21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350" dirty="0">
                <a:solidFill>
                  <a:srgbClr val="93A0B8"/>
                </a:solidFill>
                <a:latin typeface="Helvetica Neue" pitchFamily="34" charset="0"/>
                <a:ea typeface="Helvetica Neue" pitchFamily="34" charset="-122"/>
                <a:cs typeface="Helvetica Neue" pitchFamily="34" charset="-120"/>
              </a:rPr>
              <a:t>ReasonGuard verdicts on 100 explanations per model (proxy regime, bound schema v2.1). Aggregate rankings hide the error signature that matters for deployment.</a:t>
            </a:r>
            <a:endParaRPr lang="en-US" sz="1350" dirty="0"/>
          </a:p>
        </p:txBody>
      </p:sp>
      <p:sp>
        <p:nvSpPr>
          <p:cNvPr id="5" name="Text 3"/>
          <p:cNvSpPr txBox="1"/>
          <p:nvPr/>
        </p:nvSpPr>
        <p:spPr>
          <a:xfrm>
            <a:off x="548640" y="6473952"/>
            <a:ext cx="8778240" cy="219456"/>
          </a:xfrm>
          <a:prstGeom prst="rect">
            <a:avLst/>
          </a:prstGeom>
          <a:noFill/>
          <a:ln/>
        </p:spPr>
        <p:txBody>
          <a:bodyPr wrap="square" lIns="0" tIns="0" rIns="0" bIns="0" rtlCol="0" anchor="ctr"/>
          <a:lstStyle/>
          <a:p>
            <a:pPr indent="0" marL="0">
              <a:buNone/>
            </a:pPr>
            <a:r>
              <a:rPr lang="en-US" sz="850" dirty="0">
                <a:solidFill>
                  <a:srgbClr val="5C6A85"/>
                </a:solidFill>
                <a:latin typeface="Helvetica Neue" pitchFamily="34" charset="0"/>
                <a:ea typeface="Helvetica Neue" pitchFamily="34" charset="-122"/>
                <a:cs typeface="Helvetica Neue" pitchFamily="34" charset="-120"/>
              </a:rPr>
              <a:t>ReasonGuard  ·  Runtime Verification of AI Reasoning Faithfulness  ·  R. Bilalov  ·  SRH University Hamburg / FIT VUT Brno</a:t>
            </a:r>
            <a:endParaRPr lang="en-US" sz="850" dirty="0"/>
          </a:p>
        </p:txBody>
      </p:sp>
      <p:sp>
        <p:nvSpPr>
          <p:cNvPr id="6" name="Text 4"/>
          <p:cNvSpPr txBox="1"/>
          <p:nvPr/>
        </p:nvSpPr>
        <p:spPr>
          <a:xfrm>
            <a:off x="548640" y="6272784"/>
            <a:ext cx="9997135" cy="201168"/>
          </a:xfrm>
          <a:prstGeom prst="rect">
            <a:avLst/>
          </a:prstGeom>
          <a:noFill/>
          <a:ln/>
        </p:spPr>
        <p:txBody>
          <a:bodyPr wrap="square" lIns="0" tIns="0" rIns="0" bIns="0" rtlCol="0" anchor="ctr"/>
          <a:lstStyle/>
          <a:p>
            <a:pPr indent="0" marL="0">
              <a:buNone/>
            </a:pPr>
            <a:r>
              <a:rPr lang="en-US" sz="850" i="1" dirty="0">
                <a:solidFill>
                  <a:srgbClr val="5C6A85"/>
                </a:solidFill>
                <a:latin typeface="Helvetica Neue" pitchFamily="34" charset="0"/>
                <a:ea typeface="Helvetica Neue" pitchFamily="34" charset="-122"/>
                <a:cs typeface="Helvetica Neue" pitchFamily="34" charset="-120"/>
              </a:rPr>
              <a:t>Thesis Table 4.1 and Figures 4.1–4.2. Verdicts are ReasonGuard's, not human labels; cloud models were not part of the 200 annotated pairs.</a:t>
            </a:r>
            <a:endParaRPr lang="en-US" sz="850" dirty="0"/>
          </a:p>
        </p:txBody>
      </p:sp>
      <p:sp>
        <p:nvSpPr>
          <p:cNvPr id="7" name="Text 5"/>
          <p:cNvSpPr txBox="1"/>
          <p:nvPr/>
        </p:nvSpPr>
        <p:spPr>
          <a:xfrm>
            <a:off x="10545775" y="6473952"/>
            <a:ext cx="1097280" cy="219456"/>
          </a:xfrm>
          <a:prstGeom prst="rect">
            <a:avLst/>
          </a:prstGeom>
          <a:noFill/>
          <a:ln/>
        </p:spPr>
        <p:txBody>
          <a:bodyPr wrap="square" lIns="0" tIns="0" rIns="0" bIns="0" rtlCol="0" anchor="ctr"/>
          <a:lstStyle/>
          <a:p>
            <a:pPr algn="r" indent="0" marL="0">
              <a:buNone/>
            </a:pPr>
            <a:r>
              <a:rPr lang="en-US" sz="900" dirty="0">
                <a:solidFill>
                  <a:srgbClr val="5C6A85"/>
                </a:solidFill>
                <a:latin typeface="Consolas" pitchFamily="34" charset="0"/>
                <a:ea typeface="Consolas" pitchFamily="34" charset="-122"/>
                <a:cs typeface="Consolas" pitchFamily="34" charset="-120"/>
              </a:rPr>
              <a:t>11 / 18</a:t>
            </a:r>
            <a:endParaRPr lang="en-US" sz="900" dirty="0"/>
          </a:p>
        </p:txBody>
      </p:sp>
      <p:sp>
        <p:nvSpPr>
          <p:cNvPr id="8" name="Text 6"/>
          <p:cNvSpPr txBox="1"/>
          <p:nvPr/>
        </p:nvSpPr>
        <p:spPr>
          <a:xfrm>
            <a:off x="548640" y="1810512"/>
            <a:ext cx="4572000" cy="201168"/>
          </a:xfrm>
          <a:prstGeom prst="rect">
            <a:avLst/>
          </a:prstGeom>
          <a:noFill/>
          <a:ln/>
        </p:spPr>
        <p:txBody>
          <a:bodyPr wrap="square" lIns="0" tIns="0" rIns="0" bIns="0" rtlCol="0" anchor="t"/>
          <a:lstStyle/>
          <a:p>
            <a:pPr algn="l" indent="0" marL="0">
              <a:buNone/>
            </a:pPr>
            <a:r>
              <a:rPr lang="en-US" sz="900" spc="100" kern="0" dirty="0">
                <a:solidFill>
                  <a:srgbClr val="2DD4BF"/>
                </a:solidFill>
                <a:latin typeface="Consolas" pitchFamily="34" charset="0"/>
                <a:ea typeface="Consolas" pitchFamily="34" charset="-122"/>
                <a:cs typeface="Consolas" pitchFamily="34" charset="-120"/>
              </a:rPr>
              <a:t>CLEAN-RESPONSE RATE  (no V1–V5 fired, %)</a:t>
            </a:r>
            <a:endParaRPr lang="en-US" sz="900" dirty="0"/>
          </a:p>
        </p:txBody>
      </p:sp>
      <p:graphicFrame>
        <p:nvGraphicFramePr>
          <p:cNvPr id="9" name="Chart 0" descr=""/>
          <p:cNvGraphicFramePr/>
          <p:nvPr/>
        </p:nvGraphicFramePr>
        <p:xfrm>
          <a:off x="457200" y="2057400"/>
          <a:ext cx="4937760" cy="32461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5897880" y="1810512"/>
            <a:ext cx="5745175" cy="201168"/>
          </a:xfrm>
          <a:prstGeom prst="rect">
            <a:avLst/>
          </a:prstGeom>
          <a:noFill/>
          <a:ln/>
        </p:spPr>
        <p:txBody>
          <a:bodyPr wrap="square" lIns="0" tIns="0" rIns="0" bIns="0" rtlCol="0" anchor="t"/>
          <a:lstStyle/>
          <a:p>
            <a:pPr algn="l" indent="0" marL="0">
              <a:buNone/>
            </a:pPr>
            <a:r>
              <a:rPr lang="en-US" sz="900" spc="100" kern="0" dirty="0">
                <a:solidFill>
                  <a:srgbClr val="2DD4BF"/>
                </a:solidFill>
                <a:latin typeface="Consolas" pitchFamily="34" charset="0"/>
                <a:ea typeface="Consolas" pitchFamily="34" charset="-122"/>
                <a:cs typeface="Consolas" pitchFamily="34" charset="-120"/>
              </a:rPr>
              <a:t>ERROR SIGNATURE  (explanations out of 100 with each class)</a:t>
            </a:r>
            <a:endParaRPr lang="en-US" sz="900" dirty="0"/>
          </a:p>
        </p:txBody>
      </p:sp>
      <p:sp>
        <p:nvSpPr>
          <p:cNvPr id="11" name="Text 8"/>
          <p:cNvSpPr txBox="1"/>
          <p:nvPr/>
        </p:nvSpPr>
        <p:spPr>
          <a:xfrm>
            <a:off x="5897880" y="2084832"/>
            <a:ext cx="1783080" cy="274320"/>
          </a:xfrm>
          <a:prstGeom prst="rect">
            <a:avLst/>
          </a:prstGeom>
          <a:noFill/>
          <a:ln/>
        </p:spPr>
        <p:txBody>
          <a:bodyPr wrap="square" lIns="0" tIns="0" rIns="0" bIns="0" rtlCol="0" anchor="ctr"/>
          <a:lstStyle/>
          <a:p>
            <a:pPr algn="l" indent="0" marL="0">
              <a:buNone/>
            </a:pPr>
            <a:r>
              <a:rPr lang="en-US" sz="900" dirty="0">
                <a:solidFill>
                  <a:srgbClr val="93A0B8"/>
                </a:solidFill>
                <a:latin typeface="Consolas" pitchFamily="34" charset="0"/>
                <a:ea typeface="Consolas" pitchFamily="34" charset="-122"/>
                <a:cs typeface="Consolas" pitchFamily="34" charset="-120"/>
              </a:rPr>
              <a:t>model</a:t>
            </a:r>
            <a:endParaRPr lang="en-US" sz="900" dirty="0"/>
          </a:p>
        </p:txBody>
      </p:sp>
      <p:sp>
        <p:nvSpPr>
          <p:cNvPr id="12" name="Text 9"/>
          <p:cNvSpPr txBox="1"/>
          <p:nvPr/>
        </p:nvSpPr>
        <p:spPr>
          <a:xfrm>
            <a:off x="7680960" y="2084832"/>
            <a:ext cx="660349" cy="274320"/>
          </a:xfrm>
          <a:prstGeom prst="rect">
            <a:avLst/>
          </a:prstGeom>
          <a:noFill/>
          <a:ln/>
        </p:spPr>
        <p:txBody>
          <a:bodyPr wrap="square" lIns="0" tIns="0" rIns="0" bIns="0" rtlCol="0" anchor="ctr"/>
          <a:lstStyle/>
          <a:p>
            <a:pPr algn="ctr" indent="0" marL="0">
              <a:buNone/>
            </a:pPr>
            <a:r>
              <a:rPr lang="en-US" sz="900" dirty="0">
                <a:solidFill>
                  <a:srgbClr val="93A0B8"/>
                </a:solidFill>
                <a:latin typeface="Consolas" pitchFamily="34" charset="0"/>
                <a:ea typeface="Consolas" pitchFamily="34" charset="-122"/>
                <a:cs typeface="Consolas" pitchFamily="34" charset="-120"/>
              </a:rPr>
              <a:t>clean</a:t>
            </a:r>
            <a:endParaRPr lang="en-US" sz="900" dirty="0"/>
          </a:p>
        </p:txBody>
      </p:sp>
      <p:sp>
        <p:nvSpPr>
          <p:cNvPr id="13" name="Text 10"/>
          <p:cNvSpPr txBox="1"/>
          <p:nvPr/>
        </p:nvSpPr>
        <p:spPr>
          <a:xfrm>
            <a:off x="8341309" y="2084832"/>
            <a:ext cx="660349" cy="274320"/>
          </a:xfrm>
          <a:prstGeom prst="rect">
            <a:avLst/>
          </a:prstGeom>
          <a:noFill/>
          <a:ln/>
        </p:spPr>
        <p:txBody>
          <a:bodyPr wrap="square" lIns="0" tIns="0" rIns="0" bIns="0" rtlCol="0" anchor="ctr"/>
          <a:lstStyle/>
          <a:p>
            <a:pPr algn="ctr" indent="0" marL="0">
              <a:buNone/>
            </a:pPr>
            <a:r>
              <a:rPr lang="en-US" sz="900" dirty="0">
                <a:solidFill>
                  <a:srgbClr val="93A0B8"/>
                </a:solidFill>
                <a:latin typeface="Consolas" pitchFamily="34" charset="0"/>
                <a:ea typeface="Consolas" pitchFamily="34" charset="-122"/>
                <a:cs typeface="Consolas" pitchFamily="34" charset="-120"/>
              </a:rPr>
              <a:t>V1</a:t>
            </a:r>
            <a:endParaRPr lang="en-US" sz="900" dirty="0"/>
          </a:p>
        </p:txBody>
      </p:sp>
      <p:sp>
        <p:nvSpPr>
          <p:cNvPr id="14" name="Text 11"/>
          <p:cNvSpPr txBox="1"/>
          <p:nvPr/>
        </p:nvSpPr>
        <p:spPr>
          <a:xfrm>
            <a:off x="9001658" y="2084832"/>
            <a:ext cx="660349" cy="274320"/>
          </a:xfrm>
          <a:prstGeom prst="rect">
            <a:avLst/>
          </a:prstGeom>
          <a:noFill/>
          <a:ln/>
        </p:spPr>
        <p:txBody>
          <a:bodyPr wrap="square" lIns="0" tIns="0" rIns="0" bIns="0" rtlCol="0" anchor="ctr"/>
          <a:lstStyle/>
          <a:p>
            <a:pPr algn="ctr" indent="0" marL="0">
              <a:buNone/>
            </a:pPr>
            <a:r>
              <a:rPr lang="en-US" sz="900" dirty="0">
                <a:solidFill>
                  <a:srgbClr val="93A0B8"/>
                </a:solidFill>
                <a:latin typeface="Consolas" pitchFamily="34" charset="0"/>
                <a:ea typeface="Consolas" pitchFamily="34" charset="-122"/>
                <a:cs typeface="Consolas" pitchFamily="34" charset="-120"/>
              </a:rPr>
              <a:t>V2</a:t>
            </a:r>
            <a:endParaRPr lang="en-US" sz="900" dirty="0"/>
          </a:p>
        </p:txBody>
      </p:sp>
      <p:sp>
        <p:nvSpPr>
          <p:cNvPr id="15" name="Text 12"/>
          <p:cNvSpPr txBox="1"/>
          <p:nvPr/>
        </p:nvSpPr>
        <p:spPr>
          <a:xfrm>
            <a:off x="9662008" y="2084832"/>
            <a:ext cx="660349" cy="274320"/>
          </a:xfrm>
          <a:prstGeom prst="rect">
            <a:avLst/>
          </a:prstGeom>
          <a:noFill/>
          <a:ln/>
        </p:spPr>
        <p:txBody>
          <a:bodyPr wrap="square" lIns="0" tIns="0" rIns="0" bIns="0" rtlCol="0" anchor="ctr"/>
          <a:lstStyle/>
          <a:p>
            <a:pPr algn="ctr" indent="0" marL="0">
              <a:buNone/>
            </a:pPr>
            <a:r>
              <a:rPr lang="en-US" sz="900" dirty="0">
                <a:solidFill>
                  <a:srgbClr val="93A0B8"/>
                </a:solidFill>
                <a:latin typeface="Consolas" pitchFamily="34" charset="0"/>
                <a:ea typeface="Consolas" pitchFamily="34" charset="-122"/>
                <a:cs typeface="Consolas" pitchFamily="34" charset="-120"/>
              </a:rPr>
              <a:t>V3</a:t>
            </a:r>
            <a:endParaRPr lang="en-US" sz="900" dirty="0"/>
          </a:p>
        </p:txBody>
      </p:sp>
      <p:sp>
        <p:nvSpPr>
          <p:cNvPr id="16" name="Text 13"/>
          <p:cNvSpPr txBox="1"/>
          <p:nvPr/>
        </p:nvSpPr>
        <p:spPr>
          <a:xfrm>
            <a:off x="10322357" y="2084832"/>
            <a:ext cx="660349" cy="274320"/>
          </a:xfrm>
          <a:prstGeom prst="rect">
            <a:avLst/>
          </a:prstGeom>
          <a:noFill/>
          <a:ln/>
        </p:spPr>
        <p:txBody>
          <a:bodyPr wrap="square" lIns="0" tIns="0" rIns="0" bIns="0" rtlCol="0" anchor="ctr"/>
          <a:lstStyle/>
          <a:p>
            <a:pPr algn="ctr" indent="0" marL="0">
              <a:buNone/>
            </a:pPr>
            <a:r>
              <a:rPr lang="en-US" sz="900" dirty="0">
                <a:solidFill>
                  <a:srgbClr val="93A0B8"/>
                </a:solidFill>
                <a:latin typeface="Consolas" pitchFamily="34" charset="0"/>
                <a:ea typeface="Consolas" pitchFamily="34" charset="-122"/>
                <a:cs typeface="Consolas" pitchFamily="34" charset="-120"/>
              </a:rPr>
              <a:t>V4</a:t>
            </a:r>
            <a:endParaRPr lang="en-US" sz="900" dirty="0"/>
          </a:p>
        </p:txBody>
      </p:sp>
      <p:sp>
        <p:nvSpPr>
          <p:cNvPr id="17" name="Text 14"/>
          <p:cNvSpPr txBox="1"/>
          <p:nvPr/>
        </p:nvSpPr>
        <p:spPr>
          <a:xfrm>
            <a:off x="10982706" y="2084832"/>
            <a:ext cx="660349" cy="274320"/>
          </a:xfrm>
          <a:prstGeom prst="rect">
            <a:avLst/>
          </a:prstGeom>
          <a:noFill/>
          <a:ln/>
        </p:spPr>
        <p:txBody>
          <a:bodyPr wrap="square" lIns="0" tIns="0" rIns="0" bIns="0" rtlCol="0" anchor="ctr"/>
          <a:lstStyle/>
          <a:p>
            <a:pPr algn="ctr" indent="0" marL="0">
              <a:buNone/>
            </a:pPr>
            <a:r>
              <a:rPr lang="en-US" sz="900" dirty="0">
                <a:solidFill>
                  <a:srgbClr val="93A0B8"/>
                </a:solidFill>
                <a:latin typeface="Consolas" pitchFamily="34" charset="0"/>
                <a:ea typeface="Consolas" pitchFamily="34" charset="-122"/>
                <a:cs typeface="Consolas" pitchFamily="34" charset="-120"/>
              </a:rPr>
              <a:t>V5</a:t>
            </a:r>
            <a:endParaRPr lang="en-US" sz="900" dirty="0"/>
          </a:p>
        </p:txBody>
      </p:sp>
      <p:sp>
        <p:nvSpPr>
          <p:cNvPr id="18" name="Text 15"/>
          <p:cNvSpPr txBox="1"/>
          <p:nvPr/>
        </p:nvSpPr>
        <p:spPr>
          <a:xfrm>
            <a:off x="5897880" y="2395728"/>
            <a:ext cx="1783080" cy="457200"/>
          </a:xfrm>
          <a:prstGeom prst="rect">
            <a:avLst/>
          </a:prstGeom>
          <a:noFill/>
          <a:ln/>
        </p:spPr>
        <p:txBody>
          <a:bodyPr wrap="square" lIns="0" tIns="0" rIns="0" bIns="0" rtlCol="0" anchor="ctr"/>
          <a:lstStyle/>
          <a:p>
            <a:pPr algn="l" indent="0" marL="0">
              <a:buNone/>
            </a:pPr>
            <a:r>
              <a:rPr lang="en-US" sz="1050" dirty="0">
                <a:solidFill>
                  <a:srgbClr val="E9EEF6"/>
                </a:solidFill>
                <a:latin typeface="Helvetica Neue" pitchFamily="34" charset="0"/>
                <a:ea typeface="Helvetica Neue" pitchFamily="34" charset="-122"/>
                <a:cs typeface="Helvetica Neue" pitchFamily="34" charset="-120"/>
              </a:rPr>
              <a:t>llama3.1:8b</a:t>
            </a:r>
            <a:endParaRPr lang="en-US" sz="1050" dirty="0"/>
          </a:p>
        </p:txBody>
      </p:sp>
      <p:sp>
        <p:nvSpPr>
          <p:cNvPr id="19" name="Shape 16"/>
          <p:cNvSpPr/>
          <p:nvPr/>
        </p:nvSpPr>
        <p:spPr>
          <a:xfrm>
            <a:off x="7717536" y="2395728"/>
            <a:ext cx="587197" cy="457200"/>
          </a:xfrm>
          <a:prstGeom prst="rect">
            <a:avLst/>
          </a:prstGeom>
          <a:solidFill>
            <a:srgbClr val="1B6F66"/>
          </a:solidFill>
          <a:ln w="7620">
            <a:solidFill>
              <a:srgbClr val="2DD4BF"/>
            </a:solidFill>
            <a:prstDash val="solid"/>
          </a:ln>
        </p:spPr>
      </p:sp>
      <p:sp>
        <p:nvSpPr>
          <p:cNvPr id="20" name="Text 17"/>
          <p:cNvSpPr txBox="1"/>
          <p:nvPr/>
        </p:nvSpPr>
        <p:spPr>
          <a:xfrm>
            <a:off x="7717536" y="2395728"/>
            <a:ext cx="587197" cy="457200"/>
          </a:xfrm>
          <a:prstGeom prst="rect">
            <a:avLst/>
          </a:prstGeom>
          <a:noFill/>
          <a:ln/>
        </p:spPr>
        <p:txBody>
          <a:bodyPr wrap="square" lIns="0" tIns="0" rIns="0" bIns="0" rtlCol="0" anchor="ctr"/>
          <a:lstStyle/>
          <a:p>
            <a:pPr algn="ctr" indent="0" marL="0">
              <a:buNone/>
            </a:pPr>
            <a:r>
              <a:rPr lang="en-US" sz="1200" b="1" dirty="0">
                <a:solidFill>
                  <a:srgbClr val="E9EEF6"/>
                </a:solidFill>
                <a:latin typeface="Consolas" pitchFamily="34" charset="0"/>
                <a:ea typeface="Consolas" pitchFamily="34" charset="-122"/>
                <a:cs typeface="Consolas" pitchFamily="34" charset="-120"/>
              </a:rPr>
              <a:t>63</a:t>
            </a:r>
            <a:endParaRPr lang="en-US" sz="1200" dirty="0"/>
          </a:p>
        </p:txBody>
      </p:sp>
      <p:sp>
        <p:nvSpPr>
          <p:cNvPr id="21" name="Shape 18"/>
          <p:cNvSpPr/>
          <p:nvPr/>
        </p:nvSpPr>
        <p:spPr>
          <a:xfrm>
            <a:off x="8377885" y="2395728"/>
            <a:ext cx="587197" cy="457200"/>
          </a:xfrm>
          <a:prstGeom prst="rect">
            <a:avLst/>
          </a:prstGeom>
          <a:solidFill>
            <a:srgbClr val="5A2424"/>
          </a:solidFill>
          <a:ln w="7620">
            <a:solidFill>
              <a:srgbClr val="F0605E"/>
            </a:solidFill>
            <a:prstDash val="solid"/>
          </a:ln>
        </p:spPr>
      </p:sp>
      <p:sp>
        <p:nvSpPr>
          <p:cNvPr id="22" name="Text 19"/>
          <p:cNvSpPr txBox="1"/>
          <p:nvPr/>
        </p:nvSpPr>
        <p:spPr>
          <a:xfrm>
            <a:off x="8377885" y="2395728"/>
            <a:ext cx="587197" cy="457200"/>
          </a:xfrm>
          <a:prstGeom prst="rect">
            <a:avLst/>
          </a:prstGeom>
          <a:noFill/>
          <a:ln/>
        </p:spPr>
        <p:txBody>
          <a:bodyPr wrap="square" lIns="0" tIns="0" rIns="0" bIns="0" rtlCol="0" anchor="ctr"/>
          <a:lstStyle/>
          <a:p>
            <a:pPr algn="ctr" indent="0" marL="0">
              <a:buNone/>
            </a:pPr>
            <a:r>
              <a:rPr lang="en-US" sz="1200" b="1" dirty="0">
                <a:solidFill>
                  <a:srgbClr val="E9EEF6"/>
                </a:solidFill>
                <a:latin typeface="Consolas" pitchFamily="34" charset="0"/>
                <a:ea typeface="Consolas" pitchFamily="34" charset="-122"/>
                <a:cs typeface="Consolas" pitchFamily="34" charset="-120"/>
              </a:rPr>
              <a:t>22</a:t>
            </a:r>
            <a:endParaRPr lang="en-US" sz="1200" dirty="0"/>
          </a:p>
        </p:txBody>
      </p:sp>
      <p:sp>
        <p:nvSpPr>
          <p:cNvPr id="23" name="Shape 20"/>
          <p:cNvSpPr/>
          <p:nvPr/>
        </p:nvSpPr>
        <p:spPr>
          <a:xfrm>
            <a:off x="9038234" y="2395728"/>
            <a:ext cx="587197" cy="457200"/>
          </a:xfrm>
          <a:prstGeom prst="rect">
            <a:avLst/>
          </a:prstGeom>
          <a:solidFill>
            <a:srgbClr val="18233A"/>
          </a:solidFill>
          <a:ln w="5080">
            <a:solidFill>
              <a:srgbClr val="1E2A42"/>
            </a:solidFill>
            <a:prstDash val="solid"/>
          </a:ln>
        </p:spPr>
      </p:sp>
      <p:sp>
        <p:nvSpPr>
          <p:cNvPr id="24" name="Text 21"/>
          <p:cNvSpPr txBox="1"/>
          <p:nvPr/>
        </p:nvSpPr>
        <p:spPr>
          <a:xfrm>
            <a:off x="9038234" y="2395728"/>
            <a:ext cx="587197" cy="457200"/>
          </a:xfrm>
          <a:prstGeom prst="rect">
            <a:avLst/>
          </a:prstGeom>
          <a:noFill/>
          <a:ln/>
        </p:spPr>
        <p:txBody>
          <a:bodyPr wrap="square" lIns="0" tIns="0" rIns="0" bIns="0" rtlCol="0" anchor="ctr"/>
          <a:lstStyle/>
          <a:p>
            <a:pPr algn="ctr" indent="0" marL="0">
              <a:buNone/>
            </a:pPr>
            <a:r>
              <a:rPr lang="en-US" sz="1200" dirty="0">
                <a:solidFill>
                  <a:srgbClr val="5C6A85"/>
                </a:solidFill>
                <a:latin typeface="Consolas" pitchFamily="34" charset="0"/>
                <a:ea typeface="Consolas" pitchFamily="34" charset="-122"/>
                <a:cs typeface="Consolas" pitchFamily="34" charset="-120"/>
              </a:rPr>
              <a:t>0</a:t>
            </a:r>
            <a:endParaRPr lang="en-US" sz="1200" dirty="0"/>
          </a:p>
        </p:txBody>
      </p:sp>
      <p:sp>
        <p:nvSpPr>
          <p:cNvPr id="25" name="Shape 22"/>
          <p:cNvSpPr/>
          <p:nvPr/>
        </p:nvSpPr>
        <p:spPr>
          <a:xfrm>
            <a:off x="9698584" y="2395728"/>
            <a:ext cx="587197" cy="457200"/>
          </a:xfrm>
          <a:prstGeom prst="rect">
            <a:avLst/>
          </a:prstGeom>
          <a:solidFill>
            <a:srgbClr val="18233A"/>
          </a:solidFill>
          <a:ln w="5080">
            <a:solidFill>
              <a:srgbClr val="1E2A42"/>
            </a:solidFill>
            <a:prstDash val="solid"/>
          </a:ln>
        </p:spPr>
      </p:sp>
      <p:sp>
        <p:nvSpPr>
          <p:cNvPr id="26" name="Text 23"/>
          <p:cNvSpPr txBox="1"/>
          <p:nvPr/>
        </p:nvSpPr>
        <p:spPr>
          <a:xfrm>
            <a:off x="9698584" y="2395728"/>
            <a:ext cx="587197" cy="457200"/>
          </a:xfrm>
          <a:prstGeom prst="rect">
            <a:avLst/>
          </a:prstGeom>
          <a:noFill/>
          <a:ln/>
        </p:spPr>
        <p:txBody>
          <a:bodyPr wrap="square" lIns="0" tIns="0" rIns="0" bIns="0" rtlCol="0" anchor="ctr"/>
          <a:lstStyle/>
          <a:p>
            <a:pPr algn="ctr" indent="0" marL="0">
              <a:buNone/>
            </a:pPr>
            <a:r>
              <a:rPr lang="en-US" sz="1200" dirty="0">
                <a:solidFill>
                  <a:srgbClr val="5C6A85"/>
                </a:solidFill>
                <a:latin typeface="Consolas" pitchFamily="34" charset="0"/>
                <a:ea typeface="Consolas" pitchFamily="34" charset="-122"/>
                <a:cs typeface="Consolas" pitchFamily="34" charset="-120"/>
              </a:rPr>
              <a:t>0</a:t>
            </a:r>
            <a:endParaRPr lang="en-US" sz="1200" dirty="0"/>
          </a:p>
        </p:txBody>
      </p:sp>
      <p:sp>
        <p:nvSpPr>
          <p:cNvPr id="27" name="Shape 24"/>
          <p:cNvSpPr/>
          <p:nvPr/>
        </p:nvSpPr>
        <p:spPr>
          <a:xfrm>
            <a:off x="10358933" y="2395728"/>
            <a:ext cx="587197" cy="457200"/>
          </a:xfrm>
          <a:prstGeom prst="rect">
            <a:avLst/>
          </a:prstGeom>
          <a:solidFill>
            <a:srgbClr val="4E3712"/>
          </a:solidFill>
          <a:ln w="7620">
            <a:solidFill>
              <a:srgbClr val="F5A524"/>
            </a:solidFill>
            <a:prstDash val="solid"/>
          </a:ln>
        </p:spPr>
      </p:sp>
      <p:sp>
        <p:nvSpPr>
          <p:cNvPr id="28" name="Text 25"/>
          <p:cNvSpPr txBox="1"/>
          <p:nvPr/>
        </p:nvSpPr>
        <p:spPr>
          <a:xfrm>
            <a:off x="10358933" y="2395728"/>
            <a:ext cx="587197" cy="457200"/>
          </a:xfrm>
          <a:prstGeom prst="rect">
            <a:avLst/>
          </a:prstGeom>
          <a:noFill/>
          <a:ln/>
        </p:spPr>
        <p:txBody>
          <a:bodyPr wrap="square" lIns="0" tIns="0" rIns="0" bIns="0" rtlCol="0" anchor="ctr"/>
          <a:lstStyle/>
          <a:p>
            <a:pPr algn="ctr" indent="0" marL="0">
              <a:buNone/>
            </a:pPr>
            <a:r>
              <a:rPr lang="en-US" sz="1200" b="1" dirty="0">
                <a:solidFill>
                  <a:srgbClr val="E9EEF6"/>
                </a:solidFill>
                <a:latin typeface="Consolas" pitchFamily="34" charset="0"/>
                <a:ea typeface="Consolas" pitchFamily="34" charset="-122"/>
                <a:cs typeface="Consolas" pitchFamily="34" charset="-120"/>
              </a:rPr>
              <a:t>20</a:t>
            </a:r>
            <a:endParaRPr lang="en-US" sz="1200" dirty="0"/>
          </a:p>
        </p:txBody>
      </p:sp>
      <p:sp>
        <p:nvSpPr>
          <p:cNvPr id="29" name="Shape 26"/>
          <p:cNvSpPr/>
          <p:nvPr/>
        </p:nvSpPr>
        <p:spPr>
          <a:xfrm>
            <a:off x="11019282" y="2395728"/>
            <a:ext cx="587197" cy="457200"/>
          </a:xfrm>
          <a:prstGeom prst="rect">
            <a:avLst/>
          </a:prstGeom>
          <a:solidFill>
            <a:srgbClr val="18233A"/>
          </a:solidFill>
          <a:ln w="5080">
            <a:solidFill>
              <a:srgbClr val="1E2A42"/>
            </a:solidFill>
            <a:prstDash val="solid"/>
          </a:ln>
        </p:spPr>
      </p:sp>
      <p:sp>
        <p:nvSpPr>
          <p:cNvPr id="30" name="Text 27"/>
          <p:cNvSpPr txBox="1"/>
          <p:nvPr/>
        </p:nvSpPr>
        <p:spPr>
          <a:xfrm>
            <a:off x="11019282" y="2395728"/>
            <a:ext cx="587197" cy="457200"/>
          </a:xfrm>
          <a:prstGeom prst="rect">
            <a:avLst/>
          </a:prstGeom>
          <a:noFill/>
          <a:ln/>
        </p:spPr>
        <p:txBody>
          <a:bodyPr wrap="square" lIns="0" tIns="0" rIns="0" bIns="0" rtlCol="0" anchor="ctr"/>
          <a:lstStyle/>
          <a:p>
            <a:pPr algn="ctr" indent="0" marL="0">
              <a:buNone/>
            </a:pPr>
            <a:r>
              <a:rPr lang="en-US" sz="1200" dirty="0">
                <a:solidFill>
                  <a:srgbClr val="5C6A85"/>
                </a:solidFill>
                <a:latin typeface="Consolas" pitchFamily="34" charset="0"/>
                <a:ea typeface="Consolas" pitchFamily="34" charset="-122"/>
                <a:cs typeface="Consolas" pitchFamily="34" charset="-120"/>
              </a:rPr>
              <a:t>0</a:t>
            </a:r>
            <a:endParaRPr lang="en-US" sz="1200" dirty="0"/>
          </a:p>
        </p:txBody>
      </p:sp>
      <p:sp>
        <p:nvSpPr>
          <p:cNvPr id="31" name="Text 28"/>
          <p:cNvSpPr txBox="1"/>
          <p:nvPr/>
        </p:nvSpPr>
        <p:spPr>
          <a:xfrm>
            <a:off x="5897880" y="2907792"/>
            <a:ext cx="1783080" cy="457200"/>
          </a:xfrm>
          <a:prstGeom prst="rect">
            <a:avLst/>
          </a:prstGeom>
          <a:noFill/>
          <a:ln/>
        </p:spPr>
        <p:txBody>
          <a:bodyPr wrap="square" lIns="0" tIns="0" rIns="0" bIns="0" rtlCol="0" anchor="ctr"/>
          <a:lstStyle/>
          <a:p>
            <a:pPr algn="l" indent="0" marL="0">
              <a:buNone/>
            </a:pPr>
            <a:r>
              <a:rPr lang="en-US" sz="1050" dirty="0">
                <a:solidFill>
                  <a:srgbClr val="E9EEF6"/>
                </a:solidFill>
                <a:latin typeface="Helvetica Neue" pitchFamily="34" charset="0"/>
                <a:ea typeface="Helvetica Neue" pitchFamily="34" charset="-122"/>
                <a:cs typeface="Helvetica Neue" pitchFamily="34" charset="-120"/>
              </a:rPr>
              <a:t>mistral:7b</a:t>
            </a:r>
            <a:endParaRPr lang="en-US" sz="1050" dirty="0"/>
          </a:p>
        </p:txBody>
      </p:sp>
      <p:sp>
        <p:nvSpPr>
          <p:cNvPr id="32" name="Shape 29"/>
          <p:cNvSpPr/>
          <p:nvPr/>
        </p:nvSpPr>
        <p:spPr>
          <a:xfrm>
            <a:off x="7717536" y="2907792"/>
            <a:ext cx="587197" cy="457200"/>
          </a:xfrm>
          <a:prstGeom prst="rect">
            <a:avLst/>
          </a:prstGeom>
          <a:solidFill>
            <a:srgbClr val="164E49"/>
          </a:solidFill>
          <a:ln w="7620">
            <a:solidFill>
              <a:srgbClr val="2DD4BF"/>
            </a:solidFill>
            <a:prstDash val="solid"/>
          </a:ln>
        </p:spPr>
      </p:sp>
      <p:sp>
        <p:nvSpPr>
          <p:cNvPr id="33" name="Text 30"/>
          <p:cNvSpPr txBox="1"/>
          <p:nvPr/>
        </p:nvSpPr>
        <p:spPr>
          <a:xfrm>
            <a:off x="7717536" y="2907792"/>
            <a:ext cx="587197" cy="457200"/>
          </a:xfrm>
          <a:prstGeom prst="rect">
            <a:avLst/>
          </a:prstGeom>
          <a:noFill/>
          <a:ln/>
        </p:spPr>
        <p:txBody>
          <a:bodyPr wrap="square" lIns="0" tIns="0" rIns="0" bIns="0" rtlCol="0" anchor="ctr"/>
          <a:lstStyle/>
          <a:p>
            <a:pPr algn="ctr" indent="0" marL="0">
              <a:buNone/>
            </a:pPr>
            <a:r>
              <a:rPr lang="en-US" sz="1200" b="1" dirty="0">
                <a:solidFill>
                  <a:srgbClr val="E9EEF6"/>
                </a:solidFill>
                <a:latin typeface="Consolas" pitchFamily="34" charset="0"/>
                <a:ea typeface="Consolas" pitchFamily="34" charset="-122"/>
                <a:cs typeface="Consolas" pitchFamily="34" charset="-120"/>
              </a:rPr>
              <a:t>33</a:t>
            </a:r>
            <a:endParaRPr lang="en-US" sz="1200" dirty="0"/>
          </a:p>
        </p:txBody>
      </p:sp>
      <p:sp>
        <p:nvSpPr>
          <p:cNvPr id="34" name="Shape 31"/>
          <p:cNvSpPr/>
          <p:nvPr/>
        </p:nvSpPr>
        <p:spPr>
          <a:xfrm>
            <a:off x="8377885" y="2907792"/>
            <a:ext cx="587197" cy="457200"/>
          </a:xfrm>
          <a:prstGeom prst="rect">
            <a:avLst/>
          </a:prstGeom>
          <a:solidFill>
            <a:srgbClr val="7A2B2B"/>
          </a:solidFill>
          <a:ln w="7620">
            <a:solidFill>
              <a:srgbClr val="F0605E"/>
            </a:solidFill>
            <a:prstDash val="solid"/>
          </a:ln>
        </p:spPr>
      </p:sp>
      <p:sp>
        <p:nvSpPr>
          <p:cNvPr id="35" name="Text 32"/>
          <p:cNvSpPr txBox="1"/>
          <p:nvPr/>
        </p:nvSpPr>
        <p:spPr>
          <a:xfrm>
            <a:off x="8377885" y="2907792"/>
            <a:ext cx="587197" cy="457200"/>
          </a:xfrm>
          <a:prstGeom prst="rect">
            <a:avLst/>
          </a:prstGeom>
          <a:noFill/>
          <a:ln/>
        </p:spPr>
        <p:txBody>
          <a:bodyPr wrap="square" lIns="0" tIns="0" rIns="0" bIns="0" rtlCol="0" anchor="ctr"/>
          <a:lstStyle/>
          <a:p>
            <a:pPr algn="ctr" indent="0" marL="0">
              <a:buNone/>
            </a:pPr>
            <a:r>
              <a:rPr lang="en-US" sz="1200" b="1" dirty="0">
                <a:solidFill>
                  <a:srgbClr val="E9EEF6"/>
                </a:solidFill>
                <a:latin typeface="Consolas" pitchFamily="34" charset="0"/>
                <a:ea typeface="Consolas" pitchFamily="34" charset="-122"/>
                <a:cs typeface="Consolas" pitchFamily="34" charset="-120"/>
              </a:rPr>
              <a:t>58</a:t>
            </a:r>
            <a:endParaRPr lang="en-US" sz="1200" dirty="0"/>
          </a:p>
        </p:txBody>
      </p:sp>
      <p:sp>
        <p:nvSpPr>
          <p:cNvPr id="36" name="Shape 33"/>
          <p:cNvSpPr/>
          <p:nvPr/>
        </p:nvSpPr>
        <p:spPr>
          <a:xfrm>
            <a:off x="9038234" y="2907792"/>
            <a:ext cx="587197" cy="457200"/>
          </a:xfrm>
          <a:prstGeom prst="rect">
            <a:avLst/>
          </a:prstGeom>
          <a:solidFill>
            <a:srgbClr val="18233A"/>
          </a:solidFill>
          <a:ln w="5080">
            <a:solidFill>
              <a:srgbClr val="1E2A42"/>
            </a:solidFill>
            <a:prstDash val="solid"/>
          </a:ln>
        </p:spPr>
      </p:sp>
      <p:sp>
        <p:nvSpPr>
          <p:cNvPr id="37" name="Text 34"/>
          <p:cNvSpPr txBox="1"/>
          <p:nvPr/>
        </p:nvSpPr>
        <p:spPr>
          <a:xfrm>
            <a:off x="9038234" y="2907792"/>
            <a:ext cx="587197" cy="457200"/>
          </a:xfrm>
          <a:prstGeom prst="rect">
            <a:avLst/>
          </a:prstGeom>
          <a:noFill/>
          <a:ln/>
        </p:spPr>
        <p:txBody>
          <a:bodyPr wrap="square" lIns="0" tIns="0" rIns="0" bIns="0" rtlCol="0" anchor="ctr"/>
          <a:lstStyle/>
          <a:p>
            <a:pPr algn="ctr" indent="0" marL="0">
              <a:buNone/>
            </a:pPr>
            <a:r>
              <a:rPr lang="en-US" sz="1200" dirty="0">
                <a:solidFill>
                  <a:srgbClr val="5C6A85"/>
                </a:solidFill>
                <a:latin typeface="Consolas" pitchFamily="34" charset="0"/>
                <a:ea typeface="Consolas" pitchFamily="34" charset="-122"/>
                <a:cs typeface="Consolas" pitchFamily="34" charset="-120"/>
              </a:rPr>
              <a:t>0</a:t>
            </a:r>
            <a:endParaRPr lang="en-US" sz="1200" dirty="0"/>
          </a:p>
        </p:txBody>
      </p:sp>
      <p:sp>
        <p:nvSpPr>
          <p:cNvPr id="38" name="Shape 35"/>
          <p:cNvSpPr/>
          <p:nvPr/>
        </p:nvSpPr>
        <p:spPr>
          <a:xfrm>
            <a:off x="9698584" y="2907792"/>
            <a:ext cx="587197" cy="457200"/>
          </a:xfrm>
          <a:prstGeom prst="rect">
            <a:avLst/>
          </a:prstGeom>
          <a:solidFill>
            <a:srgbClr val="18233A"/>
          </a:solidFill>
          <a:ln w="5080">
            <a:solidFill>
              <a:srgbClr val="1E2A42"/>
            </a:solidFill>
            <a:prstDash val="solid"/>
          </a:ln>
        </p:spPr>
      </p:sp>
      <p:sp>
        <p:nvSpPr>
          <p:cNvPr id="39" name="Text 36"/>
          <p:cNvSpPr txBox="1"/>
          <p:nvPr/>
        </p:nvSpPr>
        <p:spPr>
          <a:xfrm>
            <a:off x="9698584" y="2907792"/>
            <a:ext cx="587197" cy="457200"/>
          </a:xfrm>
          <a:prstGeom prst="rect">
            <a:avLst/>
          </a:prstGeom>
          <a:noFill/>
          <a:ln/>
        </p:spPr>
        <p:txBody>
          <a:bodyPr wrap="square" lIns="0" tIns="0" rIns="0" bIns="0" rtlCol="0" anchor="ctr"/>
          <a:lstStyle/>
          <a:p>
            <a:pPr algn="ctr" indent="0" marL="0">
              <a:buNone/>
            </a:pPr>
            <a:r>
              <a:rPr lang="en-US" sz="1200" dirty="0">
                <a:solidFill>
                  <a:srgbClr val="5C6A85"/>
                </a:solidFill>
                <a:latin typeface="Consolas" pitchFamily="34" charset="0"/>
                <a:ea typeface="Consolas" pitchFamily="34" charset="-122"/>
                <a:cs typeface="Consolas" pitchFamily="34" charset="-120"/>
              </a:rPr>
              <a:t>0</a:t>
            </a:r>
            <a:endParaRPr lang="en-US" sz="1200" dirty="0"/>
          </a:p>
        </p:txBody>
      </p:sp>
      <p:sp>
        <p:nvSpPr>
          <p:cNvPr id="40" name="Shape 37"/>
          <p:cNvSpPr/>
          <p:nvPr/>
        </p:nvSpPr>
        <p:spPr>
          <a:xfrm>
            <a:off x="10358933" y="2907792"/>
            <a:ext cx="587197" cy="457200"/>
          </a:xfrm>
          <a:prstGeom prst="rect">
            <a:avLst/>
          </a:prstGeom>
          <a:solidFill>
            <a:srgbClr val="18233A"/>
          </a:solidFill>
          <a:ln w="5080">
            <a:solidFill>
              <a:srgbClr val="1E2A42"/>
            </a:solidFill>
            <a:prstDash val="solid"/>
          </a:ln>
        </p:spPr>
      </p:sp>
      <p:sp>
        <p:nvSpPr>
          <p:cNvPr id="41" name="Text 38"/>
          <p:cNvSpPr txBox="1"/>
          <p:nvPr/>
        </p:nvSpPr>
        <p:spPr>
          <a:xfrm>
            <a:off x="10358933" y="2907792"/>
            <a:ext cx="587197" cy="457200"/>
          </a:xfrm>
          <a:prstGeom prst="rect">
            <a:avLst/>
          </a:prstGeom>
          <a:noFill/>
          <a:ln/>
        </p:spPr>
        <p:txBody>
          <a:bodyPr wrap="square" lIns="0" tIns="0" rIns="0" bIns="0" rtlCol="0" anchor="ctr"/>
          <a:lstStyle/>
          <a:p>
            <a:pPr algn="ctr" indent="0" marL="0">
              <a:buNone/>
            </a:pPr>
            <a:r>
              <a:rPr lang="en-US" sz="1200" dirty="0">
                <a:solidFill>
                  <a:srgbClr val="5C6A85"/>
                </a:solidFill>
                <a:latin typeface="Consolas" pitchFamily="34" charset="0"/>
                <a:ea typeface="Consolas" pitchFamily="34" charset="-122"/>
                <a:cs typeface="Consolas" pitchFamily="34" charset="-120"/>
              </a:rPr>
              <a:t>0</a:t>
            </a:r>
            <a:endParaRPr lang="en-US" sz="1200" dirty="0"/>
          </a:p>
        </p:txBody>
      </p:sp>
      <p:sp>
        <p:nvSpPr>
          <p:cNvPr id="42" name="Shape 39"/>
          <p:cNvSpPr/>
          <p:nvPr/>
        </p:nvSpPr>
        <p:spPr>
          <a:xfrm>
            <a:off x="11019282" y="2907792"/>
            <a:ext cx="587197" cy="457200"/>
          </a:xfrm>
          <a:prstGeom prst="rect">
            <a:avLst/>
          </a:prstGeom>
          <a:solidFill>
            <a:srgbClr val="3E1F1F"/>
          </a:solidFill>
          <a:ln w="7620">
            <a:solidFill>
              <a:srgbClr val="F0605E"/>
            </a:solidFill>
            <a:prstDash val="solid"/>
          </a:ln>
        </p:spPr>
      </p:sp>
      <p:sp>
        <p:nvSpPr>
          <p:cNvPr id="43" name="Text 40"/>
          <p:cNvSpPr txBox="1"/>
          <p:nvPr/>
        </p:nvSpPr>
        <p:spPr>
          <a:xfrm>
            <a:off x="11019282" y="2907792"/>
            <a:ext cx="587197" cy="457200"/>
          </a:xfrm>
          <a:prstGeom prst="rect">
            <a:avLst/>
          </a:prstGeom>
          <a:noFill/>
          <a:ln/>
        </p:spPr>
        <p:txBody>
          <a:bodyPr wrap="square" lIns="0" tIns="0" rIns="0" bIns="0" rtlCol="0" anchor="ctr"/>
          <a:lstStyle/>
          <a:p>
            <a:pPr algn="ctr" indent="0" marL="0">
              <a:buNone/>
            </a:pPr>
            <a:r>
              <a:rPr lang="en-US" sz="1200" b="1" dirty="0">
                <a:solidFill>
                  <a:srgbClr val="E9EEF6"/>
                </a:solidFill>
                <a:latin typeface="Consolas" pitchFamily="34" charset="0"/>
                <a:ea typeface="Consolas" pitchFamily="34" charset="-122"/>
                <a:cs typeface="Consolas" pitchFamily="34" charset="-120"/>
              </a:rPr>
              <a:t>15</a:t>
            </a:r>
            <a:endParaRPr lang="en-US" sz="1200" dirty="0"/>
          </a:p>
        </p:txBody>
      </p:sp>
      <p:sp>
        <p:nvSpPr>
          <p:cNvPr id="44" name="Text 41"/>
          <p:cNvSpPr txBox="1"/>
          <p:nvPr/>
        </p:nvSpPr>
        <p:spPr>
          <a:xfrm>
            <a:off x="5897880" y="3419856"/>
            <a:ext cx="1783080" cy="457200"/>
          </a:xfrm>
          <a:prstGeom prst="rect">
            <a:avLst/>
          </a:prstGeom>
          <a:noFill/>
          <a:ln/>
        </p:spPr>
        <p:txBody>
          <a:bodyPr wrap="square" lIns="0" tIns="0" rIns="0" bIns="0" rtlCol="0" anchor="ctr"/>
          <a:lstStyle/>
          <a:p>
            <a:pPr algn="l" indent="0" marL="0">
              <a:buNone/>
            </a:pPr>
            <a:r>
              <a:rPr lang="en-US" sz="1050" dirty="0">
                <a:solidFill>
                  <a:srgbClr val="E9EEF6"/>
                </a:solidFill>
                <a:latin typeface="Helvetica Neue" pitchFamily="34" charset="0"/>
                <a:ea typeface="Helvetica Neue" pitchFamily="34" charset="-122"/>
                <a:cs typeface="Helvetica Neue" pitchFamily="34" charset="-120"/>
              </a:rPr>
              <a:t>gpt-4o-mini</a:t>
            </a:r>
            <a:endParaRPr lang="en-US" sz="1050" dirty="0"/>
          </a:p>
        </p:txBody>
      </p:sp>
      <p:sp>
        <p:nvSpPr>
          <p:cNvPr id="45" name="Shape 42"/>
          <p:cNvSpPr/>
          <p:nvPr/>
        </p:nvSpPr>
        <p:spPr>
          <a:xfrm>
            <a:off x="7717536" y="3419856"/>
            <a:ext cx="587197" cy="457200"/>
          </a:xfrm>
          <a:prstGeom prst="rect">
            <a:avLst/>
          </a:prstGeom>
          <a:solidFill>
            <a:srgbClr val="164E49"/>
          </a:solidFill>
          <a:ln w="7620">
            <a:solidFill>
              <a:srgbClr val="2DD4BF"/>
            </a:solidFill>
            <a:prstDash val="solid"/>
          </a:ln>
        </p:spPr>
      </p:sp>
      <p:sp>
        <p:nvSpPr>
          <p:cNvPr id="46" name="Text 43"/>
          <p:cNvSpPr txBox="1"/>
          <p:nvPr/>
        </p:nvSpPr>
        <p:spPr>
          <a:xfrm>
            <a:off x="7717536" y="3419856"/>
            <a:ext cx="587197" cy="457200"/>
          </a:xfrm>
          <a:prstGeom prst="rect">
            <a:avLst/>
          </a:prstGeom>
          <a:noFill/>
          <a:ln/>
        </p:spPr>
        <p:txBody>
          <a:bodyPr wrap="square" lIns="0" tIns="0" rIns="0" bIns="0" rtlCol="0" anchor="ctr"/>
          <a:lstStyle/>
          <a:p>
            <a:pPr algn="ctr" indent="0" marL="0">
              <a:buNone/>
            </a:pPr>
            <a:r>
              <a:rPr lang="en-US" sz="1200" b="1" dirty="0">
                <a:solidFill>
                  <a:srgbClr val="E9EEF6"/>
                </a:solidFill>
                <a:latin typeface="Consolas" pitchFamily="34" charset="0"/>
                <a:ea typeface="Consolas" pitchFamily="34" charset="-122"/>
                <a:cs typeface="Consolas" pitchFamily="34" charset="-120"/>
              </a:rPr>
              <a:t>28</a:t>
            </a:r>
            <a:endParaRPr lang="en-US" sz="1200" dirty="0"/>
          </a:p>
        </p:txBody>
      </p:sp>
      <p:sp>
        <p:nvSpPr>
          <p:cNvPr id="47" name="Shape 44"/>
          <p:cNvSpPr/>
          <p:nvPr/>
        </p:nvSpPr>
        <p:spPr>
          <a:xfrm>
            <a:off x="8377885" y="3419856"/>
            <a:ext cx="587197" cy="457200"/>
          </a:xfrm>
          <a:prstGeom prst="rect">
            <a:avLst/>
          </a:prstGeom>
          <a:solidFill>
            <a:srgbClr val="7A2B2B"/>
          </a:solidFill>
          <a:ln w="7620">
            <a:solidFill>
              <a:srgbClr val="F0605E"/>
            </a:solidFill>
            <a:prstDash val="solid"/>
          </a:ln>
        </p:spPr>
      </p:sp>
      <p:sp>
        <p:nvSpPr>
          <p:cNvPr id="48" name="Text 45"/>
          <p:cNvSpPr txBox="1"/>
          <p:nvPr/>
        </p:nvSpPr>
        <p:spPr>
          <a:xfrm>
            <a:off x="8377885" y="3419856"/>
            <a:ext cx="587197" cy="457200"/>
          </a:xfrm>
          <a:prstGeom prst="rect">
            <a:avLst/>
          </a:prstGeom>
          <a:noFill/>
          <a:ln/>
        </p:spPr>
        <p:txBody>
          <a:bodyPr wrap="square" lIns="0" tIns="0" rIns="0" bIns="0" rtlCol="0" anchor="ctr"/>
          <a:lstStyle/>
          <a:p>
            <a:pPr algn="ctr" indent="0" marL="0">
              <a:buNone/>
            </a:pPr>
            <a:r>
              <a:rPr lang="en-US" sz="1200" b="1" dirty="0">
                <a:solidFill>
                  <a:srgbClr val="E9EEF6"/>
                </a:solidFill>
                <a:latin typeface="Consolas" pitchFamily="34" charset="0"/>
                <a:ea typeface="Consolas" pitchFamily="34" charset="-122"/>
                <a:cs typeface="Consolas" pitchFamily="34" charset="-120"/>
              </a:rPr>
              <a:t>72</a:t>
            </a:r>
            <a:endParaRPr lang="en-US" sz="1200" dirty="0"/>
          </a:p>
        </p:txBody>
      </p:sp>
      <p:sp>
        <p:nvSpPr>
          <p:cNvPr id="49" name="Shape 46"/>
          <p:cNvSpPr/>
          <p:nvPr/>
        </p:nvSpPr>
        <p:spPr>
          <a:xfrm>
            <a:off x="9038234" y="3419856"/>
            <a:ext cx="587197" cy="457200"/>
          </a:xfrm>
          <a:prstGeom prst="rect">
            <a:avLst/>
          </a:prstGeom>
          <a:solidFill>
            <a:srgbClr val="18233A"/>
          </a:solidFill>
          <a:ln w="5080">
            <a:solidFill>
              <a:srgbClr val="1E2A42"/>
            </a:solidFill>
            <a:prstDash val="solid"/>
          </a:ln>
        </p:spPr>
      </p:sp>
      <p:sp>
        <p:nvSpPr>
          <p:cNvPr id="50" name="Text 47"/>
          <p:cNvSpPr txBox="1"/>
          <p:nvPr/>
        </p:nvSpPr>
        <p:spPr>
          <a:xfrm>
            <a:off x="9038234" y="3419856"/>
            <a:ext cx="587197" cy="457200"/>
          </a:xfrm>
          <a:prstGeom prst="rect">
            <a:avLst/>
          </a:prstGeom>
          <a:noFill/>
          <a:ln/>
        </p:spPr>
        <p:txBody>
          <a:bodyPr wrap="square" lIns="0" tIns="0" rIns="0" bIns="0" rtlCol="0" anchor="ctr"/>
          <a:lstStyle/>
          <a:p>
            <a:pPr algn="ctr" indent="0" marL="0">
              <a:buNone/>
            </a:pPr>
            <a:r>
              <a:rPr lang="en-US" sz="1200" dirty="0">
                <a:solidFill>
                  <a:srgbClr val="5C6A85"/>
                </a:solidFill>
                <a:latin typeface="Consolas" pitchFamily="34" charset="0"/>
                <a:ea typeface="Consolas" pitchFamily="34" charset="-122"/>
                <a:cs typeface="Consolas" pitchFamily="34" charset="-120"/>
              </a:rPr>
              <a:t>0</a:t>
            </a:r>
            <a:endParaRPr lang="en-US" sz="1200" dirty="0"/>
          </a:p>
        </p:txBody>
      </p:sp>
      <p:sp>
        <p:nvSpPr>
          <p:cNvPr id="51" name="Shape 48"/>
          <p:cNvSpPr/>
          <p:nvPr/>
        </p:nvSpPr>
        <p:spPr>
          <a:xfrm>
            <a:off x="9698584" y="3419856"/>
            <a:ext cx="587197" cy="457200"/>
          </a:xfrm>
          <a:prstGeom prst="rect">
            <a:avLst/>
          </a:prstGeom>
          <a:solidFill>
            <a:srgbClr val="18233A"/>
          </a:solidFill>
          <a:ln w="5080">
            <a:solidFill>
              <a:srgbClr val="1E2A42"/>
            </a:solidFill>
            <a:prstDash val="solid"/>
          </a:ln>
        </p:spPr>
      </p:sp>
      <p:sp>
        <p:nvSpPr>
          <p:cNvPr id="52" name="Text 49"/>
          <p:cNvSpPr txBox="1"/>
          <p:nvPr/>
        </p:nvSpPr>
        <p:spPr>
          <a:xfrm>
            <a:off x="9698584" y="3419856"/>
            <a:ext cx="587197" cy="457200"/>
          </a:xfrm>
          <a:prstGeom prst="rect">
            <a:avLst/>
          </a:prstGeom>
          <a:noFill/>
          <a:ln/>
        </p:spPr>
        <p:txBody>
          <a:bodyPr wrap="square" lIns="0" tIns="0" rIns="0" bIns="0" rtlCol="0" anchor="ctr"/>
          <a:lstStyle/>
          <a:p>
            <a:pPr algn="ctr" indent="0" marL="0">
              <a:buNone/>
            </a:pPr>
            <a:r>
              <a:rPr lang="en-US" sz="1200" dirty="0">
                <a:solidFill>
                  <a:srgbClr val="5C6A85"/>
                </a:solidFill>
                <a:latin typeface="Consolas" pitchFamily="34" charset="0"/>
                <a:ea typeface="Consolas" pitchFamily="34" charset="-122"/>
                <a:cs typeface="Consolas" pitchFamily="34" charset="-120"/>
              </a:rPr>
              <a:t>0</a:t>
            </a:r>
            <a:endParaRPr lang="en-US" sz="1200" dirty="0"/>
          </a:p>
        </p:txBody>
      </p:sp>
      <p:sp>
        <p:nvSpPr>
          <p:cNvPr id="53" name="Shape 50"/>
          <p:cNvSpPr/>
          <p:nvPr/>
        </p:nvSpPr>
        <p:spPr>
          <a:xfrm>
            <a:off x="10358933" y="3419856"/>
            <a:ext cx="587197" cy="457200"/>
          </a:xfrm>
          <a:prstGeom prst="rect">
            <a:avLst/>
          </a:prstGeom>
          <a:solidFill>
            <a:srgbClr val="18233A"/>
          </a:solidFill>
          <a:ln w="5080">
            <a:solidFill>
              <a:srgbClr val="1E2A42"/>
            </a:solidFill>
            <a:prstDash val="solid"/>
          </a:ln>
        </p:spPr>
      </p:sp>
      <p:sp>
        <p:nvSpPr>
          <p:cNvPr id="54" name="Text 51"/>
          <p:cNvSpPr txBox="1"/>
          <p:nvPr/>
        </p:nvSpPr>
        <p:spPr>
          <a:xfrm>
            <a:off x="10358933" y="3419856"/>
            <a:ext cx="587197" cy="457200"/>
          </a:xfrm>
          <a:prstGeom prst="rect">
            <a:avLst/>
          </a:prstGeom>
          <a:noFill/>
          <a:ln/>
        </p:spPr>
        <p:txBody>
          <a:bodyPr wrap="square" lIns="0" tIns="0" rIns="0" bIns="0" rtlCol="0" anchor="ctr"/>
          <a:lstStyle/>
          <a:p>
            <a:pPr algn="ctr" indent="0" marL="0">
              <a:buNone/>
            </a:pPr>
            <a:r>
              <a:rPr lang="en-US" sz="1200" dirty="0">
                <a:solidFill>
                  <a:srgbClr val="5C6A85"/>
                </a:solidFill>
                <a:latin typeface="Consolas" pitchFamily="34" charset="0"/>
                <a:ea typeface="Consolas" pitchFamily="34" charset="-122"/>
                <a:cs typeface="Consolas" pitchFamily="34" charset="-120"/>
              </a:rPr>
              <a:t>0</a:t>
            </a:r>
            <a:endParaRPr lang="en-US" sz="1200" dirty="0"/>
          </a:p>
        </p:txBody>
      </p:sp>
      <p:sp>
        <p:nvSpPr>
          <p:cNvPr id="55" name="Shape 52"/>
          <p:cNvSpPr/>
          <p:nvPr/>
        </p:nvSpPr>
        <p:spPr>
          <a:xfrm>
            <a:off x="11019282" y="3419856"/>
            <a:ext cx="587197" cy="457200"/>
          </a:xfrm>
          <a:prstGeom prst="rect">
            <a:avLst/>
          </a:prstGeom>
          <a:solidFill>
            <a:srgbClr val="18233A"/>
          </a:solidFill>
          <a:ln w="5080">
            <a:solidFill>
              <a:srgbClr val="1E2A42"/>
            </a:solidFill>
            <a:prstDash val="solid"/>
          </a:ln>
        </p:spPr>
      </p:sp>
      <p:sp>
        <p:nvSpPr>
          <p:cNvPr id="56" name="Text 53"/>
          <p:cNvSpPr txBox="1"/>
          <p:nvPr/>
        </p:nvSpPr>
        <p:spPr>
          <a:xfrm>
            <a:off x="11019282" y="3419856"/>
            <a:ext cx="587197" cy="457200"/>
          </a:xfrm>
          <a:prstGeom prst="rect">
            <a:avLst/>
          </a:prstGeom>
          <a:noFill/>
          <a:ln/>
        </p:spPr>
        <p:txBody>
          <a:bodyPr wrap="square" lIns="0" tIns="0" rIns="0" bIns="0" rtlCol="0" anchor="ctr"/>
          <a:lstStyle/>
          <a:p>
            <a:pPr algn="ctr" indent="0" marL="0">
              <a:buNone/>
            </a:pPr>
            <a:r>
              <a:rPr lang="en-US" sz="1200" dirty="0">
                <a:solidFill>
                  <a:srgbClr val="5C6A85"/>
                </a:solidFill>
                <a:latin typeface="Consolas" pitchFamily="34" charset="0"/>
                <a:ea typeface="Consolas" pitchFamily="34" charset="-122"/>
                <a:cs typeface="Consolas" pitchFamily="34" charset="-120"/>
              </a:rPr>
              <a:t>0</a:t>
            </a:r>
            <a:endParaRPr lang="en-US" sz="1200" dirty="0"/>
          </a:p>
        </p:txBody>
      </p:sp>
      <p:sp>
        <p:nvSpPr>
          <p:cNvPr id="57" name="Text 54"/>
          <p:cNvSpPr txBox="1"/>
          <p:nvPr/>
        </p:nvSpPr>
        <p:spPr>
          <a:xfrm>
            <a:off x="5897880" y="3931920"/>
            <a:ext cx="1783080" cy="457200"/>
          </a:xfrm>
          <a:prstGeom prst="rect">
            <a:avLst/>
          </a:prstGeom>
          <a:noFill/>
          <a:ln/>
        </p:spPr>
        <p:txBody>
          <a:bodyPr wrap="square" lIns="0" tIns="0" rIns="0" bIns="0" rtlCol="0" anchor="ctr"/>
          <a:lstStyle/>
          <a:p>
            <a:pPr algn="l" indent="0" marL="0">
              <a:buNone/>
            </a:pPr>
            <a:r>
              <a:rPr lang="en-US" sz="1050" dirty="0">
                <a:solidFill>
                  <a:srgbClr val="E9EEF6"/>
                </a:solidFill>
                <a:latin typeface="Helvetica Neue" pitchFamily="34" charset="0"/>
                <a:ea typeface="Helvetica Neue" pitchFamily="34" charset="-122"/>
                <a:cs typeface="Helvetica Neue" pitchFamily="34" charset="-120"/>
              </a:rPr>
              <a:t>phi3:mini</a:t>
            </a:r>
            <a:endParaRPr lang="en-US" sz="1050" dirty="0"/>
          </a:p>
        </p:txBody>
      </p:sp>
      <p:sp>
        <p:nvSpPr>
          <p:cNvPr id="58" name="Shape 55"/>
          <p:cNvSpPr/>
          <p:nvPr/>
        </p:nvSpPr>
        <p:spPr>
          <a:xfrm>
            <a:off x="7717536" y="3931920"/>
            <a:ext cx="587197" cy="457200"/>
          </a:xfrm>
          <a:prstGeom prst="rect">
            <a:avLst/>
          </a:prstGeom>
          <a:solidFill>
            <a:srgbClr val="123A37"/>
          </a:solidFill>
          <a:ln w="7620">
            <a:solidFill>
              <a:srgbClr val="2DD4BF"/>
            </a:solidFill>
            <a:prstDash val="solid"/>
          </a:ln>
        </p:spPr>
      </p:sp>
      <p:sp>
        <p:nvSpPr>
          <p:cNvPr id="59" name="Text 56"/>
          <p:cNvSpPr txBox="1"/>
          <p:nvPr/>
        </p:nvSpPr>
        <p:spPr>
          <a:xfrm>
            <a:off x="7717536" y="3931920"/>
            <a:ext cx="587197" cy="457200"/>
          </a:xfrm>
          <a:prstGeom prst="rect">
            <a:avLst/>
          </a:prstGeom>
          <a:noFill/>
          <a:ln/>
        </p:spPr>
        <p:txBody>
          <a:bodyPr wrap="square" lIns="0" tIns="0" rIns="0" bIns="0" rtlCol="0" anchor="ctr"/>
          <a:lstStyle/>
          <a:p>
            <a:pPr algn="ctr" indent="0" marL="0">
              <a:buNone/>
            </a:pPr>
            <a:r>
              <a:rPr lang="en-US" sz="1200" b="1" dirty="0">
                <a:solidFill>
                  <a:srgbClr val="E9EEF6"/>
                </a:solidFill>
                <a:latin typeface="Consolas" pitchFamily="34" charset="0"/>
                <a:ea typeface="Consolas" pitchFamily="34" charset="-122"/>
                <a:cs typeface="Consolas" pitchFamily="34" charset="-120"/>
              </a:rPr>
              <a:t>2</a:t>
            </a:r>
            <a:endParaRPr lang="en-US" sz="1200" dirty="0"/>
          </a:p>
        </p:txBody>
      </p:sp>
      <p:sp>
        <p:nvSpPr>
          <p:cNvPr id="60" name="Shape 57"/>
          <p:cNvSpPr/>
          <p:nvPr/>
        </p:nvSpPr>
        <p:spPr>
          <a:xfrm>
            <a:off x="8377885" y="3931920"/>
            <a:ext cx="587197" cy="457200"/>
          </a:xfrm>
          <a:prstGeom prst="rect">
            <a:avLst/>
          </a:prstGeom>
          <a:solidFill>
            <a:srgbClr val="7A2B2B"/>
          </a:solidFill>
          <a:ln w="7620">
            <a:solidFill>
              <a:srgbClr val="F0605E"/>
            </a:solidFill>
            <a:prstDash val="solid"/>
          </a:ln>
        </p:spPr>
      </p:sp>
      <p:sp>
        <p:nvSpPr>
          <p:cNvPr id="61" name="Text 58"/>
          <p:cNvSpPr txBox="1"/>
          <p:nvPr/>
        </p:nvSpPr>
        <p:spPr>
          <a:xfrm>
            <a:off x="8377885" y="3931920"/>
            <a:ext cx="587197" cy="457200"/>
          </a:xfrm>
          <a:prstGeom prst="rect">
            <a:avLst/>
          </a:prstGeom>
          <a:noFill/>
          <a:ln/>
        </p:spPr>
        <p:txBody>
          <a:bodyPr wrap="square" lIns="0" tIns="0" rIns="0" bIns="0" rtlCol="0" anchor="ctr"/>
          <a:lstStyle/>
          <a:p>
            <a:pPr algn="ctr" indent="0" marL="0">
              <a:buNone/>
            </a:pPr>
            <a:r>
              <a:rPr lang="en-US" sz="1200" b="1" dirty="0">
                <a:solidFill>
                  <a:srgbClr val="E9EEF6"/>
                </a:solidFill>
                <a:latin typeface="Consolas" pitchFamily="34" charset="0"/>
                <a:ea typeface="Consolas" pitchFamily="34" charset="-122"/>
                <a:cs typeface="Consolas" pitchFamily="34" charset="-120"/>
              </a:rPr>
              <a:t>95</a:t>
            </a:r>
            <a:endParaRPr lang="en-US" sz="1200" dirty="0"/>
          </a:p>
        </p:txBody>
      </p:sp>
      <p:sp>
        <p:nvSpPr>
          <p:cNvPr id="62" name="Shape 59"/>
          <p:cNvSpPr/>
          <p:nvPr/>
        </p:nvSpPr>
        <p:spPr>
          <a:xfrm>
            <a:off x="9038234" y="3931920"/>
            <a:ext cx="587197" cy="457200"/>
          </a:xfrm>
          <a:prstGeom prst="rect">
            <a:avLst/>
          </a:prstGeom>
          <a:solidFill>
            <a:srgbClr val="18233A"/>
          </a:solidFill>
          <a:ln w="5080">
            <a:solidFill>
              <a:srgbClr val="1E2A42"/>
            </a:solidFill>
            <a:prstDash val="solid"/>
          </a:ln>
        </p:spPr>
      </p:sp>
      <p:sp>
        <p:nvSpPr>
          <p:cNvPr id="63" name="Text 60"/>
          <p:cNvSpPr txBox="1"/>
          <p:nvPr/>
        </p:nvSpPr>
        <p:spPr>
          <a:xfrm>
            <a:off x="9038234" y="3931920"/>
            <a:ext cx="587197" cy="457200"/>
          </a:xfrm>
          <a:prstGeom prst="rect">
            <a:avLst/>
          </a:prstGeom>
          <a:noFill/>
          <a:ln/>
        </p:spPr>
        <p:txBody>
          <a:bodyPr wrap="square" lIns="0" tIns="0" rIns="0" bIns="0" rtlCol="0" anchor="ctr"/>
          <a:lstStyle/>
          <a:p>
            <a:pPr algn="ctr" indent="0" marL="0">
              <a:buNone/>
            </a:pPr>
            <a:r>
              <a:rPr lang="en-US" sz="1200" dirty="0">
                <a:solidFill>
                  <a:srgbClr val="5C6A85"/>
                </a:solidFill>
                <a:latin typeface="Consolas" pitchFamily="34" charset="0"/>
                <a:ea typeface="Consolas" pitchFamily="34" charset="-122"/>
                <a:cs typeface="Consolas" pitchFamily="34" charset="-120"/>
              </a:rPr>
              <a:t>0</a:t>
            </a:r>
            <a:endParaRPr lang="en-US" sz="1200" dirty="0"/>
          </a:p>
        </p:txBody>
      </p:sp>
      <p:sp>
        <p:nvSpPr>
          <p:cNvPr id="64" name="Shape 61"/>
          <p:cNvSpPr/>
          <p:nvPr/>
        </p:nvSpPr>
        <p:spPr>
          <a:xfrm>
            <a:off x="9698584" y="3931920"/>
            <a:ext cx="587197" cy="457200"/>
          </a:xfrm>
          <a:prstGeom prst="rect">
            <a:avLst/>
          </a:prstGeom>
          <a:solidFill>
            <a:srgbClr val="18233A"/>
          </a:solidFill>
          <a:ln w="5080">
            <a:solidFill>
              <a:srgbClr val="1E2A42"/>
            </a:solidFill>
            <a:prstDash val="solid"/>
          </a:ln>
        </p:spPr>
      </p:sp>
      <p:sp>
        <p:nvSpPr>
          <p:cNvPr id="65" name="Text 62"/>
          <p:cNvSpPr txBox="1"/>
          <p:nvPr/>
        </p:nvSpPr>
        <p:spPr>
          <a:xfrm>
            <a:off x="9698584" y="3931920"/>
            <a:ext cx="587197" cy="457200"/>
          </a:xfrm>
          <a:prstGeom prst="rect">
            <a:avLst/>
          </a:prstGeom>
          <a:noFill/>
          <a:ln/>
        </p:spPr>
        <p:txBody>
          <a:bodyPr wrap="square" lIns="0" tIns="0" rIns="0" bIns="0" rtlCol="0" anchor="ctr"/>
          <a:lstStyle/>
          <a:p>
            <a:pPr algn="ctr" indent="0" marL="0">
              <a:buNone/>
            </a:pPr>
            <a:r>
              <a:rPr lang="en-US" sz="1200" dirty="0">
                <a:solidFill>
                  <a:srgbClr val="5C6A85"/>
                </a:solidFill>
                <a:latin typeface="Consolas" pitchFamily="34" charset="0"/>
                <a:ea typeface="Consolas" pitchFamily="34" charset="-122"/>
                <a:cs typeface="Consolas" pitchFamily="34" charset="-120"/>
              </a:rPr>
              <a:t>0</a:t>
            </a:r>
            <a:endParaRPr lang="en-US" sz="1200" dirty="0"/>
          </a:p>
        </p:txBody>
      </p:sp>
      <p:sp>
        <p:nvSpPr>
          <p:cNvPr id="66" name="Shape 63"/>
          <p:cNvSpPr/>
          <p:nvPr/>
        </p:nvSpPr>
        <p:spPr>
          <a:xfrm>
            <a:off x="10358933" y="3931920"/>
            <a:ext cx="587197" cy="457200"/>
          </a:xfrm>
          <a:prstGeom prst="rect">
            <a:avLst/>
          </a:prstGeom>
          <a:solidFill>
            <a:srgbClr val="4E3712"/>
          </a:solidFill>
          <a:ln w="7620">
            <a:solidFill>
              <a:srgbClr val="F5A524"/>
            </a:solidFill>
            <a:prstDash val="solid"/>
          </a:ln>
        </p:spPr>
      </p:sp>
      <p:sp>
        <p:nvSpPr>
          <p:cNvPr id="67" name="Text 64"/>
          <p:cNvSpPr txBox="1"/>
          <p:nvPr/>
        </p:nvSpPr>
        <p:spPr>
          <a:xfrm>
            <a:off x="10358933" y="3931920"/>
            <a:ext cx="587197" cy="457200"/>
          </a:xfrm>
          <a:prstGeom prst="rect">
            <a:avLst/>
          </a:prstGeom>
          <a:noFill/>
          <a:ln/>
        </p:spPr>
        <p:txBody>
          <a:bodyPr wrap="square" lIns="0" tIns="0" rIns="0" bIns="0" rtlCol="0" anchor="ctr"/>
          <a:lstStyle/>
          <a:p>
            <a:pPr algn="ctr" indent="0" marL="0">
              <a:buNone/>
            </a:pPr>
            <a:r>
              <a:rPr lang="en-US" sz="1200" b="1" dirty="0">
                <a:solidFill>
                  <a:srgbClr val="E9EEF6"/>
                </a:solidFill>
                <a:latin typeface="Consolas" pitchFamily="34" charset="0"/>
                <a:ea typeface="Consolas" pitchFamily="34" charset="-122"/>
                <a:cs typeface="Consolas" pitchFamily="34" charset="-120"/>
              </a:rPr>
              <a:t>23</a:t>
            </a:r>
            <a:endParaRPr lang="en-US" sz="1200" dirty="0"/>
          </a:p>
        </p:txBody>
      </p:sp>
      <p:sp>
        <p:nvSpPr>
          <p:cNvPr id="68" name="Shape 65"/>
          <p:cNvSpPr/>
          <p:nvPr/>
        </p:nvSpPr>
        <p:spPr>
          <a:xfrm>
            <a:off x="11019282" y="3931920"/>
            <a:ext cx="587197" cy="457200"/>
          </a:xfrm>
          <a:prstGeom prst="rect">
            <a:avLst/>
          </a:prstGeom>
          <a:solidFill>
            <a:srgbClr val="5A2424"/>
          </a:solidFill>
          <a:ln w="7620">
            <a:solidFill>
              <a:srgbClr val="F0605E"/>
            </a:solidFill>
            <a:prstDash val="solid"/>
          </a:ln>
        </p:spPr>
      </p:sp>
      <p:sp>
        <p:nvSpPr>
          <p:cNvPr id="69" name="Text 66"/>
          <p:cNvSpPr txBox="1"/>
          <p:nvPr/>
        </p:nvSpPr>
        <p:spPr>
          <a:xfrm>
            <a:off x="11019282" y="3931920"/>
            <a:ext cx="587197" cy="457200"/>
          </a:xfrm>
          <a:prstGeom prst="rect">
            <a:avLst/>
          </a:prstGeom>
          <a:noFill/>
          <a:ln/>
        </p:spPr>
        <p:txBody>
          <a:bodyPr wrap="square" lIns="0" tIns="0" rIns="0" bIns="0" rtlCol="0" anchor="ctr"/>
          <a:lstStyle/>
          <a:p>
            <a:pPr algn="ctr" indent="0" marL="0">
              <a:buNone/>
            </a:pPr>
            <a:r>
              <a:rPr lang="en-US" sz="1200" b="1" dirty="0">
                <a:solidFill>
                  <a:srgbClr val="E9EEF6"/>
                </a:solidFill>
                <a:latin typeface="Consolas" pitchFamily="34" charset="0"/>
                <a:ea typeface="Consolas" pitchFamily="34" charset="-122"/>
                <a:cs typeface="Consolas" pitchFamily="34" charset="-120"/>
              </a:rPr>
              <a:t>22</a:t>
            </a:r>
            <a:endParaRPr lang="en-US" sz="1200" dirty="0"/>
          </a:p>
        </p:txBody>
      </p:sp>
      <p:sp>
        <p:nvSpPr>
          <p:cNvPr id="70" name="Text 67"/>
          <p:cNvSpPr txBox="1"/>
          <p:nvPr/>
        </p:nvSpPr>
        <p:spPr>
          <a:xfrm>
            <a:off x="5897880" y="4443984"/>
            <a:ext cx="1783080" cy="457200"/>
          </a:xfrm>
          <a:prstGeom prst="rect">
            <a:avLst/>
          </a:prstGeom>
          <a:noFill/>
          <a:ln/>
        </p:spPr>
        <p:txBody>
          <a:bodyPr wrap="square" lIns="0" tIns="0" rIns="0" bIns="0" rtlCol="0" anchor="ctr"/>
          <a:lstStyle/>
          <a:p>
            <a:pPr algn="l" indent="0" marL="0">
              <a:buNone/>
            </a:pPr>
            <a:r>
              <a:rPr lang="en-US" sz="1050" dirty="0">
                <a:solidFill>
                  <a:srgbClr val="E9EEF6"/>
                </a:solidFill>
                <a:latin typeface="Helvetica Neue" pitchFamily="34" charset="0"/>
                <a:ea typeface="Helvetica Neue" pitchFamily="34" charset="-122"/>
                <a:cs typeface="Helvetica Neue" pitchFamily="34" charset="-120"/>
              </a:rPr>
              <a:t>gemini-2.5-flash-lite</a:t>
            </a:r>
            <a:endParaRPr lang="en-US" sz="1050" dirty="0"/>
          </a:p>
        </p:txBody>
      </p:sp>
      <p:sp>
        <p:nvSpPr>
          <p:cNvPr id="71" name="Shape 68"/>
          <p:cNvSpPr/>
          <p:nvPr/>
        </p:nvSpPr>
        <p:spPr>
          <a:xfrm>
            <a:off x="7717536" y="4443984"/>
            <a:ext cx="587197" cy="457200"/>
          </a:xfrm>
          <a:prstGeom prst="rect">
            <a:avLst/>
          </a:prstGeom>
          <a:solidFill>
            <a:srgbClr val="18233A"/>
          </a:solidFill>
          <a:ln w="5080">
            <a:solidFill>
              <a:srgbClr val="1E2A42"/>
            </a:solidFill>
            <a:prstDash val="solid"/>
          </a:ln>
        </p:spPr>
      </p:sp>
      <p:sp>
        <p:nvSpPr>
          <p:cNvPr id="72" name="Text 69"/>
          <p:cNvSpPr txBox="1"/>
          <p:nvPr/>
        </p:nvSpPr>
        <p:spPr>
          <a:xfrm>
            <a:off x="7717536" y="4443984"/>
            <a:ext cx="587197" cy="457200"/>
          </a:xfrm>
          <a:prstGeom prst="rect">
            <a:avLst/>
          </a:prstGeom>
          <a:noFill/>
          <a:ln/>
        </p:spPr>
        <p:txBody>
          <a:bodyPr wrap="square" lIns="0" tIns="0" rIns="0" bIns="0" rtlCol="0" anchor="ctr"/>
          <a:lstStyle/>
          <a:p>
            <a:pPr algn="ctr" indent="0" marL="0">
              <a:buNone/>
            </a:pPr>
            <a:r>
              <a:rPr lang="en-US" sz="1200" dirty="0">
                <a:solidFill>
                  <a:srgbClr val="5C6A85"/>
                </a:solidFill>
                <a:latin typeface="Consolas" pitchFamily="34" charset="0"/>
                <a:ea typeface="Consolas" pitchFamily="34" charset="-122"/>
                <a:cs typeface="Consolas" pitchFamily="34" charset="-120"/>
              </a:rPr>
              <a:t>0</a:t>
            </a:r>
            <a:endParaRPr lang="en-US" sz="1200" dirty="0"/>
          </a:p>
        </p:txBody>
      </p:sp>
      <p:sp>
        <p:nvSpPr>
          <p:cNvPr id="73" name="Shape 70"/>
          <p:cNvSpPr/>
          <p:nvPr/>
        </p:nvSpPr>
        <p:spPr>
          <a:xfrm>
            <a:off x="8377885" y="4443984"/>
            <a:ext cx="587197" cy="457200"/>
          </a:xfrm>
          <a:prstGeom prst="rect">
            <a:avLst/>
          </a:prstGeom>
          <a:solidFill>
            <a:srgbClr val="18233A"/>
          </a:solidFill>
          <a:ln w="5080">
            <a:solidFill>
              <a:srgbClr val="1E2A42"/>
            </a:solidFill>
            <a:prstDash val="solid"/>
          </a:ln>
        </p:spPr>
      </p:sp>
      <p:sp>
        <p:nvSpPr>
          <p:cNvPr id="74" name="Text 71"/>
          <p:cNvSpPr txBox="1"/>
          <p:nvPr/>
        </p:nvSpPr>
        <p:spPr>
          <a:xfrm>
            <a:off x="8377885" y="4443984"/>
            <a:ext cx="587197" cy="457200"/>
          </a:xfrm>
          <a:prstGeom prst="rect">
            <a:avLst/>
          </a:prstGeom>
          <a:noFill/>
          <a:ln/>
        </p:spPr>
        <p:txBody>
          <a:bodyPr wrap="square" lIns="0" tIns="0" rIns="0" bIns="0" rtlCol="0" anchor="ctr"/>
          <a:lstStyle/>
          <a:p>
            <a:pPr algn="ctr" indent="0" marL="0">
              <a:buNone/>
            </a:pPr>
            <a:r>
              <a:rPr lang="en-US" sz="1200" dirty="0">
                <a:solidFill>
                  <a:srgbClr val="5C6A85"/>
                </a:solidFill>
                <a:latin typeface="Consolas" pitchFamily="34" charset="0"/>
                <a:ea typeface="Consolas" pitchFamily="34" charset="-122"/>
                <a:cs typeface="Consolas" pitchFamily="34" charset="-120"/>
              </a:rPr>
              <a:t>0</a:t>
            </a:r>
            <a:endParaRPr lang="en-US" sz="1200" dirty="0"/>
          </a:p>
        </p:txBody>
      </p:sp>
      <p:sp>
        <p:nvSpPr>
          <p:cNvPr id="75" name="Shape 72"/>
          <p:cNvSpPr/>
          <p:nvPr/>
        </p:nvSpPr>
        <p:spPr>
          <a:xfrm>
            <a:off x="9038234" y="4443984"/>
            <a:ext cx="587197" cy="457200"/>
          </a:xfrm>
          <a:prstGeom prst="rect">
            <a:avLst/>
          </a:prstGeom>
          <a:solidFill>
            <a:srgbClr val="18233A"/>
          </a:solidFill>
          <a:ln w="5080">
            <a:solidFill>
              <a:srgbClr val="1E2A42"/>
            </a:solidFill>
            <a:prstDash val="solid"/>
          </a:ln>
        </p:spPr>
      </p:sp>
      <p:sp>
        <p:nvSpPr>
          <p:cNvPr id="76" name="Text 73"/>
          <p:cNvSpPr txBox="1"/>
          <p:nvPr/>
        </p:nvSpPr>
        <p:spPr>
          <a:xfrm>
            <a:off x="9038234" y="4443984"/>
            <a:ext cx="587197" cy="457200"/>
          </a:xfrm>
          <a:prstGeom prst="rect">
            <a:avLst/>
          </a:prstGeom>
          <a:noFill/>
          <a:ln/>
        </p:spPr>
        <p:txBody>
          <a:bodyPr wrap="square" lIns="0" tIns="0" rIns="0" bIns="0" rtlCol="0" anchor="ctr"/>
          <a:lstStyle/>
          <a:p>
            <a:pPr algn="ctr" indent="0" marL="0">
              <a:buNone/>
            </a:pPr>
            <a:r>
              <a:rPr lang="en-US" sz="1200" dirty="0">
                <a:solidFill>
                  <a:srgbClr val="5C6A85"/>
                </a:solidFill>
                <a:latin typeface="Consolas" pitchFamily="34" charset="0"/>
                <a:ea typeface="Consolas" pitchFamily="34" charset="-122"/>
                <a:cs typeface="Consolas" pitchFamily="34" charset="-120"/>
              </a:rPr>
              <a:t>0</a:t>
            </a:r>
            <a:endParaRPr lang="en-US" sz="1200" dirty="0"/>
          </a:p>
        </p:txBody>
      </p:sp>
      <p:sp>
        <p:nvSpPr>
          <p:cNvPr id="77" name="Shape 74"/>
          <p:cNvSpPr/>
          <p:nvPr/>
        </p:nvSpPr>
        <p:spPr>
          <a:xfrm>
            <a:off x="9698584" y="4443984"/>
            <a:ext cx="587197" cy="457200"/>
          </a:xfrm>
          <a:prstGeom prst="rect">
            <a:avLst/>
          </a:prstGeom>
          <a:solidFill>
            <a:srgbClr val="18233A"/>
          </a:solidFill>
          <a:ln w="5080">
            <a:solidFill>
              <a:srgbClr val="1E2A42"/>
            </a:solidFill>
            <a:prstDash val="solid"/>
          </a:ln>
        </p:spPr>
      </p:sp>
      <p:sp>
        <p:nvSpPr>
          <p:cNvPr id="78" name="Text 75"/>
          <p:cNvSpPr txBox="1"/>
          <p:nvPr/>
        </p:nvSpPr>
        <p:spPr>
          <a:xfrm>
            <a:off x="9698584" y="4443984"/>
            <a:ext cx="587197" cy="457200"/>
          </a:xfrm>
          <a:prstGeom prst="rect">
            <a:avLst/>
          </a:prstGeom>
          <a:noFill/>
          <a:ln/>
        </p:spPr>
        <p:txBody>
          <a:bodyPr wrap="square" lIns="0" tIns="0" rIns="0" bIns="0" rtlCol="0" anchor="ctr"/>
          <a:lstStyle/>
          <a:p>
            <a:pPr algn="ctr" indent="0" marL="0">
              <a:buNone/>
            </a:pPr>
            <a:r>
              <a:rPr lang="en-US" sz="1200" dirty="0">
                <a:solidFill>
                  <a:srgbClr val="5C6A85"/>
                </a:solidFill>
                <a:latin typeface="Consolas" pitchFamily="34" charset="0"/>
                <a:ea typeface="Consolas" pitchFamily="34" charset="-122"/>
                <a:cs typeface="Consolas" pitchFamily="34" charset="-120"/>
              </a:rPr>
              <a:t>0</a:t>
            </a:r>
            <a:endParaRPr lang="en-US" sz="1200" dirty="0"/>
          </a:p>
        </p:txBody>
      </p:sp>
      <p:sp>
        <p:nvSpPr>
          <p:cNvPr id="79" name="Shape 76"/>
          <p:cNvSpPr/>
          <p:nvPr/>
        </p:nvSpPr>
        <p:spPr>
          <a:xfrm>
            <a:off x="10358933" y="4443984"/>
            <a:ext cx="587197" cy="457200"/>
          </a:xfrm>
          <a:prstGeom prst="rect">
            <a:avLst/>
          </a:prstGeom>
          <a:solidFill>
            <a:srgbClr val="6E4A12"/>
          </a:solidFill>
          <a:ln w="7620">
            <a:solidFill>
              <a:srgbClr val="F5A524"/>
            </a:solidFill>
            <a:prstDash val="solid"/>
          </a:ln>
        </p:spPr>
      </p:sp>
      <p:sp>
        <p:nvSpPr>
          <p:cNvPr id="80" name="Text 77"/>
          <p:cNvSpPr txBox="1"/>
          <p:nvPr/>
        </p:nvSpPr>
        <p:spPr>
          <a:xfrm>
            <a:off x="10358933" y="4443984"/>
            <a:ext cx="587197" cy="457200"/>
          </a:xfrm>
          <a:prstGeom prst="rect">
            <a:avLst/>
          </a:prstGeom>
          <a:noFill/>
          <a:ln/>
        </p:spPr>
        <p:txBody>
          <a:bodyPr wrap="square" lIns="0" tIns="0" rIns="0" bIns="0" rtlCol="0" anchor="ctr"/>
          <a:lstStyle/>
          <a:p>
            <a:pPr algn="ctr" indent="0" marL="0">
              <a:buNone/>
            </a:pPr>
            <a:r>
              <a:rPr lang="en-US" sz="1200" b="1" dirty="0">
                <a:solidFill>
                  <a:srgbClr val="E9EEF6"/>
                </a:solidFill>
                <a:latin typeface="Consolas" pitchFamily="34" charset="0"/>
                <a:ea typeface="Consolas" pitchFamily="34" charset="-122"/>
                <a:cs typeface="Consolas" pitchFamily="34" charset="-120"/>
              </a:rPr>
              <a:t>100</a:t>
            </a:r>
            <a:endParaRPr lang="en-US" sz="1200" dirty="0"/>
          </a:p>
        </p:txBody>
      </p:sp>
      <p:sp>
        <p:nvSpPr>
          <p:cNvPr id="81" name="Shape 78"/>
          <p:cNvSpPr/>
          <p:nvPr/>
        </p:nvSpPr>
        <p:spPr>
          <a:xfrm>
            <a:off x="11019282" y="4443984"/>
            <a:ext cx="587197" cy="457200"/>
          </a:xfrm>
          <a:prstGeom prst="rect">
            <a:avLst/>
          </a:prstGeom>
          <a:solidFill>
            <a:srgbClr val="18233A"/>
          </a:solidFill>
          <a:ln w="5080">
            <a:solidFill>
              <a:srgbClr val="1E2A42"/>
            </a:solidFill>
            <a:prstDash val="solid"/>
          </a:ln>
        </p:spPr>
      </p:sp>
      <p:sp>
        <p:nvSpPr>
          <p:cNvPr id="82" name="Text 79"/>
          <p:cNvSpPr txBox="1"/>
          <p:nvPr/>
        </p:nvSpPr>
        <p:spPr>
          <a:xfrm>
            <a:off x="11019282" y="4443984"/>
            <a:ext cx="587197" cy="457200"/>
          </a:xfrm>
          <a:prstGeom prst="rect">
            <a:avLst/>
          </a:prstGeom>
          <a:noFill/>
          <a:ln/>
        </p:spPr>
        <p:txBody>
          <a:bodyPr wrap="square" lIns="0" tIns="0" rIns="0" bIns="0" rtlCol="0" anchor="ctr"/>
          <a:lstStyle/>
          <a:p>
            <a:pPr algn="ctr" indent="0" marL="0">
              <a:buNone/>
            </a:pPr>
            <a:r>
              <a:rPr lang="en-US" sz="1200" dirty="0">
                <a:solidFill>
                  <a:srgbClr val="5C6A85"/>
                </a:solidFill>
                <a:latin typeface="Consolas" pitchFamily="34" charset="0"/>
                <a:ea typeface="Consolas" pitchFamily="34" charset="-122"/>
                <a:cs typeface="Consolas" pitchFamily="34" charset="-120"/>
              </a:rPr>
              <a:t>0</a:t>
            </a:r>
            <a:endParaRPr lang="en-US" sz="1200" dirty="0"/>
          </a:p>
        </p:txBody>
      </p:sp>
      <p:sp>
        <p:nvSpPr>
          <p:cNvPr id="83" name="Text 80"/>
          <p:cNvSpPr txBox="1"/>
          <p:nvPr/>
        </p:nvSpPr>
        <p:spPr>
          <a:xfrm>
            <a:off x="5897880" y="5001768"/>
            <a:ext cx="5745175" cy="365760"/>
          </a:xfrm>
          <a:prstGeom prst="rect">
            <a:avLst/>
          </a:prstGeom>
          <a:noFill/>
          <a:ln/>
        </p:spPr>
        <p:txBody>
          <a:bodyPr wrap="square" lIns="0" tIns="0" rIns="0" bIns="0" rtlCol="0" anchor="t"/>
          <a:lstStyle/>
          <a:p>
            <a:pPr algn="l" indent="0" marL="0">
              <a:lnSpc>
                <a:spcPct val="103000"/>
              </a:lnSpc>
              <a:buNone/>
            </a:pPr>
            <a:r>
              <a:rPr lang="en-US" sz="900" i="1" dirty="0">
                <a:solidFill>
                  <a:srgbClr val="93A0B8"/>
                </a:solidFill>
                <a:latin typeface="Helvetica Neue" pitchFamily="34" charset="0"/>
                <a:ea typeface="Helvetica Neue" pitchFamily="34" charset="-122"/>
                <a:cs typeface="Helvetica Neue" pitchFamily="34" charset="-120"/>
              </a:rPr>
              <a:t>V2 and V3 never fired on any LLM output — only on the synthetic regression set (75 and 100 of 500), which confirms the detector can see them.</a:t>
            </a:r>
            <a:endParaRPr lang="en-US" sz="900" dirty="0"/>
          </a:p>
        </p:txBody>
      </p:sp>
      <p:sp>
        <p:nvSpPr>
          <p:cNvPr id="84" name="Shape 81"/>
          <p:cNvSpPr/>
          <p:nvPr/>
        </p:nvSpPr>
        <p:spPr>
          <a:xfrm>
            <a:off x="548640" y="5440680"/>
            <a:ext cx="11094415" cy="731520"/>
          </a:xfrm>
          <a:prstGeom prst="roundRect">
            <a:avLst>
              <a:gd name="adj" fmla="val 10000"/>
            </a:avLst>
          </a:prstGeom>
          <a:solidFill>
            <a:srgbClr val="18233A"/>
          </a:solidFill>
          <a:ln w="9525">
            <a:solidFill>
              <a:srgbClr val="1E2A42"/>
            </a:solidFill>
            <a:prstDash val="solid"/>
          </a:ln>
        </p:spPr>
      </p:sp>
      <p:sp>
        <p:nvSpPr>
          <p:cNvPr id="85" name="Text 82"/>
          <p:cNvSpPr txBox="1"/>
          <p:nvPr/>
        </p:nvSpPr>
        <p:spPr>
          <a:xfrm>
            <a:off x="731520" y="5495544"/>
            <a:ext cx="10728655" cy="640080"/>
          </a:xfrm>
          <a:prstGeom prst="rect">
            <a:avLst/>
          </a:prstGeom>
          <a:noFill/>
          <a:ln/>
        </p:spPr>
        <p:txBody>
          <a:bodyPr wrap="square" lIns="0" tIns="0" rIns="0" bIns="0" rtlCol="0" anchor="ctr"/>
          <a:lstStyle/>
          <a:p>
            <a:pPr algn="l" indent="0" marL="0">
              <a:buNone/>
            </a:pPr>
            <a:r>
              <a:rPr lang="en-US" sz="900" dirty="0">
                <a:solidFill>
                  <a:srgbClr val="C7D0DE"/>
                </a:solidFill>
                <a:latin typeface="Consolas" pitchFamily="34" charset="0"/>
                <a:ea typeface="Consolas" pitchFamily="34" charset="-122"/>
                <a:cs typeface="Consolas" pitchFamily="34" charset="-120"/>
              </a:rPr>
              <a:t>Readings  </a:t>
            </a:r>
            <a:pPr algn="l" indent="0" marL="0">
              <a:buNone/>
            </a:pPr>
            <a:r>
              <a:rPr lang="en-US" sz="1000" dirty="0">
                <a:solidFill>
                  <a:srgbClr val="C7D0DE"/>
                </a:solidFill>
                <a:latin typeface="Helvetica Neue" pitchFamily="34" charset="0"/>
                <a:ea typeface="Helvetica Neue" pitchFamily="34" charset="-122"/>
                <a:cs typeface="Helvetica Neue" pitchFamily="34" charset="-120"/>
              </a:rPr>
              <a:t>gemini-2.5-flash-lite never fabricates but never makes the required claims (V4 in 100/100, low severity) — 0 % clean, yet the mildest failure mode.  </a:t>
            </a:r>
            <a:pPr algn="l" indent="0" marL="0">
              <a:buNone/>
            </a:pPr>
            <a:r>
              <a:rPr lang="en-US" sz="1000" dirty="0">
                <a:solidFill>
                  <a:srgbClr val="C7D0DE"/>
                </a:solidFill>
                <a:latin typeface="Helvetica Neue" pitchFamily="34" charset="0"/>
                <a:ea typeface="Helvetica Neue" pitchFamily="34" charset="-122"/>
                <a:cs typeface="Helvetica Neue" pitchFamily="34" charset="-120"/>
              </a:rPr>
              <a:t>gpt-4o-mini fails almost only through V1 (72/100, high severity).  </a:t>
            </a:r>
            <a:pPr algn="l" indent="0" marL="0">
              <a:buNone/>
            </a:pPr>
            <a:r>
              <a:rPr lang="en-US" sz="1000" dirty="0">
                <a:solidFill>
                  <a:srgbClr val="C7D0DE"/>
                </a:solidFill>
                <a:latin typeface="Helvetica Neue" pitchFamily="34" charset="0"/>
                <a:ea typeface="Helvetica Neue" pitchFamily="34" charset="-122"/>
                <a:cs typeface="Helvetica Neue" pitchFamily="34" charset="-120"/>
              </a:rPr>
              <a:t>phi3:mini fabricates in 95 and is incoherent in 22 — under deployment guideline 1 its explanations would almost never be shown.  </a:t>
            </a:r>
            <a:pPr algn="l" indent="0" marL="0">
              <a:buNone/>
            </a:pPr>
            <a:r>
              <a:rPr lang="en-US" sz="1000" dirty="0">
                <a:solidFill>
                  <a:srgbClr val="F5A524"/>
                </a:solidFill>
                <a:latin typeface="Helvetica Neue" pitchFamily="34" charset="0"/>
                <a:ea typeface="Helvetica Neue" pitchFamily="34" charset="-122"/>
                <a:cs typeface="Helvetica Neue" pitchFamily="34" charset="-120"/>
              </a:rPr>
              <a:t>Among the three local 4-bit models the smaller ones violate more, but architecture and training differ — an association, not a size effect.</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indent="0" marL="0">
              <a:buNone/>
            </a:pPr>
            <a:r>
              <a:rPr lang="en-US" sz="1050" spc="200" kern="0" dirty="0">
                <a:solidFill>
                  <a:srgbClr val="2DD4BF"/>
                </a:solidFill>
                <a:latin typeface="Consolas" pitchFamily="34" charset="0"/>
                <a:ea typeface="Consolas" pitchFamily="34" charset="-122"/>
                <a:cs typeface="Consolas" pitchFamily="34" charset="-120"/>
              </a:rPr>
              <a:t>11 · RESULTS — DETECTOR VS HUMAN JUDGEMENT</a:t>
            </a:r>
            <a:endParaRPr lang="en-US" sz="1050" dirty="0"/>
          </a:p>
        </p:txBody>
      </p:sp>
      <p:sp>
        <p:nvSpPr>
          <p:cNvPr id="3" name="Text 1"/>
          <p:cNvSpPr txBox="1"/>
          <p:nvPr/>
        </p:nvSpPr>
        <p:spPr>
          <a:xfrm>
            <a:off x="548640" y="603504"/>
            <a:ext cx="11094415" cy="566928"/>
          </a:xfrm>
          <a:prstGeom prst="rect">
            <a:avLst/>
          </a:prstGeom>
          <a:noFill/>
          <a:ln/>
        </p:spPr>
        <p:txBody>
          <a:bodyPr wrap="square" lIns="0" tIns="0" rIns="0" bIns="0" rtlCol="0" anchor="t"/>
          <a:lstStyle/>
          <a:p>
            <a:pPr indent="0" marL="0">
              <a:buNone/>
            </a:pPr>
            <a:r>
              <a:rPr lang="en-US" sz="2700" b="1" dirty="0">
                <a:solidFill>
                  <a:srgbClr val="E9EEF6"/>
                </a:solidFill>
                <a:latin typeface="Helvetica Neue" pitchFamily="34" charset="0"/>
                <a:ea typeface="Helvetica Neue" pitchFamily="34" charset="-122"/>
                <a:cs typeface="Helvetica Neue" pitchFamily="34" charset="-120"/>
              </a:rPr>
              <a:t>Feasible architecture, unreliable classifier</a:t>
            </a:r>
            <a:endParaRPr lang="en-US" sz="27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350" dirty="0">
                <a:solidFill>
                  <a:srgbClr val="93A0B8"/>
                </a:solidFill>
                <a:latin typeface="Helvetica Neue" pitchFamily="34" charset="0"/>
                <a:ea typeface="Helvetica Neue" pitchFamily="34" charset="-122"/>
                <a:cs typeface="Helvetica Neue" pitchFamily="34" charset="-120"/>
              </a:rPr>
              <a:t>The first empirical evaluation exposes the gap between architectural feasibility and reliable classification: on 200 blind-annotated pairs ReasonGuard misses both pre-registered targets. The failure is localised — one rule is blind, one rule over-triggers.</a:t>
            </a:r>
            <a:endParaRPr lang="en-US" sz="1350" dirty="0"/>
          </a:p>
        </p:txBody>
      </p:sp>
      <p:sp>
        <p:nvSpPr>
          <p:cNvPr id="5" name="Text 3"/>
          <p:cNvSpPr txBox="1"/>
          <p:nvPr/>
        </p:nvSpPr>
        <p:spPr>
          <a:xfrm>
            <a:off x="548640" y="6473952"/>
            <a:ext cx="8778240" cy="219456"/>
          </a:xfrm>
          <a:prstGeom prst="rect">
            <a:avLst/>
          </a:prstGeom>
          <a:noFill/>
          <a:ln/>
        </p:spPr>
        <p:txBody>
          <a:bodyPr wrap="square" lIns="0" tIns="0" rIns="0" bIns="0" rtlCol="0" anchor="ctr"/>
          <a:lstStyle/>
          <a:p>
            <a:pPr indent="0" marL="0">
              <a:buNone/>
            </a:pPr>
            <a:r>
              <a:rPr lang="en-US" sz="850" dirty="0">
                <a:solidFill>
                  <a:srgbClr val="5C6A85"/>
                </a:solidFill>
                <a:latin typeface="Helvetica Neue" pitchFamily="34" charset="0"/>
                <a:ea typeface="Helvetica Neue" pitchFamily="34" charset="-122"/>
                <a:cs typeface="Helvetica Neue" pitchFamily="34" charset="-120"/>
              </a:rPr>
              <a:t>ReasonGuard  ·  Runtime Verification of AI Reasoning Faithfulness  ·  R. Bilalov  ·  SRH University Hamburg / FIT VUT Brno</a:t>
            </a:r>
            <a:endParaRPr lang="en-US" sz="850" dirty="0"/>
          </a:p>
        </p:txBody>
      </p:sp>
      <p:sp>
        <p:nvSpPr>
          <p:cNvPr id="6" name="Text 4"/>
          <p:cNvSpPr txBox="1"/>
          <p:nvPr/>
        </p:nvSpPr>
        <p:spPr>
          <a:xfrm>
            <a:off x="548640" y="6272784"/>
            <a:ext cx="9997135" cy="201168"/>
          </a:xfrm>
          <a:prstGeom prst="rect">
            <a:avLst/>
          </a:prstGeom>
          <a:noFill/>
          <a:ln/>
        </p:spPr>
        <p:txBody>
          <a:bodyPr wrap="square" lIns="0" tIns="0" rIns="0" bIns="0" rtlCol="0" anchor="ctr"/>
          <a:lstStyle/>
          <a:p>
            <a:pPr indent="0" marL="0">
              <a:buNone/>
            </a:pPr>
            <a:r>
              <a:rPr lang="en-US" sz="850" i="1" dirty="0">
                <a:solidFill>
                  <a:srgbClr val="5C6A85"/>
                </a:solidFill>
                <a:latin typeface="Helvetica Neue" pitchFamily="34" charset="0"/>
                <a:ea typeface="Helvetica Neue" pitchFamily="34" charset="-122"/>
                <a:cs typeface="Helvetica Neue" pitchFamily="34" charset="-120"/>
              </a:rPr>
              <a:t>Thesis Table 4.2, §4.2, §5.3. Macro metrics over NONE, V1–V5 (MIXED excluded). Proxy regime.</a:t>
            </a:r>
            <a:endParaRPr lang="en-US" sz="850" dirty="0"/>
          </a:p>
        </p:txBody>
      </p:sp>
      <p:sp>
        <p:nvSpPr>
          <p:cNvPr id="7" name="Text 5"/>
          <p:cNvSpPr txBox="1"/>
          <p:nvPr/>
        </p:nvSpPr>
        <p:spPr>
          <a:xfrm>
            <a:off x="10545775" y="6473952"/>
            <a:ext cx="1097280" cy="219456"/>
          </a:xfrm>
          <a:prstGeom prst="rect">
            <a:avLst/>
          </a:prstGeom>
          <a:noFill/>
          <a:ln/>
        </p:spPr>
        <p:txBody>
          <a:bodyPr wrap="square" lIns="0" tIns="0" rIns="0" bIns="0" rtlCol="0" anchor="ctr"/>
          <a:lstStyle/>
          <a:p>
            <a:pPr algn="r" indent="0" marL="0">
              <a:buNone/>
            </a:pPr>
            <a:r>
              <a:rPr lang="en-US" sz="900" dirty="0">
                <a:solidFill>
                  <a:srgbClr val="5C6A85"/>
                </a:solidFill>
                <a:latin typeface="Consolas" pitchFamily="34" charset="0"/>
                <a:ea typeface="Consolas" pitchFamily="34" charset="-122"/>
                <a:cs typeface="Consolas" pitchFamily="34" charset="-120"/>
              </a:rPr>
              <a:t>12 / 18</a:t>
            </a:r>
            <a:endParaRPr lang="en-US" sz="900" dirty="0"/>
          </a:p>
        </p:txBody>
      </p:sp>
      <p:sp>
        <p:nvSpPr>
          <p:cNvPr id="8" name="Shape 6"/>
          <p:cNvSpPr/>
          <p:nvPr/>
        </p:nvSpPr>
        <p:spPr>
          <a:xfrm>
            <a:off x="548640" y="1874520"/>
            <a:ext cx="3840480" cy="932688"/>
          </a:xfrm>
          <a:prstGeom prst="roundRect">
            <a:avLst>
              <a:gd name="adj" fmla="val 7843"/>
            </a:avLst>
          </a:prstGeom>
          <a:solidFill>
            <a:srgbClr val="121B2E"/>
          </a:solidFill>
          <a:ln w="9525">
            <a:solidFill>
              <a:srgbClr val="2A3752"/>
            </a:solidFill>
            <a:prstDash val="solid"/>
          </a:ln>
        </p:spPr>
      </p:sp>
      <p:sp>
        <p:nvSpPr>
          <p:cNvPr id="9" name="Text 7"/>
          <p:cNvSpPr txBox="1"/>
          <p:nvPr/>
        </p:nvSpPr>
        <p:spPr>
          <a:xfrm>
            <a:off x="749808" y="1984248"/>
            <a:ext cx="1463040" cy="274320"/>
          </a:xfrm>
          <a:prstGeom prst="rect">
            <a:avLst/>
          </a:prstGeom>
          <a:noFill/>
          <a:ln/>
        </p:spPr>
        <p:txBody>
          <a:bodyPr wrap="square" lIns="0" tIns="0" rIns="0" bIns="0" rtlCol="0" anchor="t"/>
          <a:lstStyle/>
          <a:p>
            <a:pPr algn="l" indent="0" marL="0">
              <a:buNone/>
            </a:pPr>
            <a:r>
              <a:rPr lang="en-US" sz="1200" b="1" dirty="0">
                <a:solidFill>
                  <a:srgbClr val="E9EEF6"/>
                </a:solidFill>
                <a:latin typeface="Helvetica Neue" pitchFamily="34" charset="0"/>
                <a:ea typeface="Helvetica Neue" pitchFamily="34" charset="-122"/>
                <a:cs typeface="Helvetica Neue" pitchFamily="34" charset="-120"/>
              </a:rPr>
              <a:t>Cohen's κ</a:t>
            </a:r>
            <a:endParaRPr lang="en-US" sz="1200" dirty="0"/>
          </a:p>
        </p:txBody>
      </p:sp>
      <p:sp>
        <p:nvSpPr>
          <p:cNvPr id="10" name="Text 8"/>
          <p:cNvSpPr txBox="1"/>
          <p:nvPr/>
        </p:nvSpPr>
        <p:spPr>
          <a:xfrm>
            <a:off x="749808" y="2295144"/>
            <a:ext cx="822960" cy="182880"/>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TARGET</a:t>
            </a:r>
            <a:endParaRPr lang="en-US" sz="750" dirty="0"/>
          </a:p>
        </p:txBody>
      </p:sp>
      <p:sp>
        <p:nvSpPr>
          <p:cNvPr id="11" name="Text 9"/>
          <p:cNvSpPr txBox="1"/>
          <p:nvPr/>
        </p:nvSpPr>
        <p:spPr>
          <a:xfrm>
            <a:off x="749808" y="2423160"/>
            <a:ext cx="1188720" cy="347472"/>
          </a:xfrm>
          <a:prstGeom prst="rect">
            <a:avLst/>
          </a:prstGeom>
          <a:noFill/>
          <a:ln/>
        </p:spPr>
        <p:txBody>
          <a:bodyPr wrap="square" lIns="0" tIns="0" rIns="0" bIns="0" rtlCol="0" anchor="t"/>
          <a:lstStyle/>
          <a:p>
            <a:pPr algn="l" indent="0" marL="0">
              <a:buNone/>
            </a:pPr>
            <a:r>
              <a:rPr lang="en-US" sz="1700" b="1" dirty="0">
                <a:solidFill>
                  <a:srgbClr val="93A0B8"/>
                </a:solidFill>
                <a:latin typeface="Consolas" pitchFamily="34" charset="0"/>
                <a:ea typeface="Consolas" pitchFamily="34" charset="-122"/>
                <a:cs typeface="Consolas" pitchFamily="34" charset="-120"/>
              </a:rPr>
              <a:t>≥ 0.70</a:t>
            </a:r>
            <a:endParaRPr lang="en-US" sz="1700" dirty="0"/>
          </a:p>
        </p:txBody>
      </p:sp>
      <p:sp>
        <p:nvSpPr>
          <p:cNvPr id="12" name="Text 10"/>
          <p:cNvSpPr txBox="1"/>
          <p:nvPr/>
        </p:nvSpPr>
        <p:spPr>
          <a:xfrm>
            <a:off x="2011680" y="2295144"/>
            <a:ext cx="914400" cy="182880"/>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OBSERVED</a:t>
            </a:r>
            <a:endParaRPr lang="en-US" sz="750" dirty="0"/>
          </a:p>
        </p:txBody>
      </p:sp>
      <p:sp>
        <p:nvSpPr>
          <p:cNvPr id="13" name="Text 11"/>
          <p:cNvSpPr txBox="1"/>
          <p:nvPr/>
        </p:nvSpPr>
        <p:spPr>
          <a:xfrm>
            <a:off x="2011680" y="2377440"/>
            <a:ext cx="1188720" cy="411480"/>
          </a:xfrm>
          <a:prstGeom prst="rect">
            <a:avLst/>
          </a:prstGeom>
          <a:noFill/>
          <a:ln/>
        </p:spPr>
        <p:txBody>
          <a:bodyPr wrap="square" lIns="0" tIns="0" rIns="0" bIns="0" rtlCol="0" anchor="t"/>
          <a:lstStyle/>
          <a:p>
            <a:pPr algn="l" indent="0" marL="0">
              <a:buNone/>
            </a:pPr>
            <a:r>
              <a:rPr lang="en-US" sz="2600" b="1" dirty="0">
                <a:solidFill>
                  <a:srgbClr val="F0605E"/>
                </a:solidFill>
                <a:latin typeface="Consolas" pitchFamily="34" charset="0"/>
                <a:ea typeface="Consolas" pitchFamily="34" charset="-122"/>
                <a:cs typeface="Consolas" pitchFamily="34" charset="-120"/>
              </a:rPr>
              <a:t>0.16</a:t>
            </a:r>
            <a:endParaRPr lang="en-US" sz="2600" dirty="0"/>
          </a:p>
        </p:txBody>
      </p:sp>
      <p:sp>
        <p:nvSpPr>
          <p:cNvPr id="14" name="Shape 12"/>
          <p:cNvSpPr/>
          <p:nvPr/>
        </p:nvSpPr>
        <p:spPr>
          <a:xfrm>
            <a:off x="3291840" y="2148840"/>
            <a:ext cx="914400" cy="384048"/>
          </a:xfrm>
          <a:prstGeom prst="rect">
            <a:avLst/>
          </a:prstGeom>
          <a:solidFill>
            <a:srgbClr val="1F2C47"/>
          </a:solidFill>
          <a:ln/>
        </p:spPr>
      </p:sp>
      <p:sp>
        <p:nvSpPr>
          <p:cNvPr id="15" name="Shape 13"/>
          <p:cNvSpPr/>
          <p:nvPr/>
        </p:nvSpPr>
        <p:spPr>
          <a:xfrm>
            <a:off x="3291840" y="2148840"/>
            <a:ext cx="146304" cy="384048"/>
          </a:xfrm>
          <a:prstGeom prst="rect">
            <a:avLst/>
          </a:prstGeom>
          <a:solidFill>
            <a:srgbClr val="F0605E"/>
          </a:solidFill>
          <a:ln/>
        </p:spPr>
      </p:sp>
      <p:sp>
        <p:nvSpPr>
          <p:cNvPr id="16" name="Shape 14"/>
          <p:cNvSpPr/>
          <p:nvPr/>
        </p:nvSpPr>
        <p:spPr>
          <a:xfrm>
            <a:off x="3931920" y="2093976"/>
            <a:ext cx="0" cy="493776"/>
          </a:xfrm>
          <a:prstGeom prst="line">
            <a:avLst/>
          </a:prstGeom>
          <a:noFill/>
          <a:ln w="19050">
            <a:solidFill>
              <a:srgbClr val="2DD4BF"/>
            </a:solidFill>
            <a:prstDash val="solid"/>
          </a:ln>
        </p:spPr>
      </p:sp>
      <p:sp>
        <p:nvSpPr>
          <p:cNvPr id="17" name="Text 15"/>
          <p:cNvSpPr txBox="1"/>
          <p:nvPr/>
        </p:nvSpPr>
        <p:spPr>
          <a:xfrm>
            <a:off x="3474720" y="2587752"/>
            <a:ext cx="914400" cy="182880"/>
          </a:xfrm>
          <a:prstGeom prst="rect">
            <a:avLst/>
          </a:prstGeom>
          <a:noFill/>
          <a:ln/>
        </p:spPr>
        <p:txBody>
          <a:bodyPr wrap="square" lIns="0" tIns="0" rIns="0" bIns="0" rtlCol="0" anchor="t"/>
          <a:lstStyle/>
          <a:p>
            <a:pPr algn="ctr" indent="0" marL="0">
              <a:buNone/>
            </a:pPr>
            <a:r>
              <a:rPr lang="en-US" sz="750" dirty="0">
                <a:solidFill>
                  <a:srgbClr val="2DD4BF"/>
                </a:solidFill>
                <a:latin typeface="Consolas" pitchFamily="34" charset="0"/>
                <a:ea typeface="Consolas" pitchFamily="34" charset="-122"/>
                <a:cs typeface="Consolas" pitchFamily="34" charset="-120"/>
              </a:rPr>
              <a:t>target</a:t>
            </a:r>
            <a:endParaRPr lang="en-US" sz="750" dirty="0"/>
          </a:p>
        </p:txBody>
      </p:sp>
      <p:sp>
        <p:nvSpPr>
          <p:cNvPr id="18" name="Shape 16"/>
          <p:cNvSpPr/>
          <p:nvPr/>
        </p:nvSpPr>
        <p:spPr>
          <a:xfrm>
            <a:off x="548640" y="2916936"/>
            <a:ext cx="3840480" cy="932688"/>
          </a:xfrm>
          <a:prstGeom prst="roundRect">
            <a:avLst>
              <a:gd name="adj" fmla="val 7843"/>
            </a:avLst>
          </a:prstGeom>
          <a:solidFill>
            <a:srgbClr val="121B2E"/>
          </a:solidFill>
          <a:ln w="9525">
            <a:solidFill>
              <a:srgbClr val="2A3752"/>
            </a:solidFill>
            <a:prstDash val="solid"/>
          </a:ln>
        </p:spPr>
      </p:sp>
      <p:sp>
        <p:nvSpPr>
          <p:cNvPr id="19" name="Text 17"/>
          <p:cNvSpPr txBox="1"/>
          <p:nvPr/>
        </p:nvSpPr>
        <p:spPr>
          <a:xfrm>
            <a:off x="749808" y="3026664"/>
            <a:ext cx="1463040" cy="274320"/>
          </a:xfrm>
          <a:prstGeom prst="rect">
            <a:avLst/>
          </a:prstGeom>
          <a:noFill/>
          <a:ln/>
        </p:spPr>
        <p:txBody>
          <a:bodyPr wrap="square" lIns="0" tIns="0" rIns="0" bIns="0" rtlCol="0" anchor="t"/>
          <a:lstStyle/>
          <a:p>
            <a:pPr algn="l" indent="0" marL="0">
              <a:buNone/>
            </a:pPr>
            <a:r>
              <a:rPr lang="en-US" sz="1200" b="1" dirty="0">
                <a:solidFill>
                  <a:srgbClr val="E9EEF6"/>
                </a:solidFill>
                <a:latin typeface="Helvetica Neue" pitchFamily="34" charset="0"/>
                <a:ea typeface="Helvetica Neue" pitchFamily="34" charset="-122"/>
                <a:cs typeface="Helvetica Neue" pitchFamily="34" charset="-120"/>
              </a:rPr>
              <a:t>Macro-F1</a:t>
            </a:r>
            <a:endParaRPr lang="en-US" sz="1200" dirty="0"/>
          </a:p>
        </p:txBody>
      </p:sp>
      <p:sp>
        <p:nvSpPr>
          <p:cNvPr id="20" name="Text 18"/>
          <p:cNvSpPr txBox="1"/>
          <p:nvPr/>
        </p:nvSpPr>
        <p:spPr>
          <a:xfrm>
            <a:off x="749808" y="3337560"/>
            <a:ext cx="822960" cy="182880"/>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TARGET</a:t>
            </a:r>
            <a:endParaRPr lang="en-US" sz="750" dirty="0"/>
          </a:p>
        </p:txBody>
      </p:sp>
      <p:sp>
        <p:nvSpPr>
          <p:cNvPr id="21" name="Text 19"/>
          <p:cNvSpPr txBox="1"/>
          <p:nvPr/>
        </p:nvSpPr>
        <p:spPr>
          <a:xfrm>
            <a:off x="749808" y="3465576"/>
            <a:ext cx="1188720" cy="347472"/>
          </a:xfrm>
          <a:prstGeom prst="rect">
            <a:avLst/>
          </a:prstGeom>
          <a:noFill/>
          <a:ln/>
        </p:spPr>
        <p:txBody>
          <a:bodyPr wrap="square" lIns="0" tIns="0" rIns="0" bIns="0" rtlCol="0" anchor="t"/>
          <a:lstStyle/>
          <a:p>
            <a:pPr algn="l" indent="0" marL="0">
              <a:buNone/>
            </a:pPr>
            <a:r>
              <a:rPr lang="en-US" sz="1700" b="1" dirty="0">
                <a:solidFill>
                  <a:srgbClr val="93A0B8"/>
                </a:solidFill>
                <a:latin typeface="Consolas" pitchFamily="34" charset="0"/>
                <a:ea typeface="Consolas" pitchFamily="34" charset="-122"/>
                <a:cs typeface="Consolas" pitchFamily="34" charset="-120"/>
              </a:rPr>
              <a:t>≥ 0.80</a:t>
            </a:r>
            <a:endParaRPr lang="en-US" sz="1700" dirty="0"/>
          </a:p>
        </p:txBody>
      </p:sp>
      <p:sp>
        <p:nvSpPr>
          <p:cNvPr id="22" name="Text 20"/>
          <p:cNvSpPr txBox="1"/>
          <p:nvPr/>
        </p:nvSpPr>
        <p:spPr>
          <a:xfrm>
            <a:off x="2011680" y="3337560"/>
            <a:ext cx="914400" cy="182880"/>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OBSERVED</a:t>
            </a:r>
            <a:endParaRPr lang="en-US" sz="750" dirty="0"/>
          </a:p>
        </p:txBody>
      </p:sp>
      <p:sp>
        <p:nvSpPr>
          <p:cNvPr id="23" name="Text 21"/>
          <p:cNvSpPr txBox="1"/>
          <p:nvPr/>
        </p:nvSpPr>
        <p:spPr>
          <a:xfrm>
            <a:off x="2011680" y="3419856"/>
            <a:ext cx="1188720" cy="411480"/>
          </a:xfrm>
          <a:prstGeom prst="rect">
            <a:avLst/>
          </a:prstGeom>
          <a:noFill/>
          <a:ln/>
        </p:spPr>
        <p:txBody>
          <a:bodyPr wrap="square" lIns="0" tIns="0" rIns="0" bIns="0" rtlCol="0" anchor="t"/>
          <a:lstStyle/>
          <a:p>
            <a:pPr algn="l" indent="0" marL="0">
              <a:buNone/>
            </a:pPr>
            <a:r>
              <a:rPr lang="en-US" sz="2600" b="1" dirty="0">
                <a:solidFill>
                  <a:srgbClr val="F0605E"/>
                </a:solidFill>
                <a:latin typeface="Consolas" pitchFamily="34" charset="0"/>
                <a:ea typeface="Consolas" pitchFamily="34" charset="-122"/>
                <a:cs typeface="Consolas" pitchFamily="34" charset="-120"/>
              </a:rPr>
              <a:t>0.19</a:t>
            </a:r>
            <a:endParaRPr lang="en-US" sz="2600" dirty="0"/>
          </a:p>
        </p:txBody>
      </p:sp>
      <p:sp>
        <p:nvSpPr>
          <p:cNvPr id="24" name="Shape 22"/>
          <p:cNvSpPr/>
          <p:nvPr/>
        </p:nvSpPr>
        <p:spPr>
          <a:xfrm>
            <a:off x="3291840" y="3191256"/>
            <a:ext cx="914400" cy="384048"/>
          </a:xfrm>
          <a:prstGeom prst="rect">
            <a:avLst/>
          </a:prstGeom>
          <a:solidFill>
            <a:srgbClr val="1F2C47"/>
          </a:solidFill>
          <a:ln/>
        </p:spPr>
      </p:sp>
      <p:sp>
        <p:nvSpPr>
          <p:cNvPr id="25" name="Shape 23"/>
          <p:cNvSpPr/>
          <p:nvPr/>
        </p:nvSpPr>
        <p:spPr>
          <a:xfrm>
            <a:off x="3291840" y="3191256"/>
            <a:ext cx="173736" cy="384048"/>
          </a:xfrm>
          <a:prstGeom prst="rect">
            <a:avLst/>
          </a:prstGeom>
          <a:solidFill>
            <a:srgbClr val="F0605E"/>
          </a:solidFill>
          <a:ln/>
        </p:spPr>
      </p:sp>
      <p:sp>
        <p:nvSpPr>
          <p:cNvPr id="26" name="Shape 24"/>
          <p:cNvSpPr/>
          <p:nvPr/>
        </p:nvSpPr>
        <p:spPr>
          <a:xfrm>
            <a:off x="4023360" y="3136392"/>
            <a:ext cx="0" cy="493776"/>
          </a:xfrm>
          <a:prstGeom prst="line">
            <a:avLst/>
          </a:prstGeom>
          <a:noFill/>
          <a:ln w="19050">
            <a:solidFill>
              <a:srgbClr val="2DD4BF"/>
            </a:solidFill>
            <a:prstDash val="solid"/>
          </a:ln>
        </p:spPr>
      </p:sp>
      <p:sp>
        <p:nvSpPr>
          <p:cNvPr id="27" name="Text 25"/>
          <p:cNvSpPr txBox="1"/>
          <p:nvPr/>
        </p:nvSpPr>
        <p:spPr>
          <a:xfrm>
            <a:off x="3566160" y="3630168"/>
            <a:ext cx="914400" cy="182880"/>
          </a:xfrm>
          <a:prstGeom prst="rect">
            <a:avLst/>
          </a:prstGeom>
          <a:noFill/>
          <a:ln/>
        </p:spPr>
        <p:txBody>
          <a:bodyPr wrap="square" lIns="0" tIns="0" rIns="0" bIns="0" rtlCol="0" anchor="t"/>
          <a:lstStyle/>
          <a:p>
            <a:pPr algn="ctr" indent="0" marL="0">
              <a:buNone/>
            </a:pPr>
            <a:r>
              <a:rPr lang="en-US" sz="750" dirty="0">
                <a:solidFill>
                  <a:srgbClr val="2DD4BF"/>
                </a:solidFill>
                <a:latin typeface="Consolas" pitchFamily="34" charset="0"/>
                <a:ea typeface="Consolas" pitchFamily="34" charset="-122"/>
                <a:cs typeface="Consolas" pitchFamily="34" charset="-120"/>
              </a:rPr>
              <a:t>target</a:t>
            </a:r>
            <a:endParaRPr lang="en-US" sz="750" dirty="0"/>
          </a:p>
        </p:txBody>
      </p:sp>
      <p:sp>
        <p:nvSpPr>
          <p:cNvPr id="28" name="Shape 26"/>
          <p:cNvSpPr/>
          <p:nvPr/>
        </p:nvSpPr>
        <p:spPr>
          <a:xfrm>
            <a:off x="548640" y="3959352"/>
            <a:ext cx="3840480" cy="932688"/>
          </a:xfrm>
          <a:prstGeom prst="roundRect">
            <a:avLst>
              <a:gd name="adj" fmla="val 7843"/>
            </a:avLst>
          </a:prstGeom>
          <a:solidFill>
            <a:srgbClr val="121B2E"/>
          </a:solidFill>
          <a:ln w="9525">
            <a:solidFill>
              <a:srgbClr val="2A3752"/>
            </a:solidFill>
            <a:prstDash val="solid"/>
          </a:ln>
        </p:spPr>
      </p:sp>
      <p:sp>
        <p:nvSpPr>
          <p:cNvPr id="29" name="Text 27"/>
          <p:cNvSpPr txBox="1"/>
          <p:nvPr/>
        </p:nvSpPr>
        <p:spPr>
          <a:xfrm>
            <a:off x="749808" y="4069080"/>
            <a:ext cx="1463040" cy="274320"/>
          </a:xfrm>
          <a:prstGeom prst="rect">
            <a:avLst/>
          </a:prstGeom>
          <a:noFill/>
          <a:ln/>
        </p:spPr>
        <p:txBody>
          <a:bodyPr wrap="square" lIns="0" tIns="0" rIns="0" bIns="0" rtlCol="0" anchor="t"/>
          <a:lstStyle/>
          <a:p>
            <a:pPr algn="l" indent="0" marL="0">
              <a:buNone/>
            </a:pPr>
            <a:r>
              <a:rPr lang="en-US" sz="1200" b="1" dirty="0">
                <a:solidFill>
                  <a:srgbClr val="E9EEF6"/>
                </a:solidFill>
                <a:latin typeface="Helvetica Neue" pitchFamily="34" charset="0"/>
                <a:ea typeface="Helvetica Neue" pitchFamily="34" charset="-122"/>
                <a:cs typeface="Helvetica Neue" pitchFamily="34" charset="-120"/>
              </a:rPr>
              <a:t>Accuracy</a:t>
            </a:r>
            <a:endParaRPr lang="en-US" sz="1200" dirty="0"/>
          </a:p>
        </p:txBody>
      </p:sp>
      <p:sp>
        <p:nvSpPr>
          <p:cNvPr id="30" name="Text 28"/>
          <p:cNvSpPr txBox="1"/>
          <p:nvPr/>
        </p:nvSpPr>
        <p:spPr>
          <a:xfrm>
            <a:off x="749808" y="4379976"/>
            <a:ext cx="822960" cy="182880"/>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TARGET</a:t>
            </a:r>
            <a:endParaRPr lang="en-US" sz="750" dirty="0"/>
          </a:p>
        </p:txBody>
      </p:sp>
      <p:sp>
        <p:nvSpPr>
          <p:cNvPr id="31" name="Text 29"/>
          <p:cNvSpPr txBox="1"/>
          <p:nvPr/>
        </p:nvSpPr>
        <p:spPr>
          <a:xfrm>
            <a:off x="749808" y="4507992"/>
            <a:ext cx="1188720" cy="347472"/>
          </a:xfrm>
          <a:prstGeom prst="rect">
            <a:avLst/>
          </a:prstGeom>
          <a:noFill/>
          <a:ln/>
        </p:spPr>
        <p:txBody>
          <a:bodyPr wrap="square" lIns="0" tIns="0" rIns="0" bIns="0" rtlCol="0" anchor="t"/>
          <a:lstStyle/>
          <a:p>
            <a:pPr algn="l" indent="0" marL="0">
              <a:buNone/>
            </a:pPr>
            <a:r>
              <a:rPr lang="en-US" sz="1700" b="1" dirty="0">
                <a:solidFill>
                  <a:srgbClr val="93A0B8"/>
                </a:solidFill>
                <a:latin typeface="Consolas" pitchFamily="34" charset="0"/>
                <a:ea typeface="Consolas" pitchFamily="34" charset="-122"/>
                <a:cs typeface="Consolas" pitchFamily="34" charset="-120"/>
              </a:rPr>
              <a:t>—</a:t>
            </a:r>
            <a:endParaRPr lang="en-US" sz="1700" dirty="0"/>
          </a:p>
        </p:txBody>
      </p:sp>
      <p:sp>
        <p:nvSpPr>
          <p:cNvPr id="32" name="Text 30"/>
          <p:cNvSpPr txBox="1"/>
          <p:nvPr/>
        </p:nvSpPr>
        <p:spPr>
          <a:xfrm>
            <a:off x="2011680" y="4379976"/>
            <a:ext cx="914400" cy="182880"/>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OBSERVED</a:t>
            </a:r>
            <a:endParaRPr lang="en-US" sz="750" dirty="0"/>
          </a:p>
        </p:txBody>
      </p:sp>
      <p:sp>
        <p:nvSpPr>
          <p:cNvPr id="33" name="Text 31"/>
          <p:cNvSpPr txBox="1"/>
          <p:nvPr/>
        </p:nvSpPr>
        <p:spPr>
          <a:xfrm>
            <a:off x="2011680" y="4462272"/>
            <a:ext cx="1188720" cy="411480"/>
          </a:xfrm>
          <a:prstGeom prst="rect">
            <a:avLst/>
          </a:prstGeom>
          <a:noFill/>
          <a:ln/>
        </p:spPr>
        <p:txBody>
          <a:bodyPr wrap="square" lIns="0" tIns="0" rIns="0" bIns="0" rtlCol="0" anchor="t"/>
          <a:lstStyle/>
          <a:p>
            <a:pPr algn="l" indent="0" marL="0">
              <a:buNone/>
            </a:pPr>
            <a:r>
              <a:rPr lang="en-US" sz="2600" b="1" dirty="0">
                <a:solidFill>
                  <a:srgbClr val="E9EEF6"/>
                </a:solidFill>
                <a:latin typeface="Consolas" pitchFamily="34" charset="0"/>
                <a:ea typeface="Consolas" pitchFamily="34" charset="-122"/>
                <a:cs typeface="Consolas" pitchFamily="34" charset="-120"/>
              </a:rPr>
              <a:t>0.30</a:t>
            </a:r>
            <a:endParaRPr lang="en-US" sz="2600" dirty="0"/>
          </a:p>
        </p:txBody>
      </p:sp>
      <p:sp>
        <p:nvSpPr>
          <p:cNvPr id="34" name="Text 32"/>
          <p:cNvSpPr txBox="1"/>
          <p:nvPr/>
        </p:nvSpPr>
        <p:spPr>
          <a:xfrm>
            <a:off x="4709160" y="1874520"/>
            <a:ext cx="6933895" cy="201168"/>
          </a:xfrm>
          <a:prstGeom prst="rect">
            <a:avLst/>
          </a:prstGeom>
          <a:noFill/>
          <a:ln/>
        </p:spPr>
        <p:txBody>
          <a:bodyPr wrap="square" lIns="0" tIns="0" rIns="0" bIns="0" rtlCol="0" anchor="t"/>
          <a:lstStyle/>
          <a:p>
            <a:pPr algn="l" indent="0" marL="0">
              <a:buNone/>
            </a:pPr>
            <a:r>
              <a:rPr lang="en-US" sz="900" spc="100" kern="0" dirty="0">
                <a:solidFill>
                  <a:srgbClr val="2DD4BF"/>
                </a:solidFill>
                <a:latin typeface="Consolas" pitchFamily="34" charset="0"/>
                <a:ea typeface="Consolas" pitchFamily="34" charset="-122"/>
                <a:cs typeface="Consolas" pitchFamily="34" charset="-120"/>
              </a:rPr>
              <a:t>PER-CLASS PERFORMANCE  (n = human support)</a:t>
            </a:r>
            <a:endParaRPr lang="en-US" sz="900" dirty="0"/>
          </a:p>
        </p:txBody>
      </p:sp>
      <p:sp>
        <p:nvSpPr>
          <p:cNvPr id="35" name="Text 33"/>
          <p:cNvSpPr txBox="1"/>
          <p:nvPr/>
        </p:nvSpPr>
        <p:spPr>
          <a:xfrm>
            <a:off x="6492240" y="2130552"/>
            <a:ext cx="1488338" cy="219456"/>
          </a:xfrm>
          <a:prstGeom prst="rect">
            <a:avLst/>
          </a:prstGeom>
          <a:noFill/>
          <a:ln/>
        </p:spPr>
        <p:txBody>
          <a:bodyPr wrap="square" lIns="0" tIns="0" rIns="0" bIns="0" rtlCol="0" anchor="t"/>
          <a:lstStyle/>
          <a:p>
            <a:pPr algn="ctr" indent="0" marL="0">
              <a:buNone/>
            </a:pPr>
            <a:r>
              <a:rPr lang="en-US" sz="850" dirty="0">
                <a:solidFill>
                  <a:srgbClr val="93A0B8"/>
                </a:solidFill>
                <a:latin typeface="Consolas" pitchFamily="34" charset="0"/>
                <a:ea typeface="Consolas" pitchFamily="34" charset="-122"/>
                <a:cs typeface="Consolas" pitchFamily="34" charset="-120"/>
              </a:rPr>
              <a:t>Precision</a:t>
            </a:r>
            <a:endParaRPr lang="en-US" sz="850" dirty="0"/>
          </a:p>
        </p:txBody>
      </p:sp>
      <p:sp>
        <p:nvSpPr>
          <p:cNvPr id="36" name="Text 34"/>
          <p:cNvSpPr txBox="1"/>
          <p:nvPr/>
        </p:nvSpPr>
        <p:spPr>
          <a:xfrm>
            <a:off x="8090306" y="2130552"/>
            <a:ext cx="1488338" cy="219456"/>
          </a:xfrm>
          <a:prstGeom prst="rect">
            <a:avLst/>
          </a:prstGeom>
          <a:noFill/>
          <a:ln/>
        </p:spPr>
        <p:txBody>
          <a:bodyPr wrap="square" lIns="0" tIns="0" rIns="0" bIns="0" rtlCol="0" anchor="t"/>
          <a:lstStyle/>
          <a:p>
            <a:pPr algn="ctr" indent="0" marL="0">
              <a:buNone/>
            </a:pPr>
            <a:r>
              <a:rPr lang="en-US" sz="850" dirty="0">
                <a:solidFill>
                  <a:srgbClr val="93A0B8"/>
                </a:solidFill>
                <a:latin typeface="Consolas" pitchFamily="34" charset="0"/>
                <a:ea typeface="Consolas" pitchFamily="34" charset="-122"/>
                <a:cs typeface="Consolas" pitchFamily="34" charset="-120"/>
              </a:rPr>
              <a:t>Recall</a:t>
            </a:r>
            <a:endParaRPr lang="en-US" sz="850" dirty="0"/>
          </a:p>
        </p:txBody>
      </p:sp>
      <p:sp>
        <p:nvSpPr>
          <p:cNvPr id="37" name="Text 35"/>
          <p:cNvSpPr txBox="1"/>
          <p:nvPr/>
        </p:nvSpPr>
        <p:spPr>
          <a:xfrm>
            <a:off x="9688373" y="2130552"/>
            <a:ext cx="1488338" cy="219456"/>
          </a:xfrm>
          <a:prstGeom prst="rect">
            <a:avLst/>
          </a:prstGeom>
          <a:noFill/>
          <a:ln/>
        </p:spPr>
        <p:txBody>
          <a:bodyPr wrap="square" lIns="0" tIns="0" rIns="0" bIns="0" rtlCol="0" anchor="t"/>
          <a:lstStyle/>
          <a:p>
            <a:pPr algn="ctr" indent="0" marL="0">
              <a:buNone/>
            </a:pPr>
            <a:r>
              <a:rPr lang="en-US" sz="850" dirty="0">
                <a:solidFill>
                  <a:srgbClr val="93A0B8"/>
                </a:solidFill>
                <a:latin typeface="Consolas" pitchFamily="34" charset="0"/>
                <a:ea typeface="Consolas" pitchFamily="34" charset="-122"/>
                <a:cs typeface="Consolas" pitchFamily="34" charset="-120"/>
              </a:rPr>
              <a:t>F1</a:t>
            </a:r>
            <a:endParaRPr lang="en-US" sz="850" dirty="0"/>
          </a:p>
        </p:txBody>
      </p:sp>
      <p:sp>
        <p:nvSpPr>
          <p:cNvPr id="38" name="Text 36"/>
          <p:cNvSpPr txBox="1"/>
          <p:nvPr/>
        </p:nvSpPr>
        <p:spPr>
          <a:xfrm>
            <a:off x="4709160" y="2404872"/>
            <a:ext cx="1691640" cy="384048"/>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V1  Fabricated</a:t>
            </a:r>
            <a:endParaRPr lang="en-US" sz="1050" dirty="0"/>
          </a:p>
          <a:p>
            <a:pPr algn="l" indent="0" marL="0">
              <a:buNone/>
            </a:pPr>
            <a:r>
              <a:rPr lang="en-US" sz="850" dirty="0">
                <a:solidFill>
                  <a:srgbClr val="5C6A85"/>
                </a:solidFill>
                <a:latin typeface="Consolas" pitchFamily="34" charset="0"/>
                <a:ea typeface="Consolas" pitchFamily="34" charset="-122"/>
                <a:cs typeface="Consolas" pitchFamily="34" charset="-120"/>
              </a:rPr>
              <a:t>n = 98</a:t>
            </a:r>
            <a:endParaRPr lang="en-US" sz="1050" dirty="0"/>
          </a:p>
        </p:txBody>
      </p:sp>
      <p:sp>
        <p:nvSpPr>
          <p:cNvPr id="39" name="Shape 37"/>
          <p:cNvSpPr/>
          <p:nvPr/>
        </p:nvSpPr>
        <p:spPr>
          <a:xfrm>
            <a:off x="6492240" y="2459736"/>
            <a:ext cx="1488338" cy="274320"/>
          </a:xfrm>
          <a:prstGeom prst="rect">
            <a:avLst/>
          </a:prstGeom>
          <a:solidFill>
            <a:srgbClr val="18233A"/>
          </a:solidFill>
          <a:ln/>
        </p:spPr>
      </p:sp>
      <p:sp>
        <p:nvSpPr>
          <p:cNvPr id="40" name="Shape 38"/>
          <p:cNvSpPr/>
          <p:nvPr/>
        </p:nvSpPr>
        <p:spPr>
          <a:xfrm>
            <a:off x="6492240" y="2459736"/>
            <a:ext cx="1339505" cy="274320"/>
          </a:xfrm>
          <a:prstGeom prst="rect">
            <a:avLst/>
          </a:prstGeom>
          <a:solidFill>
            <a:srgbClr val="2DD4BF"/>
          </a:solidFill>
          <a:ln/>
        </p:spPr>
      </p:sp>
      <p:sp>
        <p:nvSpPr>
          <p:cNvPr id="41" name="Text 39"/>
          <p:cNvSpPr txBox="1"/>
          <p:nvPr/>
        </p:nvSpPr>
        <p:spPr>
          <a:xfrm>
            <a:off x="6492240" y="2459736"/>
            <a:ext cx="1488338" cy="274320"/>
          </a:xfrm>
          <a:prstGeom prst="rect">
            <a:avLst/>
          </a:prstGeom>
          <a:noFill/>
          <a:ln/>
        </p:spPr>
        <p:txBody>
          <a:bodyPr wrap="square" lIns="0" tIns="0" rIns="50800" bIns="0" rtlCol="0" anchor="ctr"/>
          <a:lstStyle/>
          <a:p>
            <a:pPr algn="r" indent="0" marL="0">
              <a:buNone/>
            </a:pPr>
            <a:r>
              <a:rPr lang="en-US" sz="950" b="1" dirty="0">
                <a:solidFill>
                  <a:srgbClr val="E9EEF6"/>
                </a:solidFill>
                <a:latin typeface="Consolas" pitchFamily="34" charset="0"/>
                <a:ea typeface="Consolas" pitchFamily="34" charset="-122"/>
                <a:cs typeface="Consolas" pitchFamily="34" charset="-120"/>
              </a:rPr>
              <a:t>0.90</a:t>
            </a:r>
            <a:endParaRPr lang="en-US" sz="950" dirty="0"/>
          </a:p>
        </p:txBody>
      </p:sp>
      <p:sp>
        <p:nvSpPr>
          <p:cNvPr id="42" name="Shape 40"/>
          <p:cNvSpPr/>
          <p:nvPr/>
        </p:nvSpPr>
        <p:spPr>
          <a:xfrm>
            <a:off x="8090306" y="2459736"/>
            <a:ext cx="1488338" cy="274320"/>
          </a:xfrm>
          <a:prstGeom prst="rect">
            <a:avLst/>
          </a:prstGeom>
          <a:solidFill>
            <a:srgbClr val="18233A"/>
          </a:solidFill>
          <a:ln/>
        </p:spPr>
      </p:sp>
      <p:sp>
        <p:nvSpPr>
          <p:cNvPr id="43" name="Shape 41"/>
          <p:cNvSpPr/>
          <p:nvPr/>
        </p:nvSpPr>
        <p:spPr>
          <a:xfrm>
            <a:off x="8090306" y="2459736"/>
            <a:ext cx="133950" cy="274320"/>
          </a:xfrm>
          <a:prstGeom prst="rect">
            <a:avLst/>
          </a:prstGeom>
          <a:solidFill>
            <a:srgbClr val="F0605E"/>
          </a:solidFill>
          <a:ln/>
        </p:spPr>
      </p:sp>
      <p:sp>
        <p:nvSpPr>
          <p:cNvPr id="44" name="Text 42"/>
          <p:cNvSpPr txBox="1"/>
          <p:nvPr/>
        </p:nvSpPr>
        <p:spPr>
          <a:xfrm>
            <a:off x="8090306" y="2459736"/>
            <a:ext cx="1488338" cy="274320"/>
          </a:xfrm>
          <a:prstGeom prst="rect">
            <a:avLst/>
          </a:prstGeom>
          <a:noFill/>
          <a:ln/>
        </p:spPr>
        <p:txBody>
          <a:bodyPr wrap="square" lIns="0" tIns="0" rIns="50800" bIns="0" rtlCol="0" anchor="ctr"/>
          <a:lstStyle/>
          <a:p>
            <a:pPr algn="r" indent="0" marL="0">
              <a:buNone/>
            </a:pPr>
            <a:r>
              <a:rPr lang="en-US" sz="950" b="1" dirty="0">
                <a:solidFill>
                  <a:srgbClr val="E9EEF6"/>
                </a:solidFill>
                <a:latin typeface="Consolas" pitchFamily="34" charset="0"/>
                <a:ea typeface="Consolas" pitchFamily="34" charset="-122"/>
                <a:cs typeface="Consolas" pitchFamily="34" charset="-120"/>
              </a:rPr>
              <a:t>0.09</a:t>
            </a:r>
            <a:endParaRPr lang="en-US" sz="950" dirty="0"/>
          </a:p>
        </p:txBody>
      </p:sp>
      <p:sp>
        <p:nvSpPr>
          <p:cNvPr id="45" name="Shape 43"/>
          <p:cNvSpPr/>
          <p:nvPr/>
        </p:nvSpPr>
        <p:spPr>
          <a:xfrm>
            <a:off x="9688373" y="2459736"/>
            <a:ext cx="1488338" cy="274320"/>
          </a:xfrm>
          <a:prstGeom prst="rect">
            <a:avLst/>
          </a:prstGeom>
          <a:solidFill>
            <a:srgbClr val="18233A"/>
          </a:solidFill>
          <a:ln/>
        </p:spPr>
      </p:sp>
      <p:sp>
        <p:nvSpPr>
          <p:cNvPr id="46" name="Shape 44"/>
          <p:cNvSpPr/>
          <p:nvPr/>
        </p:nvSpPr>
        <p:spPr>
          <a:xfrm>
            <a:off x="9688373" y="2459736"/>
            <a:ext cx="253018" cy="274320"/>
          </a:xfrm>
          <a:prstGeom prst="rect">
            <a:avLst/>
          </a:prstGeom>
          <a:solidFill>
            <a:srgbClr val="F0605E"/>
          </a:solidFill>
          <a:ln/>
        </p:spPr>
      </p:sp>
      <p:sp>
        <p:nvSpPr>
          <p:cNvPr id="47" name="Text 45"/>
          <p:cNvSpPr txBox="1"/>
          <p:nvPr/>
        </p:nvSpPr>
        <p:spPr>
          <a:xfrm>
            <a:off x="9688373" y="2459736"/>
            <a:ext cx="1488338" cy="274320"/>
          </a:xfrm>
          <a:prstGeom prst="rect">
            <a:avLst/>
          </a:prstGeom>
          <a:noFill/>
          <a:ln/>
        </p:spPr>
        <p:txBody>
          <a:bodyPr wrap="square" lIns="0" tIns="0" rIns="50800" bIns="0" rtlCol="0" anchor="ctr"/>
          <a:lstStyle/>
          <a:p>
            <a:pPr algn="r" indent="0" marL="0">
              <a:buNone/>
            </a:pPr>
            <a:r>
              <a:rPr lang="en-US" sz="950" b="1" dirty="0">
                <a:solidFill>
                  <a:srgbClr val="E9EEF6"/>
                </a:solidFill>
                <a:latin typeface="Consolas" pitchFamily="34" charset="0"/>
                <a:ea typeface="Consolas" pitchFamily="34" charset="-122"/>
                <a:cs typeface="Consolas" pitchFamily="34" charset="-120"/>
              </a:rPr>
              <a:t>0.17</a:t>
            </a:r>
            <a:endParaRPr lang="en-US" sz="950" dirty="0"/>
          </a:p>
        </p:txBody>
      </p:sp>
      <p:sp>
        <p:nvSpPr>
          <p:cNvPr id="48" name="Text 46"/>
          <p:cNvSpPr txBox="1"/>
          <p:nvPr/>
        </p:nvSpPr>
        <p:spPr>
          <a:xfrm>
            <a:off x="4709160" y="2862072"/>
            <a:ext cx="1691640" cy="384048"/>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V4  Under-specified</a:t>
            </a:r>
            <a:endParaRPr lang="en-US" sz="1050" dirty="0"/>
          </a:p>
          <a:p>
            <a:pPr algn="l" indent="0" marL="0">
              <a:buNone/>
            </a:pPr>
            <a:r>
              <a:rPr lang="en-US" sz="850" dirty="0">
                <a:solidFill>
                  <a:srgbClr val="5C6A85"/>
                </a:solidFill>
                <a:latin typeface="Consolas" pitchFamily="34" charset="0"/>
                <a:ea typeface="Consolas" pitchFamily="34" charset="-122"/>
                <a:cs typeface="Consolas" pitchFamily="34" charset="-120"/>
              </a:rPr>
              <a:t>n = 25</a:t>
            </a:r>
            <a:endParaRPr lang="en-US" sz="1050" dirty="0"/>
          </a:p>
        </p:txBody>
      </p:sp>
      <p:sp>
        <p:nvSpPr>
          <p:cNvPr id="49" name="Shape 47"/>
          <p:cNvSpPr/>
          <p:nvPr/>
        </p:nvSpPr>
        <p:spPr>
          <a:xfrm>
            <a:off x="6492240" y="2916936"/>
            <a:ext cx="1488338" cy="274320"/>
          </a:xfrm>
          <a:prstGeom prst="rect">
            <a:avLst/>
          </a:prstGeom>
          <a:solidFill>
            <a:srgbClr val="18233A"/>
          </a:solidFill>
          <a:ln/>
        </p:spPr>
      </p:sp>
      <p:sp>
        <p:nvSpPr>
          <p:cNvPr id="50" name="Shape 48"/>
          <p:cNvSpPr/>
          <p:nvPr/>
        </p:nvSpPr>
        <p:spPr>
          <a:xfrm>
            <a:off x="6492240" y="2916936"/>
            <a:ext cx="714402" cy="274320"/>
          </a:xfrm>
          <a:prstGeom prst="rect">
            <a:avLst/>
          </a:prstGeom>
          <a:solidFill>
            <a:srgbClr val="F5A524"/>
          </a:solidFill>
          <a:ln/>
        </p:spPr>
      </p:sp>
      <p:sp>
        <p:nvSpPr>
          <p:cNvPr id="51" name="Text 49"/>
          <p:cNvSpPr txBox="1"/>
          <p:nvPr/>
        </p:nvSpPr>
        <p:spPr>
          <a:xfrm>
            <a:off x="6492240" y="2916936"/>
            <a:ext cx="1488338" cy="274320"/>
          </a:xfrm>
          <a:prstGeom prst="rect">
            <a:avLst/>
          </a:prstGeom>
          <a:noFill/>
          <a:ln/>
        </p:spPr>
        <p:txBody>
          <a:bodyPr wrap="square" lIns="0" tIns="0" rIns="50800" bIns="0" rtlCol="0" anchor="ctr"/>
          <a:lstStyle/>
          <a:p>
            <a:pPr algn="r" indent="0" marL="0">
              <a:buNone/>
            </a:pPr>
            <a:r>
              <a:rPr lang="en-US" sz="950" b="1" dirty="0">
                <a:solidFill>
                  <a:srgbClr val="E9EEF6"/>
                </a:solidFill>
                <a:latin typeface="Consolas" pitchFamily="34" charset="0"/>
                <a:ea typeface="Consolas" pitchFamily="34" charset="-122"/>
                <a:cs typeface="Consolas" pitchFamily="34" charset="-120"/>
              </a:rPr>
              <a:t>0.48</a:t>
            </a:r>
            <a:endParaRPr lang="en-US" sz="950" dirty="0"/>
          </a:p>
        </p:txBody>
      </p:sp>
      <p:sp>
        <p:nvSpPr>
          <p:cNvPr id="52" name="Shape 50"/>
          <p:cNvSpPr/>
          <p:nvPr/>
        </p:nvSpPr>
        <p:spPr>
          <a:xfrm>
            <a:off x="8090306" y="2916936"/>
            <a:ext cx="1488338" cy="274320"/>
          </a:xfrm>
          <a:prstGeom prst="rect">
            <a:avLst/>
          </a:prstGeom>
          <a:solidFill>
            <a:srgbClr val="18233A"/>
          </a:solidFill>
          <a:ln/>
        </p:spPr>
      </p:sp>
      <p:sp>
        <p:nvSpPr>
          <p:cNvPr id="53" name="Shape 51"/>
          <p:cNvSpPr/>
          <p:nvPr/>
        </p:nvSpPr>
        <p:spPr>
          <a:xfrm>
            <a:off x="8090306" y="2916936"/>
            <a:ext cx="1369271" cy="274320"/>
          </a:xfrm>
          <a:prstGeom prst="rect">
            <a:avLst/>
          </a:prstGeom>
          <a:solidFill>
            <a:srgbClr val="2DD4BF"/>
          </a:solidFill>
          <a:ln/>
        </p:spPr>
      </p:sp>
      <p:sp>
        <p:nvSpPr>
          <p:cNvPr id="54" name="Text 52"/>
          <p:cNvSpPr txBox="1"/>
          <p:nvPr/>
        </p:nvSpPr>
        <p:spPr>
          <a:xfrm>
            <a:off x="8090306" y="2916936"/>
            <a:ext cx="1488338" cy="274320"/>
          </a:xfrm>
          <a:prstGeom prst="rect">
            <a:avLst/>
          </a:prstGeom>
          <a:noFill/>
          <a:ln/>
        </p:spPr>
        <p:txBody>
          <a:bodyPr wrap="square" lIns="0" tIns="0" rIns="50800" bIns="0" rtlCol="0" anchor="ctr"/>
          <a:lstStyle/>
          <a:p>
            <a:pPr algn="r" indent="0" marL="0">
              <a:buNone/>
            </a:pPr>
            <a:r>
              <a:rPr lang="en-US" sz="950" b="1" dirty="0">
                <a:solidFill>
                  <a:srgbClr val="E9EEF6"/>
                </a:solidFill>
                <a:latin typeface="Consolas" pitchFamily="34" charset="0"/>
                <a:ea typeface="Consolas" pitchFamily="34" charset="-122"/>
                <a:cs typeface="Consolas" pitchFamily="34" charset="-120"/>
              </a:rPr>
              <a:t>0.92</a:t>
            </a:r>
            <a:endParaRPr lang="en-US" sz="950" dirty="0"/>
          </a:p>
        </p:txBody>
      </p:sp>
      <p:sp>
        <p:nvSpPr>
          <p:cNvPr id="55" name="Shape 53"/>
          <p:cNvSpPr/>
          <p:nvPr/>
        </p:nvSpPr>
        <p:spPr>
          <a:xfrm>
            <a:off x="9688373" y="2916936"/>
            <a:ext cx="1488338" cy="274320"/>
          </a:xfrm>
          <a:prstGeom prst="rect">
            <a:avLst/>
          </a:prstGeom>
          <a:solidFill>
            <a:srgbClr val="18233A"/>
          </a:solidFill>
          <a:ln/>
        </p:spPr>
      </p:sp>
      <p:sp>
        <p:nvSpPr>
          <p:cNvPr id="56" name="Shape 54"/>
          <p:cNvSpPr/>
          <p:nvPr/>
        </p:nvSpPr>
        <p:spPr>
          <a:xfrm>
            <a:off x="9688373" y="2916936"/>
            <a:ext cx="937653" cy="274320"/>
          </a:xfrm>
          <a:prstGeom prst="rect">
            <a:avLst/>
          </a:prstGeom>
          <a:solidFill>
            <a:srgbClr val="F5A524"/>
          </a:solidFill>
          <a:ln/>
        </p:spPr>
      </p:sp>
      <p:sp>
        <p:nvSpPr>
          <p:cNvPr id="57" name="Text 55"/>
          <p:cNvSpPr txBox="1"/>
          <p:nvPr/>
        </p:nvSpPr>
        <p:spPr>
          <a:xfrm>
            <a:off x="9688373" y="2916936"/>
            <a:ext cx="1488338" cy="274320"/>
          </a:xfrm>
          <a:prstGeom prst="rect">
            <a:avLst/>
          </a:prstGeom>
          <a:noFill/>
          <a:ln/>
        </p:spPr>
        <p:txBody>
          <a:bodyPr wrap="square" lIns="0" tIns="0" rIns="50800" bIns="0" rtlCol="0" anchor="ctr"/>
          <a:lstStyle/>
          <a:p>
            <a:pPr algn="r" indent="0" marL="0">
              <a:buNone/>
            </a:pPr>
            <a:r>
              <a:rPr lang="en-US" sz="950" b="1" dirty="0">
                <a:solidFill>
                  <a:srgbClr val="E9EEF6"/>
                </a:solidFill>
                <a:latin typeface="Consolas" pitchFamily="34" charset="0"/>
                <a:ea typeface="Consolas" pitchFamily="34" charset="-122"/>
                <a:cs typeface="Consolas" pitchFamily="34" charset="-120"/>
              </a:rPr>
              <a:t>0.63</a:t>
            </a:r>
            <a:endParaRPr lang="en-US" sz="950" dirty="0"/>
          </a:p>
        </p:txBody>
      </p:sp>
      <p:sp>
        <p:nvSpPr>
          <p:cNvPr id="58" name="Text 56"/>
          <p:cNvSpPr txBox="1"/>
          <p:nvPr/>
        </p:nvSpPr>
        <p:spPr>
          <a:xfrm>
            <a:off x="4709160" y="3319272"/>
            <a:ext cx="1691640" cy="384048"/>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NONE</a:t>
            </a:r>
            <a:endParaRPr lang="en-US" sz="1050" dirty="0"/>
          </a:p>
          <a:p>
            <a:pPr algn="l" indent="0" marL="0">
              <a:buNone/>
            </a:pPr>
            <a:r>
              <a:rPr lang="en-US" sz="850" dirty="0">
                <a:solidFill>
                  <a:srgbClr val="5C6A85"/>
                </a:solidFill>
                <a:latin typeface="Consolas" pitchFamily="34" charset="0"/>
                <a:ea typeface="Consolas" pitchFamily="34" charset="-122"/>
                <a:cs typeface="Consolas" pitchFamily="34" charset="-120"/>
              </a:rPr>
              <a:t>n = 49</a:t>
            </a:r>
            <a:endParaRPr lang="en-US" sz="1050" dirty="0"/>
          </a:p>
        </p:txBody>
      </p:sp>
      <p:sp>
        <p:nvSpPr>
          <p:cNvPr id="59" name="Shape 57"/>
          <p:cNvSpPr/>
          <p:nvPr/>
        </p:nvSpPr>
        <p:spPr>
          <a:xfrm>
            <a:off x="6492240" y="3374136"/>
            <a:ext cx="1488338" cy="274320"/>
          </a:xfrm>
          <a:prstGeom prst="rect">
            <a:avLst/>
          </a:prstGeom>
          <a:solidFill>
            <a:srgbClr val="18233A"/>
          </a:solidFill>
          <a:ln/>
        </p:spPr>
      </p:sp>
      <p:sp>
        <p:nvSpPr>
          <p:cNvPr id="60" name="Shape 58"/>
          <p:cNvSpPr/>
          <p:nvPr/>
        </p:nvSpPr>
        <p:spPr>
          <a:xfrm>
            <a:off x="6492240" y="3374136"/>
            <a:ext cx="386968" cy="274320"/>
          </a:xfrm>
          <a:prstGeom prst="rect">
            <a:avLst/>
          </a:prstGeom>
          <a:solidFill>
            <a:srgbClr val="F0605E"/>
          </a:solidFill>
          <a:ln/>
        </p:spPr>
      </p:sp>
      <p:sp>
        <p:nvSpPr>
          <p:cNvPr id="61" name="Text 59"/>
          <p:cNvSpPr txBox="1"/>
          <p:nvPr/>
        </p:nvSpPr>
        <p:spPr>
          <a:xfrm>
            <a:off x="6492240" y="3374136"/>
            <a:ext cx="1488338" cy="274320"/>
          </a:xfrm>
          <a:prstGeom prst="rect">
            <a:avLst/>
          </a:prstGeom>
          <a:noFill/>
          <a:ln/>
        </p:spPr>
        <p:txBody>
          <a:bodyPr wrap="square" lIns="0" tIns="0" rIns="50800" bIns="0" rtlCol="0" anchor="ctr"/>
          <a:lstStyle/>
          <a:p>
            <a:pPr algn="r" indent="0" marL="0">
              <a:buNone/>
            </a:pPr>
            <a:r>
              <a:rPr lang="en-US" sz="950" b="1" dirty="0">
                <a:solidFill>
                  <a:srgbClr val="E9EEF6"/>
                </a:solidFill>
                <a:latin typeface="Consolas" pitchFamily="34" charset="0"/>
                <a:ea typeface="Consolas" pitchFamily="34" charset="-122"/>
                <a:cs typeface="Consolas" pitchFamily="34" charset="-120"/>
              </a:rPr>
              <a:t>0.26</a:t>
            </a:r>
            <a:endParaRPr lang="en-US" sz="950" dirty="0"/>
          </a:p>
        </p:txBody>
      </p:sp>
      <p:sp>
        <p:nvSpPr>
          <p:cNvPr id="62" name="Shape 60"/>
          <p:cNvSpPr/>
          <p:nvPr/>
        </p:nvSpPr>
        <p:spPr>
          <a:xfrm>
            <a:off x="8090306" y="3374136"/>
            <a:ext cx="1488338" cy="274320"/>
          </a:xfrm>
          <a:prstGeom prst="rect">
            <a:avLst/>
          </a:prstGeom>
          <a:solidFill>
            <a:srgbClr val="18233A"/>
          </a:solidFill>
          <a:ln/>
        </p:spPr>
      </p:sp>
      <p:sp>
        <p:nvSpPr>
          <p:cNvPr id="63" name="Shape 61"/>
          <p:cNvSpPr/>
          <p:nvPr/>
        </p:nvSpPr>
        <p:spPr>
          <a:xfrm>
            <a:off x="8090306" y="3374136"/>
            <a:ext cx="639986" cy="274320"/>
          </a:xfrm>
          <a:prstGeom prst="rect">
            <a:avLst/>
          </a:prstGeom>
          <a:solidFill>
            <a:srgbClr val="F5A524"/>
          </a:solidFill>
          <a:ln/>
        </p:spPr>
      </p:sp>
      <p:sp>
        <p:nvSpPr>
          <p:cNvPr id="64" name="Text 62"/>
          <p:cNvSpPr txBox="1"/>
          <p:nvPr/>
        </p:nvSpPr>
        <p:spPr>
          <a:xfrm>
            <a:off x="8090306" y="3374136"/>
            <a:ext cx="1488338" cy="274320"/>
          </a:xfrm>
          <a:prstGeom prst="rect">
            <a:avLst/>
          </a:prstGeom>
          <a:noFill/>
          <a:ln/>
        </p:spPr>
        <p:txBody>
          <a:bodyPr wrap="square" lIns="0" tIns="0" rIns="50800" bIns="0" rtlCol="0" anchor="ctr"/>
          <a:lstStyle/>
          <a:p>
            <a:pPr algn="r" indent="0" marL="0">
              <a:buNone/>
            </a:pPr>
            <a:r>
              <a:rPr lang="en-US" sz="950" b="1" dirty="0">
                <a:solidFill>
                  <a:srgbClr val="E9EEF6"/>
                </a:solidFill>
                <a:latin typeface="Consolas" pitchFamily="34" charset="0"/>
                <a:ea typeface="Consolas" pitchFamily="34" charset="-122"/>
                <a:cs typeface="Consolas" pitchFamily="34" charset="-120"/>
              </a:rPr>
              <a:t>0.43</a:t>
            </a:r>
            <a:endParaRPr lang="en-US" sz="950" dirty="0"/>
          </a:p>
        </p:txBody>
      </p:sp>
      <p:sp>
        <p:nvSpPr>
          <p:cNvPr id="65" name="Shape 63"/>
          <p:cNvSpPr/>
          <p:nvPr/>
        </p:nvSpPr>
        <p:spPr>
          <a:xfrm>
            <a:off x="9688373" y="3374136"/>
            <a:ext cx="1488338" cy="274320"/>
          </a:xfrm>
          <a:prstGeom prst="rect">
            <a:avLst/>
          </a:prstGeom>
          <a:solidFill>
            <a:srgbClr val="18233A"/>
          </a:solidFill>
          <a:ln/>
        </p:spPr>
      </p:sp>
      <p:sp>
        <p:nvSpPr>
          <p:cNvPr id="66" name="Shape 64"/>
          <p:cNvSpPr/>
          <p:nvPr/>
        </p:nvSpPr>
        <p:spPr>
          <a:xfrm>
            <a:off x="9688373" y="3374136"/>
            <a:ext cx="491152" cy="274320"/>
          </a:xfrm>
          <a:prstGeom prst="rect">
            <a:avLst/>
          </a:prstGeom>
          <a:solidFill>
            <a:srgbClr val="F0605E"/>
          </a:solidFill>
          <a:ln/>
        </p:spPr>
      </p:sp>
      <p:sp>
        <p:nvSpPr>
          <p:cNvPr id="67" name="Text 65"/>
          <p:cNvSpPr txBox="1"/>
          <p:nvPr/>
        </p:nvSpPr>
        <p:spPr>
          <a:xfrm>
            <a:off x="9688373" y="3374136"/>
            <a:ext cx="1488338" cy="274320"/>
          </a:xfrm>
          <a:prstGeom prst="rect">
            <a:avLst/>
          </a:prstGeom>
          <a:noFill/>
          <a:ln/>
        </p:spPr>
        <p:txBody>
          <a:bodyPr wrap="square" lIns="0" tIns="0" rIns="50800" bIns="0" rtlCol="0" anchor="ctr"/>
          <a:lstStyle/>
          <a:p>
            <a:pPr algn="r" indent="0" marL="0">
              <a:buNone/>
            </a:pPr>
            <a:r>
              <a:rPr lang="en-US" sz="950" b="1" dirty="0">
                <a:solidFill>
                  <a:srgbClr val="E9EEF6"/>
                </a:solidFill>
                <a:latin typeface="Consolas" pitchFamily="34" charset="0"/>
                <a:ea typeface="Consolas" pitchFamily="34" charset="-122"/>
                <a:cs typeface="Consolas" pitchFamily="34" charset="-120"/>
              </a:rPr>
              <a:t>0.33</a:t>
            </a:r>
            <a:endParaRPr lang="en-US" sz="950" dirty="0"/>
          </a:p>
        </p:txBody>
      </p:sp>
      <p:sp>
        <p:nvSpPr>
          <p:cNvPr id="68" name="Text 66"/>
          <p:cNvSpPr txBox="1"/>
          <p:nvPr/>
        </p:nvSpPr>
        <p:spPr>
          <a:xfrm>
            <a:off x="4709160" y="3776472"/>
            <a:ext cx="1691640" cy="384048"/>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V2  Contradicted</a:t>
            </a:r>
            <a:endParaRPr lang="en-US" sz="1050" dirty="0"/>
          </a:p>
          <a:p>
            <a:pPr algn="l" indent="0" marL="0">
              <a:buNone/>
            </a:pPr>
            <a:r>
              <a:rPr lang="en-US" sz="850" dirty="0">
                <a:solidFill>
                  <a:srgbClr val="5C6A85"/>
                </a:solidFill>
                <a:latin typeface="Consolas" pitchFamily="34" charset="0"/>
                <a:ea typeface="Consolas" pitchFamily="34" charset="-122"/>
                <a:cs typeface="Consolas" pitchFamily="34" charset="-120"/>
              </a:rPr>
              <a:t>n = 17</a:t>
            </a:r>
            <a:endParaRPr lang="en-US" sz="1050" dirty="0"/>
          </a:p>
        </p:txBody>
      </p:sp>
      <p:sp>
        <p:nvSpPr>
          <p:cNvPr id="69" name="Shape 67"/>
          <p:cNvSpPr/>
          <p:nvPr/>
        </p:nvSpPr>
        <p:spPr>
          <a:xfrm>
            <a:off x="6492240" y="3831336"/>
            <a:ext cx="1488338" cy="274320"/>
          </a:xfrm>
          <a:prstGeom prst="rect">
            <a:avLst/>
          </a:prstGeom>
          <a:solidFill>
            <a:srgbClr val="18233A"/>
          </a:solidFill>
          <a:ln/>
        </p:spPr>
      </p:sp>
      <p:sp>
        <p:nvSpPr>
          <p:cNvPr id="70" name="Text 68"/>
          <p:cNvSpPr txBox="1"/>
          <p:nvPr/>
        </p:nvSpPr>
        <p:spPr>
          <a:xfrm>
            <a:off x="6492240" y="3831336"/>
            <a:ext cx="1488338" cy="274320"/>
          </a:xfrm>
          <a:prstGeom prst="rect">
            <a:avLst/>
          </a:prstGeom>
          <a:noFill/>
          <a:ln/>
        </p:spPr>
        <p:txBody>
          <a:bodyPr wrap="square" lIns="0" tIns="0" rIns="50800" bIns="0" rtlCol="0" anchor="ctr"/>
          <a:lstStyle/>
          <a:p>
            <a:pPr algn="r" indent="0" marL="0">
              <a:buNone/>
            </a:pPr>
            <a:r>
              <a:rPr lang="en-US" sz="950" b="1" dirty="0">
                <a:solidFill>
                  <a:srgbClr val="E9EEF6"/>
                </a:solidFill>
                <a:latin typeface="Consolas" pitchFamily="34" charset="0"/>
                <a:ea typeface="Consolas" pitchFamily="34" charset="-122"/>
                <a:cs typeface="Consolas" pitchFamily="34" charset="-120"/>
              </a:rPr>
              <a:t>0.00</a:t>
            </a:r>
            <a:endParaRPr lang="en-US" sz="950" dirty="0"/>
          </a:p>
        </p:txBody>
      </p:sp>
      <p:sp>
        <p:nvSpPr>
          <p:cNvPr id="71" name="Shape 69"/>
          <p:cNvSpPr/>
          <p:nvPr/>
        </p:nvSpPr>
        <p:spPr>
          <a:xfrm>
            <a:off x="8090306" y="3831336"/>
            <a:ext cx="1488338" cy="274320"/>
          </a:xfrm>
          <a:prstGeom prst="rect">
            <a:avLst/>
          </a:prstGeom>
          <a:solidFill>
            <a:srgbClr val="18233A"/>
          </a:solidFill>
          <a:ln/>
        </p:spPr>
      </p:sp>
      <p:sp>
        <p:nvSpPr>
          <p:cNvPr id="72" name="Text 70"/>
          <p:cNvSpPr txBox="1"/>
          <p:nvPr/>
        </p:nvSpPr>
        <p:spPr>
          <a:xfrm>
            <a:off x="8090306" y="3831336"/>
            <a:ext cx="1488338" cy="274320"/>
          </a:xfrm>
          <a:prstGeom prst="rect">
            <a:avLst/>
          </a:prstGeom>
          <a:noFill/>
          <a:ln/>
        </p:spPr>
        <p:txBody>
          <a:bodyPr wrap="square" lIns="0" tIns="0" rIns="50800" bIns="0" rtlCol="0" anchor="ctr"/>
          <a:lstStyle/>
          <a:p>
            <a:pPr algn="r" indent="0" marL="0">
              <a:buNone/>
            </a:pPr>
            <a:r>
              <a:rPr lang="en-US" sz="950" b="1" dirty="0">
                <a:solidFill>
                  <a:srgbClr val="E9EEF6"/>
                </a:solidFill>
                <a:latin typeface="Consolas" pitchFamily="34" charset="0"/>
                <a:ea typeface="Consolas" pitchFamily="34" charset="-122"/>
                <a:cs typeface="Consolas" pitchFamily="34" charset="-120"/>
              </a:rPr>
              <a:t>0.00</a:t>
            </a:r>
            <a:endParaRPr lang="en-US" sz="950" dirty="0"/>
          </a:p>
        </p:txBody>
      </p:sp>
      <p:sp>
        <p:nvSpPr>
          <p:cNvPr id="73" name="Shape 71"/>
          <p:cNvSpPr/>
          <p:nvPr/>
        </p:nvSpPr>
        <p:spPr>
          <a:xfrm>
            <a:off x="9688373" y="3831336"/>
            <a:ext cx="1488338" cy="274320"/>
          </a:xfrm>
          <a:prstGeom prst="rect">
            <a:avLst/>
          </a:prstGeom>
          <a:solidFill>
            <a:srgbClr val="18233A"/>
          </a:solidFill>
          <a:ln/>
        </p:spPr>
      </p:sp>
      <p:sp>
        <p:nvSpPr>
          <p:cNvPr id="74" name="Text 72"/>
          <p:cNvSpPr txBox="1"/>
          <p:nvPr/>
        </p:nvSpPr>
        <p:spPr>
          <a:xfrm>
            <a:off x="9688373" y="3831336"/>
            <a:ext cx="1488338" cy="274320"/>
          </a:xfrm>
          <a:prstGeom prst="rect">
            <a:avLst/>
          </a:prstGeom>
          <a:noFill/>
          <a:ln/>
        </p:spPr>
        <p:txBody>
          <a:bodyPr wrap="square" lIns="0" tIns="0" rIns="50800" bIns="0" rtlCol="0" anchor="ctr"/>
          <a:lstStyle/>
          <a:p>
            <a:pPr algn="r" indent="0" marL="0">
              <a:buNone/>
            </a:pPr>
            <a:r>
              <a:rPr lang="en-US" sz="950" b="1" dirty="0">
                <a:solidFill>
                  <a:srgbClr val="E9EEF6"/>
                </a:solidFill>
                <a:latin typeface="Consolas" pitchFamily="34" charset="0"/>
                <a:ea typeface="Consolas" pitchFamily="34" charset="-122"/>
                <a:cs typeface="Consolas" pitchFamily="34" charset="-120"/>
              </a:rPr>
              <a:t>0.00</a:t>
            </a:r>
            <a:endParaRPr lang="en-US" sz="950" dirty="0"/>
          </a:p>
        </p:txBody>
      </p:sp>
      <p:sp>
        <p:nvSpPr>
          <p:cNvPr id="75" name="Text 73"/>
          <p:cNvSpPr txBox="1"/>
          <p:nvPr/>
        </p:nvSpPr>
        <p:spPr>
          <a:xfrm>
            <a:off x="4709160" y="4233672"/>
            <a:ext cx="1691640" cy="384048"/>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V3  Over-generalised</a:t>
            </a:r>
            <a:endParaRPr lang="en-US" sz="1050" dirty="0"/>
          </a:p>
          <a:p>
            <a:pPr algn="l" indent="0" marL="0">
              <a:buNone/>
            </a:pPr>
            <a:r>
              <a:rPr lang="en-US" sz="850" dirty="0">
                <a:solidFill>
                  <a:srgbClr val="5C6A85"/>
                </a:solidFill>
                <a:latin typeface="Consolas" pitchFamily="34" charset="0"/>
                <a:ea typeface="Consolas" pitchFamily="34" charset="-122"/>
                <a:cs typeface="Consolas" pitchFamily="34" charset="-120"/>
              </a:rPr>
              <a:t>n = 2</a:t>
            </a:r>
            <a:endParaRPr lang="en-US" sz="1050" dirty="0"/>
          </a:p>
        </p:txBody>
      </p:sp>
      <p:sp>
        <p:nvSpPr>
          <p:cNvPr id="76" name="Shape 74"/>
          <p:cNvSpPr/>
          <p:nvPr/>
        </p:nvSpPr>
        <p:spPr>
          <a:xfrm>
            <a:off x="6492240" y="4288536"/>
            <a:ext cx="1488338" cy="274320"/>
          </a:xfrm>
          <a:prstGeom prst="rect">
            <a:avLst/>
          </a:prstGeom>
          <a:solidFill>
            <a:srgbClr val="18233A"/>
          </a:solidFill>
          <a:ln/>
        </p:spPr>
      </p:sp>
      <p:sp>
        <p:nvSpPr>
          <p:cNvPr id="77" name="Text 75"/>
          <p:cNvSpPr txBox="1"/>
          <p:nvPr/>
        </p:nvSpPr>
        <p:spPr>
          <a:xfrm>
            <a:off x="6492240" y="4288536"/>
            <a:ext cx="1488338" cy="274320"/>
          </a:xfrm>
          <a:prstGeom prst="rect">
            <a:avLst/>
          </a:prstGeom>
          <a:noFill/>
          <a:ln/>
        </p:spPr>
        <p:txBody>
          <a:bodyPr wrap="square" lIns="0" tIns="0" rIns="50800" bIns="0" rtlCol="0" anchor="ctr"/>
          <a:lstStyle/>
          <a:p>
            <a:pPr algn="r" indent="0" marL="0">
              <a:buNone/>
            </a:pPr>
            <a:r>
              <a:rPr lang="en-US" sz="950" b="1" dirty="0">
                <a:solidFill>
                  <a:srgbClr val="E9EEF6"/>
                </a:solidFill>
                <a:latin typeface="Consolas" pitchFamily="34" charset="0"/>
                <a:ea typeface="Consolas" pitchFamily="34" charset="-122"/>
                <a:cs typeface="Consolas" pitchFamily="34" charset="-120"/>
              </a:rPr>
              <a:t>0.00</a:t>
            </a:r>
            <a:endParaRPr lang="en-US" sz="950" dirty="0"/>
          </a:p>
        </p:txBody>
      </p:sp>
      <p:sp>
        <p:nvSpPr>
          <p:cNvPr id="78" name="Shape 76"/>
          <p:cNvSpPr/>
          <p:nvPr/>
        </p:nvSpPr>
        <p:spPr>
          <a:xfrm>
            <a:off x="8090306" y="4288536"/>
            <a:ext cx="1488338" cy="274320"/>
          </a:xfrm>
          <a:prstGeom prst="rect">
            <a:avLst/>
          </a:prstGeom>
          <a:solidFill>
            <a:srgbClr val="18233A"/>
          </a:solidFill>
          <a:ln/>
        </p:spPr>
      </p:sp>
      <p:sp>
        <p:nvSpPr>
          <p:cNvPr id="79" name="Text 77"/>
          <p:cNvSpPr txBox="1"/>
          <p:nvPr/>
        </p:nvSpPr>
        <p:spPr>
          <a:xfrm>
            <a:off x="8090306" y="4288536"/>
            <a:ext cx="1488338" cy="274320"/>
          </a:xfrm>
          <a:prstGeom prst="rect">
            <a:avLst/>
          </a:prstGeom>
          <a:noFill/>
          <a:ln/>
        </p:spPr>
        <p:txBody>
          <a:bodyPr wrap="square" lIns="0" tIns="0" rIns="50800" bIns="0" rtlCol="0" anchor="ctr"/>
          <a:lstStyle/>
          <a:p>
            <a:pPr algn="r" indent="0" marL="0">
              <a:buNone/>
            </a:pPr>
            <a:r>
              <a:rPr lang="en-US" sz="950" b="1" dirty="0">
                <a:solidFill>
                  <a:srgbClr val="E9EEF6"/>
                </a:solidFill>
                <a:latin typeface="Consolas" pitchFamily="34" charset="0"/>
                <a:ea typeface="Consolas" pitchFamily="34" charset="-122"/>
                <a:cs typeface="Consolas" pitchFamily="34" charset="-120"/>
              </a:rPr>
              <a:t>0.00</a:t>
            </a:r>
            <a:endParaRPr lang="en-US" sz="950" dirty="0"/>
          </a:p>
        </p:txBody>
      </p:sp>
      <p:sp>
        <p:nvSpPr>
          <p:cNvPr id="80" name="Shape 78"/>
          <p:cNvSpPr/>
          <p:nvPr/>
        </p:nvSpPr>
        <p:spPr>
          <a:xfrm>
            <a:off x="9688373" y="4288536"/>
            <a:ext cx="1488338" cy="274320"/>
          </a:xfrm>
          <a:prstGeom prst="rect">
            <a:avLst/>
          </a:prstGeom>
          <a:solidFill>
            <a:srgbClr val="18233A"/>
          </a:solidFill>
          <a:ln/>
        </p:spPr>
      </p:sp>
      <p:sp>
        <p:nvSpPr>
          <p:cNvPr id="81" name="Text 79"/>
          <p:cNvSpPr txBox="1"/>
          <p:nvPr/>
        </p:nvSpPr>
        <p:spPr>
          <a:xfrm>
            <a:off x="9688373" y="4288536"/>
            <a:ext cx="1488338" cy="274320"/>
          </a:xfrm>
          <a:prstGeom prst="rect">
            <a:avLst/>
          </a:prstGeom>
          <a:noFill/>
          <a:ln/>
        </p:spPr>
        <p:txBody>
          <a:bodyPr wrap="square" lIns="0" tIns="0" rIns="50800" bIns="0" rtlCol="0" anchor="ctr"/>
          <a:lstStyle/>
          <a:p>
            <a:pPr algn="r" indent="0" marL="0">
              <a:buNone/>
            </a:pPr>
            <a:r>
              <a:rPr lang="en-US" sz="950" b="1" dirty="0">
                <a:solidFill>
                  <a:srgbClr val="E9EEF6"/>
                </a:solidFill>
                <a:latin typeface="Consolas" pitchFamily="34" charset="0"/>
                <a:ea typeface="Consolas" pitchFamily="34" charset="-122"/>
                <a:cs typeface="Consolas" pitchFamily="34" charset="-120"/>
              </a:rPr>
              <a:t>0.00</a:t>
            </a:r>
            <a:endParaRPr lang="en-US" sz="950" dirty="0"/>
          </a:p>
        </p:txBody>
      </p:sp>
      <p:sp>
        <p:nvSpPr>
          <p:cNvPr id="82" name="Text 80"/>
          <p:cNvSpPr txBox="1"/>
          <p:nvPr/>
        </p:nvSpPr>
        <p:spPr>
          <a:xfrm>
            <a:off x="4709160" y="4690872"/>
            <a:ext cx="1691640" cy="384048"/>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V5  Incoherent</a:t>
            </a:r>
            <a:endParaRPr lang="en-US" sz="1050" dirty="0"/>
          </a:p>
          <a:p>
            <a:pPr algn="l" indent="0" marL="0">
              <a:buNone/>
            </a:pPr>
            <a:r>
              <a:rPr lang="en-US" sz="850" dirty="0">
                <a:solidFill>
                  <a:srgbClr val="5C6A85"/>
                </a:solidFill>
                <a:latin typeface="Consolas" pitchFamily="34" charset="0"/>
                <a:ea typeface="Consolas" pitchFamily="34" charset="-122"/>
                <a:cs typeface="Consolas" pitchFamily="34" charset="-120"/>
              </a:rPr>
              <a:t>n = 0</a:t>
            </a:r>
            <a:endParaRPr lang="en-US" sz="1050" dirty="0"/>
          </a:p>
        </p:txBody>
      </p:sp>
      <p:sp>
        <p:nvSpPr>
          <p:cNvPr id="83" name="Shape 81"/>
          <p:cNvSpPr/>
          <p:nvPr/>
        </p:nvSpPr>
        <p:spPr>
          <a:xfrm>
            <a:off x="6492240" y="4745736"/>
            <a:ext cx="1488338" cy="274320"/>
          </a:xfrm>
          <a:prstGeom prst="rect">
            <a:avLst/>
          </a:prstGeom>
          <a:solidFill>
            <a:srgbClr val="18233A"/>
          </a:solidFill>
          <a:ln/>
        </p:spPr>
      </p:sp>
      <p:sp>
        <p:nvSpPr>
          <p:cNvPr id="84" name="Text 82"/>
          <p:cNvSpPr txBox="1"/>
          <p:nvPr/>
        </p:nvSpPr>
        <p:spPr>
          <a:xfrm>
            <a:off x="6492240" y="4745736"/>
            <a:ext cx="1488338" cy="274320"/>
          </a:xfrm>
          <a:prstGeom prst="rect">
            <a:avLst/>
          </a:prstGeom>
          <a:noFill/>
          <a:ln/>
        </p:spPr>
        <p:txBody>
          <a:bodyPr wrap="square" lIns="0" tIns="0" rIns="0" bIns="0" rtlCol="0" anchor="ctr"/>
          <a:lstStyle/>
          <a:p>
            <a:pPr algn="ctr" indent="0" marL="0">
              <a:buNone/>
            </a:pPr>
            <a:r>
              <a:rPr lang="en-US" sz="800" dirty="0">
                <a:solidFill>
                  <a:srgbClr val="5C6A85"/>
                </a:solidFill>
                <a:latin typeface="Consolas" pitchFamily="34" charset="0"/>
                <a:ea typeface="Consolas" pitchFamily="34" charset="-122"/>
                <a:cs typeface="Consolas" pitchFamily="34" charset="-120"/>
              </a:rPr>
              <a:t>no support</a:t>
            </a:r>
            <a:endParaRPr lang="en-US" sz="800" dirty="0"/>
          </a:p>
        </p:txBody>
      </p:sp>
      <p:sp>
        <p:nvSpPr>
          <p:cNvPr id="85" name="Shape 83"/>
          <p:cNvSpPr/>
          <p:nvPr/>
        </p:nvSpPr>
        <p:spPr>
          <a:xfrm>
            <a:off x="8090306" y="4745736"/>
            <a:ext cx="1488338" cy="274320"/>
          </a:xfrm>
          <a:prstGeom prst="rect">
            <a:avLst/>
          </a:prstGeom>
          <a:solidFill>
            <a:srgbClr val="18233A"/>
          </a:solidFill>
          <a:ln/>
        </p:spPr>
      </p:sp>
      <p:sp>
        <p:nvSpPr>
          <p:cNvPr id="86" name="Text 84"/>
          <p:cNvSpPr txBox="1"/>
          <p:nvPr/>
        </p:nvSpPr>
        <p:spPr>
          <a:xfrm>
            <a:off x="8090306" y="4745736"/>
            <a:ext cx="1488338" cy="274320"/>
          </a:xfrm>
          <a:prstGeom prst="rect">
            <a:avLst/>
          </a:prstGeom>
          <a:noFill/>
          <a:ln/>
        </p:spPr>
        <p:txBody>
          <a:bodyPr wrap="square" lIns="0" tIns="0" rIns="0" bIns="0" rtlCol="0" anchor="ctr"/>
          <a:lstStyle/>
          <a:p>
            <a:pPr algn="ctr" indent="0" marL="0">
              <a:buNone/>
            </a:pPr>
            <a:r>
              <a:rPr lang="en-US" sz="800" dirty="0">
                <a:solidFill>
                  <a:srgbClr val="5C6A85"/>
                </a:solidFill>
                <a:latin typeface="Consolas" pitchFamily="34" charset="0"/>
                <a:ea typeface="Consolas" pitchFamily="34" charset="-122"/>
                <a:cs typeface="Consolas" pitchFamily="34" charset="-120"/>
              </a:rPr>
              <a:t>no support</a:t>
            </a:r>
            <a:endParaRPr lang="en-US" sz="800" dirty="0"/>
          </a:p>
        </p:txBody>
      </p:sp>
      <p:sp>
        <p:nvSpPr>
          <p:cNvPr id="87" name="Shape 85"/>
          <p:cNvSpPr/>
          <p:nvPr/>
        </p:nvSpPr>
        <p:spPr>
          <a:xfrm>
            <a:off x="9688373" y="4745736"/>
            <a:ext cx="1488338" cy="274320"/>
          </a:xfrm>
          <a:prstGeom prst="rect">
            <a:avLst/>
          </a:prstGeom>
          <a:solidFill>
            <a:srgbClr val="18233A"/>
          </a:solidFill>
          <a:ln/>
        </p:spPr>
      </p:sp>
      <p:sp>
        <p:nvSpPr>
          <p:cNvPr id="88" name="Text 86"/>
          <p:cNvSpPr txBox="1"/>
          <p:nvPr/>
        </p:nvSpPr>
        <p:spPr>
          <a:xfrm>
            <a:off x="9688373" y="4745736"/>
            <a:ext cx="1488338" cy="274320"/>
          </a:xfrm>
          <a:prstGeom prst="rect">
            <a:avLst/>
          </a:prstGeom>
          <a:noFill/>
          <a:ln/>
        </p:spPr>
        <p:txBody>
          <a:bodyPr wrap="square" lIns="0" tIns="0" rIns="0" bIns="0" rtlCol="0" anchor="ctr"/>
          <a:lstStyle/>
          <a:p>
            <a:pPr algn="ctr" indent="0" marL="0">
              <a:buNone/>
            </a:pPr>
            <a:r>
              <a:rPr lang="en-US" sz="800" dirty="0">
                <a:solidFill>
                  <a:srgbClr val="5C6A85"/>
                </a:solidFill>
                <a:latin typeface="Consolas" pitchFamily="34" charset="0"/>
                <a:ea typeface="Consolas" pitchFamily="34" charset="-122"/>
                <a:cs typeface="Consolas" pitchFamily="34" charset="-120"/>
              </a:rPr>
              <a:t>no support</a:t>
            </a:r>
            <a:endParaRPr lang="en-US" sz="800" dirty="0"/>
          </a:p>
        </p:txBody>
      </p:sp>
      <p:sp>
        <p:nvSpPr>
          <p:cNvPr id="89" name="Shape 87"/>
          <p:cNvSpPr/>
          <p:nvPr/>
        </p:nvSpPr>
        <p:spPr>
          <a:xfrm>
            <a:off x="548640" y="5193792"/>
            <a:ext cx="5464912" cy="987552"/>
          </a:xfrm>
          <a:prstGeom prst="roundRect">
            <a:avLst>
              <a:gd name="adj" fmla="val 7407"/>
            </a:avLst>
          </a:prstGeom>
          <a:solidFill>
            <a:srgbClr val="121B2E"/>
          </a:solidFill>
          <a:ln w="11430">
            <a:solidFill>
              <a:srgbClr val="F0605E"/>
            </a:solidFill>
            <a:prstDash val="solid"/>
          </a:ln>
        </p:spPr>
      </p:sp>
      <p:sp>
        <p:nvSpPr>
          <p:cNvPr id="90" name="Text 88"/>
          <p:cNvSpPr txBox="1"/>
          <p:nvPr/>
        </p:nvSpPr>
        <p:spPr>
          <a:xfrm>
            <a:off x="731520" y="5266944"/>
            <a:ext cx="5099152" cy="868680"/>
          </a:xfrm>
          <a:prstGeom prst="rect">
            <a:avLst/>
          </a:prstGeom>
          <a:noFill/>
          <a:ln/>
        </p:spPr>
        <p:txBody>
          <a:bodyPr wrap="square" lIns="0" tIns="0" rIns="0" bIns="0" rtlCol="0" anchor="t"/>
          <a:lstStyle/>
          <a:p>
            <a:pPr algn="l" indent="0" marL="0">
              <a:buNone/>
            </a:pPr>
            <a:r>
              <a:rPr lang="en-US" sz="1100" b="1" dirty="0">
                <a:solidFill>
                  <a:srgbClr val="F0605E"/>
                </a:solidFill>
                <a:latin typeface="Helvetica Neue" pitchFamily="34" charset="0"/>
                <a:ea typeface="Helvetica Neue" pitchFamily="34" charset="-122"/>
                <a:cs typeface="Helvetica Neue" pitchFamily="34" charset="-120"/>
              </a:rPr>
              <a:t>V1 rule — precise but blind.  </a:t>
            </a:r>
            <a:pPr algn="l" indent="0" marL="0">
              <a:buNone/>
            </a:pPr>
            <a:r>
              <a:rPr lang="en-US" sz="1000" dirty="0">
                <a:solidFill>
                  <a:srgbClr val="C7D0DE"/>
                </a:solidFill>
                <a:latin typeface="Helvetica Neue" pitchFamily="34" charset="0"/>
                <a:ea typeface="Helvetica Neue" pitchFamily="34" charset="-122"/>
                <a:cs typeface="Helvetica Neue" pitchFamily="34" charset="-120"/>
              </a:rPr>
              <a:t>When it fires, the human agrees 9 times in 10 — but only 9 of 98 human-labelled fabrications are caught; the rest come back as NONE (54), MIXED (22) or V4 (13). Cause: strict negation scope and ruler coverage. Missed fabrications are the dangerous direction.</a:t>
            </a:r>
            <a:endParaRPr lang="en-US" sz="1100" dirty="0"/>
          </a:p>
        </p:txBody>
      </p:sp>
      <p:sp>
        <p:nvSpPr>
          <p:cNvPr id="91" name="Shape 89"/>
          <p:cNvSpPr/>
          <p:nvPr/>
        </p:nvSpPr>
        <p:spPr>
          <a:xfrm>
            <a:off x="6178144" y="5193792"/>
            <a:ext cx="5464912" cy="987552"/>
          </a:xfrm>
          <a:prstGeom prst="roundRect">
            <a:avLst>
              <a:gd name="adj" fmla="val 7407"/>
            </a:avLst>
          </a:prstGeom>
          <a:solidFill>
            <a:srgbClr val="121B2E"/>
          </a:solidFill>
          <a:ln w="11430">
            <a:solidFill>
              <a:srgbClr val="F5A524"/>
            </a:solidFill>
            <a:prstDash val="solid"/>
          </a:ln>
        </p:spPr>
      </p:sp>
      <p:sp>
        <p:nvSpPr>
          <p:cNvPr id="92" name="Text 90"/>
          <p:cNvSpPr txBox="1"/>
          <p:nvPr/>
        </p:nvSpPr>
        <p:spPr>
          <a:xfrm>
            <a:off x="6361024" y="5266944"/>
            <a:ext cx="5099152" cy="868680"/>
          </a:xfrm>
          <a:prstGeom prst="rect">
            <a:avLst/>
          </a:prstGeom>
          <a:noFill/>
          <a:ln/>
        </p:spPr>
        <p:txBody>
          <a:bodyPr wrap="square" lIns="0" tIns="0" rIns="0" bIns="0" rtlCol="0" anchor="t"/>
          <a:lstStyle/>
          <a:p>
            <a:pPr algn="l" indent="0" marL="0">
              <a:buNone/>
            </a:pPr>
            <a:r>
              <a:rPr lang="en-US" sz="1100" b="1" dirty="0">
                <a:solidFill>
                  <a:srgbClr val="F5A524"/>
                </a:solidFill>
                <a:latin typeface="Helvetica Neue" pitchFamily="34" charset="0"/>
                <a:ea typeface="Helvetica Neue" pitchFamily="34" charset="-122"/>
                <a:cs typeface="Helvetica Neue" pitchFamily="34" charset="-120"/>
              </a:rPr>
              <a:t>V4 rule — sensitive but over-triggering.  </a:t>
            </a:r>
            <a:pPr algn="l" indent="0" marL="0">
              <a:buNone/>
            </a:pPr>
            <a:r>
              <a:rPr lang="en-US" sz="1000" dirty="0">
                <a:solidFill>
                  <a:srgbClr val="C7D0DE"/>
                </a:solidFill>
                <a:latin typeface="Helvetica Neue" pitchFamily="34" charset="0"/>
                <a:ea typeface="Helvetica Neue" pitchFamily="34" charset="-122"/>
                <a:cs typeface="Helvetica Neue" pitchFamily="34" charset="-120"/>
              </a:rPr>
              <a:t>Catches 23 of 25 human V4s, but fires on ≈ 55 % of all explanations vs 12.5 % marked by the annotator: the any-of-five rule counts missing traffic details, the human counted only missing caveats. Removing it would raise macro-F1 — it was kept un-tuned and reported (§5.5).</a:t>
            </a:r>
            <a:endParaRPr lang="en-US" sz="11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indent="0" marL="0">
              <a:buNone/>
            </a:pPr>
            <a:r>
              <a:rPr lang="en-US" sz="1050" spc="200" kern="0" dirty="0">
                <a:solidFill>
                  <a:srgbClr val="2DD4BF"/>
                </a:solidFill>
                <a:latin typeface="Consolas" pitchFamily="34" charset="0"/>
                <a:ea typeface="Consolas" pitchFamily="34" charset="-122"/>
                <a:cs typeface="Consolas" pitchFamily="34" charset="-120"/>
              </a:rPr>
              <a:t>12 · HUMAN LABEL VS REASONGUARD VERDICT</a:t>
            </a:r>
            <a:endParaRPr lang="en-US" sz="1050" dirty="0"/>
          </a:p>
        </p:txBody>
      </p:sp>
      <p:sp>
        <p:nvSpPr>
          <p:cNvPr id="3" name="Text 1"/>
          <p:cNvSpPr txBox="1"/>
          <p:nvPr/>
        </p:nvSpPr>
        <p:spPr>
          <a:xfrm>
            <a:off x="548640" y="603504"/>
            <a:ext cx="11094415" cy="566928"/>
          </a:xfrm>
          <a:prstGeom prst="rect">
            <a:avLst/>
          </a:prstGeom>
          <a:noFill/>
          <a:ln/>
        </p:spPr>
        <p:txBody>
          <a:bodyPr wrap="square" lIns="0" tIns="0" rIns="0" bIns="0" rtlCol="0" anchor="t"/>
          <a:lstStyle/>
          <a:p>
            <a:pPr indent="0" marL="0">
              <a:buNone/>
            </a:pPr>
            <a:r>
              <a:rPr lang="en-US" sz="2700" b="1" dirty="0">
                <a:solidFill>
                  <a:srgbClr val="E9EEF6"/>
                </a:solidFill>
                <a:latin typeface="Helvetica Neue" pitchFamily="34" charset="0"/>
                <a:ea typeface="Helvetica Neue" pitchFamily="34" charset="-122"/>
                <a:cs typeface="Helvetica Neue" pitchFamily="34" charset="-120"/>
              </a:rPr>
              <a:t>Where the disagreement sits</a:t>
            </a:r>
            <a:endParaRPr lang="en-US" sz="27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350" dirty="0">
                <a:solidFill>
                  <a:srgbClr val="93A0B8"/>
                </a:solidFill>
                <a:latin typeface="Helvetica Neue" pitchFamily="34" charset="0"/>
                <a:ea typeface="Helvetica Neue" pitchFamily="34" charset="-122"/>
                <a:cs typeface="Helvetica Neue" pitchFamily="34" charset="-120"/>
              </a:rPr>
              <a:t>Fabrications go undetected, under-specification is over-called. Figure 4.3 — 200 annotated pairs; rows = human label, columns = ReasonGuard verdict; MIXED = several violations in one response.</a:t>
            </a:r>
            <a:endParaRPr lang="en-US" sz="1350" dirty="0"/>
          </a:p>
        </p:txBody>
      </p:sp>
      <p:sp>
        <p:nvSpPr>
          <p:cNvPr id="5" name="Text 3"/>
          <p:cNvSpPr txBox="1"/>
          <p:nvPr/>
        </p:nvSpPr>
        <p:spPr>
          <a:xfrm>
            <a:off x="548640" y="6473952"/>
            <a:ext cx="8778240" cy="219456"/>
          </a:xfrm>
          <a:prstGeom prst="rect">
            <a:avLst/>
          </a:prstGeom>
          <a:noFill/>
          <a:ln/>
        </p:spPr>
        <p:txBody>
          <a:bodyPr wrap="square" lIns="0" tIns="0" rIns="0" bIns="0" rtlCol="0" anchor="ctr"/>
          <a:lstStyle/>
          <a:p>
            <a:pPr indent="0" marL="0">
              <a:buNone/>
            </a:pPr>
            <a:r>
              <a:rPr lang="en-US" sz="850" dirty="0">
                <a:solidFill>
                  <a:srgbClr val="5C6A85"/>
                </a:solidFill>
                <a:latin typeface="Helvetica Neue" pitchFamily="34" charset="0"/>
                <a:ea typeface="Helvetica Neue" pitchFamily="34" charset="-122"/>
                <a:cs typeface="Helvetica Neue" pitchFamily="34" charset="-120"/>
              </a:rPr>
              <a:t>ReasonGuard  ·  Runtime Verification of AI Reasoning Faithfulness  ·  R. Bilalov  ·  SRH University Hamburg / FIT VUT Brno</a:t>
            </a:r>
            <a:endParaRPr lang="en-US" sz="850" dirty="0"/>
          </a:p>
        </p:txBody>
      </p:sp>
      <p:sp>
        <p:nvSpPr>
          <p:cNvPr id="6" name="Text 4"/>
          <p:cNvSpPr txBox="1"/>
          <p:nvPr/>
        </p:nvSpPr>
        <p:spPr>
          <a:xfrm>
            <a:off x="548640" y="6272784"/>
            <a:ext cx="9997135" cy="201168"/>
          </a:xfrm>
          <a:prstGeom prst="rect">
            <a:avLst/>
          </a:prstGeom>
          <a:noFill/>
          <a:ln/>
        </p:spPr>
        <p:txBody>
          <a:bodyPr wrap="square" lIns="0" tIns="0" rIns="0" bIns="0" rtlCol="0" anchor="ctr"/>
          <a:lstStyle/>
          <a:p>
            <a:pPr indent="0" marL="0">
              <a:buNone/>
            </a:pPr>
            <a:r>
              <a:rPr lang="en-US" sz="850" i="1" dirty="0">
                <a:solidFill>
                  <a:srgbClr val="5C6A85"/>
                </a:solidFill>
                <a:latin typeface="Helvetica Neue" pitchFamily="34" charset="0"/>
                <a:ea typeface="Helvetica Neue" pitchFamily="34" charset="-122"/>
                <a:cs typeface="Helvetica Neue" pitchFamily="34" charset="-120"/>
              </a:rPr>
              <a:t>Thesis Figure 4.3 (generated from outputs/evaluation_metrics.json). Human MIXED = 9 pairs; ReasonGuard MIXED column = 62 responses.</a:t>
            </a:r>
            <a:endParaRPr lang="en-US" sz="850" dirty="0"/>
          </a:p>
        </p:txBody>
      </p:sp>
      <p:sp>
        <p:nvSpPr>
          <p:cNvPr id="7" name="Text 5"/>
          <p:cNvSpPr txBox="1"/>
          <p:nvPr/>
        </p:nvSpPr>
        <p:spPr>
          <a:xfrm>
            <a:off x="10545775" y="6473952"/>
            <a:ext cx="1097280" cy="219456"/>
          </a:xfrm>
          <a:prstGeom prst="rect">
            <a:avLst/>
          </a:prstGeom>
          <a:noFill/>
          <a:ln/>
        </p:spPr>
        <p:txBody>
          <a:bodyPr wrap="square" lIns="0" tIns="0" rIns="0" bIns="0" rtlCol="0" anchor="ctr"/>
          <a:lstStyle/>
          <a:p>
            <a:pPr algn="r" indent="0" marL="0">
              <a:buNone/>
            </a:pPr>
            <a:r>
              <a:rPr lang="en-US" sz="900" dirty="0">
                <a:solidFill>
                  <a:srgbClr val="5C6A85"/>
                </a:solidFill>
                <a:latin typeface="Consolas" pitchFamily="34" charset="0"/>
                <a:ea typeface="Consolas" pitchFamily="34" charset="-122"/>
                <a:cs typeface="Consolas" pitchFamily="34" charset="-120"/>
              </a:rPr>
              <a:t>13 / 18</a:t>
            </a:r>
            <a:endParaRPr lang="en-US" sz="900" dirty="0"/>
          </a:p>
        </p:txBody>
      </p:sp>
      <p:sp>
        <p:nvSpPr>
          <p:cNvPr id="8" name="Shape 6"/>
          <p:cNvSpPr/>
          <p:nvPr/>
        </p:nvSpPr>
        <p:spPr>
          <a:xfrm>
            <a:off x="548640" y="1810512"/>
            <a:ext cx="5175504" cy="4343400"/>
          </a:xfrm>
          <a:prstGeom prst="roundRect">
            <a:avLst>
              <a:gd name="adj" fmla="val 1684"/>
            </a:avLst>
          </a:prstGeom>
          <a:solidFill>
            <a:srgbClr val="FFFFFF"/>
          </a:solidFill>
          <a:ln w="9525">
            <a:solidFill>
              <a:srgbClr val="2A3752"/>
            </a:solidFill>
            <a:prstDash val="solid"/>
          </a:ln>
        </p:spPr>
      </p:sp>
      <p:pic>
        <p:nvPicPr>
          <p:cNvPr id="9" name="Image 0" descr="/private/tmp/claude-501/-Users-ravanbilalov-Desktop-Reasonguard/19ba6fed-d856-4b4e-b804-6d089efb923b/scratchpad/deck/confusion_matrix.png">    </p:cNvPr>
          <p:cNvPicPr>
            <a:picLocks noChangeAspect="1"/>
          </p:cNvPicPr>
          <p:nvPr/>
        </p:nvPicPr>
        <p:blipFill>
          <a:blip r:embed="rId1"/>
          <a:stretch>
            <a:fillRect/>
          </a:stretch>
        </p:blipFill>
        <p:spPr>
          <a:xfrm>
            <a:off x="640080" y="1901952"/>
            <a:ext cx="4992624" cy="4160520"/>
          </a:xfrm>
          <a:prstGeom prst="rect">
            <a:avLst/>
          </a:prstGeom>
        </p:spPr>
      </p:pic>
      <p:sp>
        <p:nvSpPr>
          <p:cNvPr id="10" name="Shape 7"/>
          <p:cNvSpPr/>
          <p:nvPr/>
        </p:nvSpPr>
        <p:spPr>
          <a:xfrm>
            <a:off x="6044184" y="1810512"/>
            <a:ext cx="5598871" cy="969264"/>
          </a:xfrm>
          <a:prstGeom prst="roundRect">
            <a:avLst>
              <a:gd name="adj" fmla="val 7547"/>
            </a:avLst>
          </a:prstGeom>
          <a:solidFill>
            <a:srgbClr val="121B2E"/>
          </a:solidFill>
          <a:ln w="9525">
            <a:solidFill>
              <a:srgbClr val="2A3752"/>
            </a:solidFill>
            <a:prstDash val="solid"/>
          </a:ln>
        </p:spPr>
      </p:sp>
      <p:sp>
        <p:nvSpPr>
          <p:cNvPr id="11" name="Shape 8"/>
          <p:cNvSpPr/>
          <p:nvPr/>
        </p:nvSpPr>
        <p:spPr>
          <a:xfrm>
            <a:off x="6044184" y="2057400"/>
            <a:ext cx="45720" cy="475488"/>
          </a:xfrm>
          <a:prstGeom prst="rect">
            <a:avLst/>
          </a:prstGeom>
          <a:solidFill>
            <a:srgbClr val="F0605E"/>
          </a:solidFill>
          <a:ln/>
        </p:spPr>
      </p:sp>
      <p:sp>
        <p:nvSpPr>
          <p:cNvPr id="12" name="Text 9"/>
          <p:cNvSpPr txBox="1"/>
          <p:nvPr/>
        </p:nvSpPr>
        <p:spPr>
          <a:xfrm>
            <a:off x="6245352" y="1929384"/>
            <a:ext cx="5233111" cy="274320"/>
          </a:xfrm>
          <a:prstGeom prst="rect">
            <a:avLst/>
          </a:prstGeom>
          <a:noFill/>
          <a:ln/>
        </p:spPr>
        <p:txBody>
          <a:bodyPr wrap="square" lIns="0" tIns="0" rIns="0" bIns="0" rtlCol="0" anchor="t"/>
          <a:lstStyle/>
          <a:p>
            <a:pPr algn="l" indent="0" marL="0">
              <a:buNone/>
            </a:pPr>
            <a:r>
              <a:rPr lang="en-US" sz="1150" b="1" dirty="0">
                <a:solidFill>
                  <a:srgbClr val="E9EEF6"/>
                </a:solidFill>
                <a:latin typeface="Helvetica Neue" pitchFamily="34" charset="0"/>
                <a:ea typeface="Helvetica Neue" pitchFamily="34" charset="-122"/>
                <a:cs typeface="Helvetica Neue" pitchFamily="34" charset="-120"/>
              </a:rPr>
              <a:t>Row V1 — 98 human fabrications</a:t>
            </a:r>
            <a:endParaRPr lang="en-US" sz="1150" dirty="0"/>
          </a:p>
        </p:txBody>
      </p:sp>
      <p:sp>
        <p:nvSpPr>
          <p:cNvPr id="13" name="Text 10"/>
          <p:cNvSpPr txBox="1"/>
          <p:nvPr/>
        </p:nvSpPr>
        <p:spPr>
          <a:xfrm>
            <a:off x="6245352" y="2221992"/>
            <a:ext cx="5233111" cy="548640"/>
          </a:xfrm>
          <a:prstGeom prst="rect">
            <a:avLst/>
          </a:prstGeom>
          <a:noFill/>
          <a:ln/>
        </p:spPr>
        <p:txBody>
          <a:bodyPr wrap="square" lIns="0" tIns="0" rIns="0" bIns="0" rtlCol="0" anchor="t"/>
          <a:lstStyle/>
          <a:p>
            <a:pPr algn="l" indent="0" marL="0">
              <a:lnSpc>
                <a:spcPct val="105000"/>
              </a:lnSpc>
              <a:buNone/>
            </a:pPr>
            <a:r>
              <a:rPr lang="en-US" sz="980" dirty="0">
                <a:solidFill>
                  <a:srgbClr val="C7D0DE"/>
                </a:solidFill>
                <a:latin typeface="Helvetica Neue" pitchFamily="34" charset="0"/>
                <a:ea typeface="Helvetica Neue" pitchFamily="34" charset="-122"/>
                <a:cs typeface="Helvetica Neue" pitchFamily="34" charset="-120"/>
              </a:rPr>
              <a:t>54 → NONE · 22 → MIXED · 13 → V4 · 9 → V1.  Recall 0.09: most fabrications pass unflagged.</a:t>
            </a:r>
            <a:endParaRPr lang="en-US" sz="980" dirty="0"/>
          </a:p>
        </p:txBody>
      </p:sp>
      <p:sp>
        <p:nvSpPr>
          <p:cNvPr id="14" name="Shape 11"/>
          <p:cNvSpPr/>
          <p:nvPr/>
        </p:nvSpPr>
        <p:spPr>
          <a:xfrm>
            <a:off x="6044184" y="2880360"/>
            <a:ext cx="5598871" cy="969264"/>
          </a:xfrm>
          <a:prstGeom prst="roundRect">
            <a:avLst>
              <a:gd name="adj" fmla="val 7547"/>
            </a:avLst>
          </a:prstGeom>
          <a:solidFill>
            <a:srgbClr val="121B2E"/>
          </a:solidFill>
          <a:ln w="9525">
            <a:solidFill>
              <a:srgbClr val="2A3752"/>
            </a:solidFill>
            <a:prstDash val="solid"/>
          </a:ln>
        </p:spPr>
      </p:sp>
      <p:sp>
        <p:nvSpPr>
          <p:cNvPr id="15" name="Shape 12"/>
          <p:cNvSpPr/>
          <p:nvPr/>
        </p:nvSpPr>
        <p:spPr>
          <a:xfrm>
            <a:off x="6044184" y="3127248"/>
            <a:ext cx="45720" cy="475488"/>
          </a:xfrm>
          <a:prstGeom prst="rect">
            <a:avLst/>
          </a:prstGeom>
          <a:solidFill>
            <a:srgbClr val="F5A524"/>
          </a:solidFill>
          <a:ln/>
        </p:spPr>
      </p:sp>
      <p:sp>
        <p:nvSpPr>
          <p:cNvPr id="16" name="Text 13"/>
          <p:cNvSpPr txBox="1"/>
          <p:nvPr/>
        </p:nvSpPr>
        <p:spPr>
          <a:xfrm>
            <a:off x="6245352" y="2999232"/>
            <a:ext cx="5233111" cy="274320"/>
          </a:xfrm>
          <a:prstGeom prst="rect">
            <a:avLst/>
          </a:prstGeom>
          <a:noFill/>
          <a:ln/>
        </p:spPr>
        <p:txBody>
          <a:bodyPr wrap="square" lIns="0" tIns="0" rIns="0" bIns="0" rtlCol="0" anchor="t"/>
          <a:lstStyle/>
          <a:p>
            <a:pPr algn="l" indent="0" marL="0">
              <a:buNone/>
            </a:pPr>
            <a:r>
              <a:rPr lang="en-US" sz="1150" b="1" dirty="0">
                <a:solidFill>
                  <a:srgbClr val="E9EEF6"/>
                </a:solidFill>
                <a:latin typeface="Helvetica Neue" pitchFamily="34" charset="0"/>
                <a:ea typeface="Helvetica Neue" pitchFamily="34" charset="-122"/>
                <a:cs typeface="Helvetica Neue" pitchFamily="34" charset="-120"/>
              </a:rPr>
              <a:t>Row V4 — 25 human under-specifications</a:t>
            </a:r>
            <a:endParaRPr lang="en-US" sz="1150" dirty="0"/>
          </a:p>
        </p:txBody>
      </p:sp>
      <p:sp>
        <p:nvSpPr>
          <p:cNvPr id="17" name="Text 14"/>
          <p:cNvSpPr txBox="1"/>
          <p:nvPr/>
        </p:nvSpPr>
        <p:spPr>
          <a:xfrm>
            <a:off x="6245352" y="3291840"/>
            <a:ext cx="5233111" cy="548640"/>
          </a:xfrm>
          <a:prstGeom prst="rect">
            <a:avLst/>
          </a:prstGeom>
          <a:noFill/>
          <a:ln/>
        </p:spPr>
        <p:txBody>
          <a:bodyPr wrap="square" lIns="0" tIns="0" rIns="0" bIns="0" rtlCol="0" anchor="t"/>
          <a:lstStyle/>
          <a:p>
            <a:pPr algn="l" indent="0" marL="0">
              <a:lnSpc>
                <a:spcPct val="105000"/>
              </a:lnSpc>
              <a:buNone/>
            </a:pPr>
            <a:r>
              <a:rPr lang="en-US" sz="980" dirty="0">
                <a:solidFill>
                  <a:srgbClr val="C7D0DE"/>
                </a:solidFill>
                <a:latin typeface="Helvetica Neue" pitchFamily="34" charset="0"/>
                <a:ea typeface="Helvetica Neue" pitchFamily="34" charset="-122"/>
                <a:cs typeface="Helvetica Neue" pitchFamily="34" charset="-120"/>
              </a:rPr>
              <a:t>23 → V4 (recall 0.92). But the V4 column also collects 7 NONE, 13 V1, 3 V2 and 2 MIXED → precision 0.48.</a:t>
            </a:r>
            <a:endParaRPr lang="en-US" sz="980" dirty="0"/>
          </a:p>
        </p:txBody>
      </p:sp>
      <p:sp>
        <p:nvSpPr>
          <p:cNvPr id="18" name="Shape 15"/>
          <p:cNvSpPr/>
          <p:nvPr/>
        </p:nvSpPr>
        <p:spPr>
          <a:xfrm>
            <a:off x="6044184" y="3950208"/>
            <a:ext cx="5598871" cy="969264"/>
          </a:xfrm>
          <a:prstGeom prst="roundRect">
            <a:avLst>
              <a:gd name="adj" fmla="val 7547"/>
            </a:avLst>
          </a:prstGeom>
          <a:solidFill>
            <a:srgbClr val="121B2E"/>
          </a:solidFill>
          <a:ln w="9525">
            <a:solidFill>
              <a:srgbClr val="2A3752"/>
            </a:solidFill>
            <a:prstDash val="solid"/>
          </a:ln>
        </p:spPr>
      </p:sp>
      <p:sp>
        <p:nvSpPr>
          <p:cNvPr id="19" name="Shape 16"/>
          <p:cNvSpPr/>
          <p:nvPr/>
        </p:nvSpPr>
        <p:spPr>
          <a:xfrm>
            <a:off x="6044184" y="4197096"/>
            <a:ext cx="45720" cy="475488"/>
          </a:xfrm>
          <a:prstGeom prst="rect">
            <a:avLst/>
          </a:prstGeom>
          <a:solidFill>
            <a:srgbClr val="C7D0DE"/>
          </a:solidFill>
          <a:ln/>
        </p:spPr>
      </p:sp>
      <p:sp>
        <p:nvSpPr>
          <p:cNvPr id="20" name="Text 17"/>
          <p:cNvSpPr txBox="1"/>
          <p:nvPr/>
        </p:nvSpPr>
        <p:spPr>
          <a:xfrm>
            <a:off x="6245352" y="4069080"/>
            <a:ext cx="5233111" cy="274320"/>
          </a:xfrm>
          <a:prstGeom prst="rect">
            <a:avLst/>
          </a:prstGeom>
          <a:noFill/>
          <a:ln/>
        </p:spPr>
        <p:txBody>
          <a:bodyPr wrap="square" lIns="0" tIns="0" rIns="0" bIns="0" rtlCol="0" anchor="t"/>
          <a:lstStyle/>
          <a:p>
            <a:pPr algn="l" indent="0" marL="0">
              <a:buNone/>
            </a:pPr>
            <a:r>
              <a:rPr lang="en-US" sz="1150" b="1" dirty="0">
                <a:solidFill>
                  <a:srgbClr val="E9EEF6"/>
                </a:solidFill>
                <a:latin typeface="Helvetica Neue" pitchFamily="34" charset="0"/>
                <a:ea typeface="Helvetica Neue" pitchFamily="34" charset="-122"/>
                <a:cs typeface="Helvetica Neue" pitchFamily="34" charset="-120"/>
              </a:rPr>
              <a:t>MIXED column — 62 responses</a:t>
            </a:r>
            <a:endParaRPr lang="en-US" sz="1150" dirty="0"/>
          </a:p>
        </p:txBody>
      </p:sp>
      <p:sp>
        <p:nvSpPr>
          <p:cNvPr id="21" name="Text 18"/>
          <p:cNvSpPr txBox="1"/>
          <p:nvPr/>
        </p:nvSpPr>
        <p:spPr>
          <a:xfrm>
            <a:off x="6245352" y="4361688"/>
            <a:ext cx="5233111" cy="548640"/>
          </a:xfrm>
          <a:prstGeom prst="rect">
            <a:avLst/>
          </a:prstGeom>
          <a:noFill/>
          <a:ln/>
        </p:spPr>
        <p:txBody>
          <a:bodyPr wrap="square" lIns="0" tIns="0" rIns="0" bIns="0" rtlCol="0" anchor="t"/>
          <a:lstStyle/>
          <a:p>
            <a:pPr algn="l" indent="0" marL="0">
              <a:lnSpc>
                <a:spcPct val="105000"/>
              </a:lnSpc>
              <a:buNone/>
            </a:pPr>
            <a:r>
              <a:rPr lang="en-US" sz="980" dirty="0">
                <a:solidFill>
                  <a:srgbClr val="C7D0DE"/>
                </a:solidFill>
                <a:latin typeface="Helvetica Neue" pitchFamily="34" charset="0"/>
                <a:ea typeface="Helvetica Neue" pitchFamily="34" charset="-122"/>
                <a:cs typeface="Helvetica Neue" pitchFamily="34" charset="-120"/>
              </a:rPr>
              <a:t>Whenever the rules fire two classes at once the single-label comparison awards no partial credit — this depresses accuracy and recall alike.</a:t>
            </a:r>
            <a:endParaRPr lang="en-US" sz="980" dirty="0"/>
          </a:p>
        </p:txBody>
      </p:sp>
      <p:sp>
        <p:nvSpPr>
          <p:cNvPr id="22" name="Shape 19"/>
          <p:cNvSpPr/>
          <p:nvPr/>
        </p:nvSpPr>
        <p:spPr>
          <a:xfrm>
            <a:off x="6044184" y="5020056"/>
            <a:ext cx="5598871" cy="969264"/>
          </a:xfrm>
          <a:prstGeom prst="roundRect">
            <a:avLst>
              <a:gd name="adj" fmla="val 7547"/>
            </a:avLst>
          </a:prstGeom>
          <a:solidFill>
            <a:srgbClr val="121B2E"/>
          </a:solidFill>
          <a:ln w="9525">
            <a:solidFill>
              <a:srgbClr val="2A3752"/>
            </a:solidFill>
            <a:prstDash val="solid"/>
          </a:ln>
        </p:spPr>
      </p:sp>
      <p:sp>
        <p:nvSpPr>
          <p:cNvPr id="23" name="Shape 20"/>
          <p:cNvSpPr/>
          <p:nvPr/>
        </p:nvSpPr>
        <p:spPr>
          <a:xfrm>
            <a:off x="6044184" y="5266944"/>
            <a:ext cx="45720" cy="475488"/>
          </a:xfrm>
          <a:prstGeom prst="rect">
            <a:avLst/>
          </a:prstGeom>
          <a:solidFill>
            <a:srgbClr val="93A0B8"/>
          </a:solidFill>
          <a:ln/>
        </p:spPr>
      </p:sp>
      <p:sp>
        <p:nvSpPr>
          <p:cNvPr id="24" name="Text 21"/>
          <p:cNvSpPr txBox="1"/>
          <p:nvPr/>
        </p:nvSpPr>
        <p:spPr>
          <a:xfrm>
            <a:off x="6245352" y="5138928"/>
            <a:ext cx="5233111" cy="274320"/>
          </a:xfrm>
          <a:prstGeom prst="rect">
            <a:avLst/>
          </a:prstGeom>
          <a:noFill/>
          <a:ln/>
        </p:spPr>
        <p:txBody>
          <a:bodyPr wrap="square" lIns="0" tIns="0" rIns="0" bIns="0" rtlCol="0" anchor="t"/>
          <a:lstStyle/>
          <a:p>
            <a:pPr algn="l" indent="0" marL="0">
              <a:buNone/>
            </a:pPr>
            <a:r>
              <a:rPr lang="en-US" sz="1150" b="1" dirty="0">
                <a:solidFill>
                  <a:srgbClr val="E9EEF6"/>
                </a:solidFill>
                <a:latin typeface="Helvetica Neue" pitchFamily="34" charset="0"/>
                <a:ea typeface="Helvetica Neue" pitchFamily="34" charset="-122"/>
                <a:cs typeface="Helvetica Neue" pitchFamily="34" charset="-120"/>
              </a:rPr>
              <a:t>Rows V3 (2) and V5 (0)</a:t>
            </a:r>
            <a:endParaRPr lang="en-US" sz="1150" dirty="0"/>
          </a:p>
        </p:txBody>
      </p:sp>
      <p:sp>
        <p:nvSpPr>
          <p:cNvPr id="25" name="Text 22"/>
          <p:cNvSpPr txBox="1"/>
          <p:nvPr/>
        </p:nvSpPr>
        <p:spPr>
          <a:xfrm>
            <a:off x="6245352" y="5431536"/>
            <a:ext cx="5233111" cy="548640"/>
          </a:xfrm>
          <a:prstGeom prst="rect">
            <a:avLst/>
          </a:prstGeom>
          <a:noFill/>
          <a:ln/>
        </p:spPr>
        <p:txBody>
          <a:bodyPr wrap="square" lIns="0" tIns="0" rIns="0" bIns="0" rtlCol="0" anchor="t"/>
          <a:lstStyle/>
          <a:p>
            <a:pPr algn="l" indent="0" marL="0">
              <a:lnSpc>
                <a:spcPct val="105000"/>
              </a:lnSpc>
              <a:buNone/>
            </a:pPr>
            <a:r>
              <a:rPr lang="en-US" sz="980" dirty="0">
                <a:solidFill>
                  <a:srgbClr val="C7D0DE"/>
                </a:solidFill>
                <a:latin typeface="Helvetica Neue" pitchFamily="34" charset="0"/>
                <a:ea typeface="Helvetica Neue" pitchFamily="34" charset="-122"/>
                <a:cs typeface="Helvetica Neue" pitchFamily="34" charset="-120"/>
              </a:rPr>
              <a:t>Too rare in the annotated set to estimate; reported as zero rather than omitted.</a:t>
            </a:r>
            <a:endParaRPr lang="en-US" sz="98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indent="0" marL="0">
              <a:buNone/>
            </a:pPr>
            <a:r>
              <a:rPr lang="en-US" sz="1050" spc="200" kern="0" dirty="0">
                <a:solidFill>
                  <a:srgbClr val="2DD4BF"/>
                </a:solidFill>
                <a:latin typeface="Consolas" pitchFamily="34" charset="0"/>
                <a:ea typeface="Consolas" pitchFamily="34" charset="-122"/>
                <a:cs typeface="Consolas" pitchFamily="34" charset="-120"/>
              </a:rPr>
              <a:t>13 · RESULTS — STATISTICAL ASSOCIATION</a:t>
            </a:r>
            <a:endParaRPr lang="en-US" sz="1050" dirty="0"/>
          </a:p>
        </p:txBody>
      </p:sp>
      <p:sp>
        <p:nvSpPr>
          <p:cNvPr id="3" name="Text 1"/>
          <p:cNvSpPr txBox="1"/>
          <p:nvPr/>
        </p:nvSpPr>
        <p:spPr>
          <a:xfrm>
            <a:off x="548640" y="603504"/>
            <a:ext cx="11094415" cy="566928"/>
          </a:xfrm>
          <a:prstGeom prst="rect">
            <a:avLst/>
          </a:prstGeom>
          <a:noFill/>
          <a:ln/>
        </p:spPr>
        <p:txBody>
          <a:bodyPr wrap="square" lIns="0" tIns="0" rIns="0" bIns="0" rtlCol="0" anchor="t"/>
          <a:lstStyle/>
          <a:p>
            <a:pPr indent="0" marL="0">
              <a:buNone/>
            </a:pPr>
            <a:r>
              <a:rPr lang="en-US" sz="2350" b="1" dirty="0">
                <a:solidFill>
                  <a:srgbClr val="E9EEF6"/>
                </a:solidFill>
                <a:latin typeface="Helvetica Neue" pitchFamily="34" charset="0"/>
                <a:ea typeface="Helvetica Neue" pitchFamily="34" charset="-122"/>
                <a:cs typeface="Helvetica Neue" pitchFamily="34" charset="-120"/>
              </a:rPr>
              <a:t>Strong association with the model, weak with the event type</a:t>
            </a:r>
            <a:endParaRPr lang="en-US" sz="235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350" dirty="0">
                <a:solidFill>
                  <a:srgbClr val="93A0B8"/>
                </a:solidFill>
                <a:latin typeface="Helvetica Neue" pitchFamily="34" charset="0"/>
                <a:ea typeface="Helvetica Neue" pitchFamily="34" charset="-122"/>
                <a:cs typeface="Helvetica Neue" pitchFamily="34" charset="-120"/>
              </a:rPr>
              <a:t>χ² tests of independence over ReasonGuard's collapsed single-label verdicts; effect size via Cramér's V. Both tests reject independence at the 0.1 % level.</a:t>
            </a:r>
            <a:endParaRPr lang="en-US" sz="1350" dirty="0"/>
          </a:p>
        </p:txBody>
      </p:sp>
      <p:sp>
        <p:nvSpPr>
          <p:cNvPr id="5" name="Text 3"/>
          <p:cNvSpPr txBox="1"/>
          <p:nvPr/>
        </p:nvSpPr>
        <p:spPr>
          <a:xfrm>
            <a:off x="548640" y="6473952"/>
            <a:ext cx="8778240" cy="219456"/>
          </a:xfrm>
          <a:prstGeom prst="rect">
            <a:avLst/>
          </a:prstGeom>
          <a:noFill/>
          <a:ln/>
        </p:spPr>
        <p:txBody>
          <a:bodyPr wrap="square" lIns="0" tIns="0" rIns="0" bIns="0" rtlCol="0" anchor="ctr"/>
          <a:lstStyle/>
          <a:p>
            <a:pPr indent="0" marL="0">
              <a:buNone/>
            </a:pPr>
            <a:r>
              <a:rPr lang="en-US" sz="850" dirty="0">
                <a:solidFill>
                  <a:srgbClr val="5C6A85"/>
                </a:solidFill>
                <a:latin typeface="Helvetica Neue" pitchFamily="34" charset="0"/>
                <a:ea typeface="Helvetica Neue" pitchFamily="34" charset="-122"/>
                <a:cs typeface="Helvetica Neue" pitchFamily="34" charset="-120"/>
              </a:rPr>
              <a:t>ReasonGuard  ·  Runtime Verification of AI Reasoning Faithfulness  ·  R. Bilalov  ·  SRH University Hamburg / FIT VUT Brno</a:t>
            </a:r>
            <a:endParaRPr lang="en-US" sz="850" dirty="0"/>
          </a:p>
        </p:txBody>
      </p:sp>
      <p:sp>
        <p:nvSpPr>
          <p:cNvPr id="6" name="Text 4"/>
          <p:cNvSpPr txBox="1"/>
          <p:nvPr/>
        </p:nvSpPr>
        <p:spPr>
          <a:xfrm>
            <a:off x="548640" y="6272784"/>
            <a:ext cx="9997135" cy="201168"/>
          </a:xfrm>
          <a:prstGeom prst="rect">
            <a:avLst/>
          </a:prstGeom>
          <a:noFill/>
          <a:ln/>
        </p:spPr>
        <p:txBody>
          <a:bodyPr wrap="square" lIns="0" tIns="0" rIns="0" bIns="0" rtlCol="0" anchor="ctr"/>
          <a:lstStyle/>
          <a:p>
            <a:pPr indent="0" marL="0">
              <a:buNone/>
            </a:pPr>
            <a:r>
              <a:rPr lang="en-US" sz="850" i="1" dirty="0">
                <a:solidFill>
                  <a:srgbClr val="5C6A85"/>
                </a:solidFill>
                <a:latin typeface="Helvetica Neue" pitchFamily="34" charset="0"/>
                <a:ea typeface="Helvetica Neue" pitchFamily="34" charset="-122"/>
                <a:cs typeface="Helvetica Neue" pitchFamily="34" charset="-120"/>
              </a:rPr>
              <a:t>Thesis Table 4.3, Table 4.4, §4.4, §5.1. Labels tested: NONE, V1, V4, V5, MIXED (V2, V3 dropped — zero counts). Synthetic responses excluded from the model test.</a:t>
            </a:r>
            <a:endParaRPr lang="en-US" sz="850" dirty="0"/>
          </a:p>
        </p:txBody>
      </p:sp>
      <p:sp>
        <p:nvSpPr>
          <p:cNvPr id="7" name="Text 5"/>
          <p:cNvSpPr txBox="1"/>
          <p:nvPr/>
        </p:nvSpPr>
        <p:spPr>
          <a:xfrm>
            <a:off x="10545775" y="6473952"/>
            <a:ext cx="1097280" cy="219456"/>
          </a:xfrm>
          <a:prstGeom prst="rect">
            <a:avLst/>
          </a:prstGeom>
          <a:noFill/>
          <a:ln/>
        </p:spPr>
        <p:txBody>
          <a:bodyPr wrap="square" lIns="0" tIns="0" rIns="0" bIns="0" rtlCol="0" anchor="ctr"/>
          <a:lstStyle/>
          <a:p>
            <a:pPr algn="r" indent="0" marL="0">
              <a:buNone/>
            </a:pPr>
            <a:r>
              <a:rPr lang="en-US" sz="900" dirty="0">
                <a:solidFill>
                  <a:srgbClr val="5C6A85"/>
                </a:solidFill>
                <a:latin typeface="Consolas" pitchFamily="34" charset="0"/>
                <a:ea typeface="Consolas" pitchFamily="34" charset="-122"/>
                <a:cs typeface="Consolas" pitchFamily="34" charset="-120"/>
              </a:rPr>
              <a:t>14 / 18</a:t>
            </a:r>
            <a:endParaRPr lang="en-US" sz="900" dirty="0"/>
          </a:p>
        </p:txBody>
      </p:sp>
      <p:sp>
        <p:nvSpPr>
          <p:cNvPr id="8" name="Shape 6"/>
          <p:cNvSpPr/>
          <p:nvPr/>
        </p:nvSpPr>
        <p:spPr>
          <a:xfrm>
            <a:off x="548640" y="1810512"/>
            <a:ext cx="5455768" cy="1783080"/>
          </a:xfrm>
          <a:prstGeom prst="roundRect">
            <a:avLst>
              <a:gd name="adj" fmla="val 4103"/>
            </a:avLst>
          </a:prstGeom>
          <a:solidFill>
            <a:srgbClr val="121B2E"/>
          </a:solidFill>
          <a:ln w="12700">
            <a:solidFill>
              <a:srgbClr val="2DD4BF"/>
            </a:solidFill>
            <a:prstDash val="solid"/>
          </a:ln>
        </p:spPr>
      </p:sp>
      <p:sp>
        <p:nvSpPr>
          <p:cNvPr id="9" name="Text 7"/>
          <p:cNvSpPr txBox="1"/>
          <p:nvPr/>
        </p:nvSpPr>
        <p:spPr>
          <a:xfrm>
            <a:off x="749808" y="1956816"/>
            <a:ext cx="2743200" cy="219456"/>
          </a:xfrm>
          <a:prstGeom prst="rect">
            <a:avLst/>
          </a:prstGeom>
          <a:noFill/>
          <a:ln/>
        </p:spPr>
        <p:txBody>
          <a:bodyPr wrap="square" lIns="0" tIns="0" rIns="0" bIns="0" rtlCol="0" anchor="t"/>
          <a:lstStyle/>
          <a:p>
            <a:pPr algn="l" indent="0" marL="0">
              <a:buNone/>
            </a:pPr>
            <a:r>
              <a:rPr lang="en-US" sz="950" spc="100" kern="0" dirty="0">
                <a:solidFill>
                  <a:srgbClr val="2DD4BF"/>
                </a:solidFill>
                <a:latin typeface="Consolas" pitchFamily="34" charset="0"/>
                <a:ea typeface="Consolas" pitchFamily="34" charset="-122"/>
                <a:cs typeface="Consolas" pitchFamily="34" charset="-120"/>
              </a:rPr>
              <a:t>MODEL</a:t>
            </a:r>
            <a:endParaRPr lang="en-US" sz="950" dirty="0"/>
          </a:p>
        </p:txBody>
      </p:sp>
      <p:sp>
        <p:nvSpPr>
          <p:cNvPr id="10" name="Text 8"/>
          <p:cNvSpPr txBox="1"/>
          <p:nvPr/>
        </p:nvSpPr>
        <p:spPr>
          <a:xfrm>
            <a:off x="749808" y="2194560"/>
            <a:ext cx="3626968" cy="384048"/>
          </a:xfrm>
          <a:prstGeom prst="rect">
            <a:avLst/>
          </a:prstGeom>
          <a:noFill/>
          <a:ln/>
        </p:spPr>
        <p:txBody>
          <a:bodyPr wrap="square" lIns="0" tIns="0" rIns="0" bIns="0" rtlCol="0" anchor="t"/>
          <a:lstStyle/>
          <a:p>
            <a:pPr algn="l" indent="0" marL="0">
              <a:buNone/>
            </a:pPr>
            <a:r>
              <a:rPr lang="en-US" sz="1700" b="1" dirty="0">
                <a:solidFill>
                  <a:srgbClr val="E9EEF6"/>
                </a:solidFill>
                <a:latin typeface="Consolas" pitchFamily="34" charset="0"/>
                <a:ea typeface="Consolas" pitchFamily="34" charset="-122"/>
                <a:cs typeface="Consolas" pitchFamily="34" charset="-120"/>
              </a:rPr>
              <a:t>χ²(16, N = 500) = 649.05</a:t>
            </a:r>
            <a:endParaRPr lang="en-US" sz="1700" dirty="0"/>
          </a:p>
        </p:txBody>
      </p:sp>
      <p:sp>
        <p:nvSpPr>
          <p:cNvPr id="11" name="Text 9"/>
          <p:cNvSpPr txBox="1"/>
          <p:nvPr/>
        </p:nvSpPr>
        <p:spPr>
          <a:xfrm>
            <a:off x="4541368" y="2240280"/>
            <a:ext cx="1280160" cy="274320"/>
          </a:xfrm>
          <a:prstGeom prst="rect">
            <a:avLst/>
          </a:prstGeom>
          <a:noFill/>
          <a:ln/>
        </p:spPr>
        <p:txBody>
          <a:bodyPr wrap="square" lIns="0" tIns="0" rIns="0" bIns="0" rtlCol="0" anchor="t"/>
          <a:lstStyle/>
          <a:p>
            <a:pPr algn="r" indent="0" marL="0">
              <a:buNone/>
            </a:pPr>
            <a:r>
              <a:rPr lang="en-US" sz="1200" dirty="0">
                <a:solidFill>
                  <a:srgbClr val="93A0B8"/>
                </a:solidFill>
                <a:latin typeface="Consolas" pitchFamily="34" charset="0"/>
                <a:ea typeface="Consolas" pitchFamily="34" charset="-122"/>
                <a:cs typeface="Consolas" pitchFamily="34" charset="-120"/>
              </a:rPr>
              <a:t>p &lt; .001</a:t>
            </a:r>
            <a:endParaRPr lang="en-US" sz="1200" dirty="0"/>
          </a:p>
        </p:txBody>
      </p:sp>
      <p:sp>
        <p:nvSpPr>
          <p:cNvPr id="12" name="Text 10"/>
          <p:cNvSpPr txBox="1"/>
          <p:nvPr/>
        </p:nvSpPr>
        <p:spPr>
          <a:xfrm>
            <a:off x="749808" y="2688336"/>
            <a:ext cx="914400" cy="219456"/>
          </a:xfrm>
          <a:prstGeom prst="rect">
            <a:avLst/>
          </a:prstGeom>
          <a:noFill/>
          <a:ln/>
        </p:spPr>
        <p:txBody>
          <a:bodyPr wrap="square" lIns="0" tIns="0" rIns="0" bIns="0" rtlCol="0" anchor="t"/>
          <a:lstStyle/>
          <a:p>
            <a:pPr algn="l" indent="0" marL="0">
              <a:buNone/>
            </a:pPr>
            <a:r>
              <a:rPr lang="en-US" sz="900" dirty="0">
                <a:solidFill>
                  <a:srgbClr val="93A0B8"/>
                </a:solidFill>
                <a:latin typeface="Consolas" pitchFamily="34" charset="0"/>
                <a:ea typeface="Consolas" pitchFamily="34" charset="-122"/>
                <a:cs typeface="Consolas" pitchFamily="34" charset="-120"/>
              </a:rPr>
              <a:t>Cramér's V</a:t>
            </a:r>
            <a:endParaRPr lang="en-US" sz="900" dirty="0"/>
          </a:p>
        </p:txBody>
      </p:sp>
      <p:sp>
        <p:nvSpPr>
          <p:cNvPr id="13" name="Shape 11"/>
          <p:cNvSpPr/>
          <p:nvPr/>
        </p:nvSpPr>
        <p:spPr>
          <a:xfrm>
            <a:off x="1709928" y="2734056"/>
            <a:ext cx="2804008" cy="164592"/>
          </a:xfrm>
          <a:prstGeom prst="rect">
            <a:avLst/>
          </a:prstGeom>
          <a:solidFill>
            <a:srgbClr val="1F2C47"/>
          </a:solidFill>
          <a:ln/>
        </p:spPr>
      </p:sp>
      <p:sp>
        <p:nvSpPr>
          <p:cNvPr id="14" name="Shape 12"/>
          <p:cNvSpPr/>
          <p:nvPr/>
        </p:nvSpPr>
        <p:spPr>
          <a:xfrm>
            <a:off x="1709928" y="2734056"/>
            <a:ext cx="1598284" cy="164592"/>
          </a:xfrm>
          <a:prstGeom prst="rect">
            <a:avLst/>
          </a:prstGeom>
          <a:solidFill>
            <a:srgbClr val="2DD4BF"/>
          </a:solidFill>
          <a:ln/>
        </p:spPr>
      </p:sp>
      <p:sp>
        <p:nvSpPr>
          <p:cNvPr id="15" name="Shape 13"/>
          <p:cNvSpPr/>
          <p:nvPr/>
        </p:nvSpPr>
        <p:spPr>
          <a:xfrm>
            <a:off x="1990329" y="2688336"/>
            <a:ext cx="0" cy="256032"/>
          </a:xfrm>
          <a:prstGeom prst="line">
            <a:avLst/>
          </a:prstGeom>
          <a:noFill/>
          <a:ln w="6350">
            <a:solidFill>
              <a:srgbClr val="5C6A85"/>
            </a:solidFill>
            <a:prstDash val="solid"/>
          </a:ln>
        </p:spPr>
      </p:sp>
      <p:sp>
        <p:nvSpPr>
          <p:cNvPr id="16" name="Shape 14"/>
          <p:cNvSpPr/>
          <p:nvPr/>
        </p:nvSpPr>
        <p:spPr>
          <a:xfrm>
            <a:off x="2551130" y="2688336"/>
            <a:ext cx="0" cy="256032"/>
          </a:xfrm>
          <a:prstGeom prst="line">
            <a:avLst/>
          </a:prstGeom>
          <a:noFill/>
          <a:ln w="6350">
            <a:solidFill>
              <a:srgbClr val="5C6A85"/>
            </a:solidFill>
            <a:prstDash val="solid"/>
          </a:ln>
        </p:spPr>
      </p:sp>
      <p:sp>
        <p:nvSpPr>
          <p:cNvPr id="17" name="Shape 15"/>
          <p:cNvSpPr/>
          <p:nvPr/>
        </p:nvSpPr>
        <p:spPr>
          <a:xfrm>
            <a:off x="3111932" y="2688336"/>
            <a:ext cx="0" cy="256032"/>
          </a:xfrm>
          <a:prstGeom prst="line">
            <a:avLst/>
          </a:prstGeom>
          <a:noFill/>
          <a:ln w="6350">
            <a:solidFill>
              <a:srgbClr val="5C6A85"/>
            </a:solidFill>
            <a:prstDash val="solid"/>
          </a:ln>
        </p:spPr>
      </p:sp>
      <p:sp>
        <p:nvSpPr>
          <p:cNvPr id="18" name="Text 16"/>
          <p:cNvSpPr txBox="1"/>
          <p:nvPr/>
        </p:nvSpPr>
        <p:spPr>
          <a:xfrm>
            <a:off x="4623664" y="2688336"/>
            <a:ext cx="1371600" cy="256032"/>
          </a:xfrm>
          <a:prstGeom prst="rect">
            <a:avLst/>
          </a:prstGeom>
          <a:noFill/>
          <a:ln/>
        </p:spPr>
        <p:txBody>
          <a:bodyPr wrap="square" lIns="0" tIns="0" rIns="0" bIns="0" rtlCol="0" anchor="t"/>
          <a:lstStyle/>
          <a:p>
            <a:pPr algn="l" indent="0" marL="0">
              <a:buNone/>
            </a:pPr>
            <a:r>
              <a:rPr lang="en-US" sz="1100" b="1" dirty="0">
                <a:solidFill>
                  <a:srgbClr val="E9EEF6"/>
                </a:solidFill>
                <a:latin typeface="Consolas" pitchFamily="34" charset="0"/>
                <a:ea typeface="Consolas" pitchFamily="34" charset="-122"/>
                <a:cs typeface="Consolas" pitchFamily="34" charset="-120"/>
              </a:rPr>
              <a:t>0.57  (large)</a:t>
            </a:r>
            <a:endParaRPr lang="en-US" sz="1100" dirty="0"/>
          </a:p>
        </p:txBody>
      </p:sp>
      <p:sp>
        <p:nvSpPr>
          <p:cNvPr id="19" name="Text 17"/>
          <p:cNvSpPr txBox="1"/>
          <p:nvPr/>
        </p:nvSpPr>
        <p:spPr>
          <a:xfrm>
            <a:off x="749808" y="3090672"/>
            <a:ext cx="5053432" cy="548640"/>
          </a:xfrm>
          <a:prstGeom prst="rect">
            <a:avLst/>
          </a:prstGeom>
          <a:noFill/>
          <a:ln/>
        </p:spPr>
        <p:txBody>
          <a:bodyPr wrap="square" lIns="0" tIns="0" rIns="0" bIns="0" rtlCol="0" anchor="t"/>
          <a:lstStyle/>
          <a:p>
            <a:pPr algn="l" indent="0" marL="0">
              <a:lnSpc>
                <a:spcPct val="106000"/>
              </a:lnSpc>
              <a:buNone/>
            </a:pPr>
            <a:r>
              <a:rPr lang="en-US" sz="980" dirty="0">
                <a:solidFill>
                  <a:srgbClr val="C7D0DE"/>
                </a:solidFill>
                <a:latin typeface="Helvetica Neue" pitchFamily="34" charset="0"/>
                <a:ea typeface="Helvetica Neue" pitchFamily="34" charset="-122"/>
                <a:cs typeface="Helvetica Neue" pitchFamily="34" charset="-120"/>
              </a:rPr>
              <a:t>Categorical failure modes: gemini fails only through V4, gpt-4o-mini almost only through V1 — the contingency table is nearly block-structured.</a:t>
            </a:r>
            <a:endParaRPr lang="en-US" sz="980" dirty="0"/>
          </a:p>
        </p:txBody>
      </p:sp>
      <p:sp>
        <p:nvSpPr>
          <p:cNvPr id="20" name="Shape 18"/>
          <p:cNvSpPr/>
          <p:nvPr/>
        </p:nvSpPr>
        <p:spPr>
          <a:xfrm>
            <a:off x="6187288" y="1810512"/>
            <a:ext cx="5455768" cy="1783080"/>
          </a:xfrm>
          <a:prstGeom prst="roundRect">
            <a:avLst>
              <a:gd name="adj" fmla="val 4103"/>
            </a:avLst>
          </a:prstGeom>
          <a:solidFill>
            <a:srgbClr val="121B2E"/>
          </a:solidFill>
          <a:ln w="12700">
            <a:solidFill>
              <a:srgbClr val="F5A524"/>
            </a:solidFill>
            <a:prstDash val="solid"/>
          </a:ln>
        </p:spPr>
      </p:sp>
      <p:sp>
        <p:nvSpPr>
          <p:cNvPr id="21" name="Text 19"/>
          <p:cNvSpPr txBox="1"/>
          <p:nvPr/>
        </p:nvSpPr>
        <p:spPr>
          <a:xfrm>
            <a:off x="6388456" y="1956816"/>
            <a:ext cx="2743200" cy="219456"/>
          </a:xfrm>
          <a:prstGeom prst="rect">
            <a:avLst/>
          </a:prstGeom>
          <a:noFill/>
          <a:ln/>
        </p:spPr>
        <p:txBody>
          <a:bodyPr wrap="square" lIns="0" tIns="0" rIns="0" bIns="0" rtlCol="0" anchor="t"/>
          <a:lstStyle/>
          <a:p>
            <a:pPr algn="l" indent="0" marL="0">
              <a:buNone/>
            </a:pPr>
            <a:r>
              <a:rPr lang="en-US" sz="950" spc="100" kern="0" dirty="0">
                <a:solidFill>
                  <a:srgbClr val="F5A524"/>
                </a:solidFill>
                <a:latin typeface="Consolas" pitchFamily="34" charset="0"/>
                <a:ea typeface="Consolas" pitchFamily="34" charset="-122"/>
                <a:cs typeface="Consolas" pitchFamily="34" charset="-120"/>
              </a:rPr>
              <a:t>PROXY EVENT TYPE</a:t>
            </a:r>
            <a:endParaRPr lang="en-US" sz="950" dirty="0"/>
          </a:p>
        </p:txBody>
      </p:sp>
      <p:sp>
        <p:nvSpPr>
          <p:cNvPr id="22" name="Text 20"/>
          <p:cNvSpPr txBox="1"/>
          <p:nvPr/>
        </p:nvSpPr>
        <p:spPr>
          <a:xfrm>
            <a:off x="6388456" y="2194560"/>
            <a:ext cx="3626968" cy="384048"/>
          </a:xfrm>
          <a:prstGeom prst="rect">
            <a:avLst/>
          </a:prstGeom>
          <a:noFill/>
          <a:ln/>
        </p:spPr>
        <p:txBody>
          <a:bodyPr wrap="square" lIns="0" tIns="0" rIns="0" bIns="0" rtlCol="0" anchor="t"/>
          <a:lstStyle/>
          <a:p>
            <a:pPr algn="l" indent="0" marL="0">
              <a:buNone/>
            </a:pPr>
            <a:r>
              <a:rPr lang="en-US" sz="1700" b="1" dirty="0">
                <a:solidFill>
                  <a:srgbClr val="E9EEF6"/>
                </a:solidFill>
                <a:latin typeface="Consolas" pitchFamily="34" charset="0"/>
                <a:ea typeface="Consolas" pitchFamily="34" charset="-122"/>
                <a:cs typeface="Consolas" pitchFamily="34" charset="-120"/>
              </a:rPr>
              <a:t>χ²(12, N = 1,000) = 39.09</a:t>
            </a:r>
            <a:endParaRPr lang="en-US" sz="1700" dirty="0"/>
          </a:p>
        </p:txBody>
      </p:sp>
      <p:sp>
        <p:nvSpPr>
          <p:cNvPr id="23" name="Text 21"/>
          <p:cNvSpPr txBox="1"/>
          <p:nvPr/>
        </p:nvSpPr>
        <p:spPr>
          <a:xfrm>
            <a:off x="10180015" y="2240280"/>
            <a:ext cx="1280160" cy="274320"/>
          </a:xfrm>
          <a:prstGeom prst="rect">
            <a:avLst/>
          </a:prstGeom>
          <a:noFill/>
          <a:ln/>
        </p:spPr>
        <p:txBody>
          <a:bodyPr wrap="square" lIns="0" tIns="0" rIns="0" bIns="0" rtlCol="0" anchor="t"/>
          <a:lstStyle/>
          <a:p>
            <a:pPr algn="r" indent="0" marL="0">
              <a:buNone/>
            </a:pPr>
            <a:r>
              <a:rPr lang="en-US" sz="1200" dirty="0">
                <a:solidFill>
                  <a:srgbClr val="93A0B8"/>
                </a:solidFill>
                <a:latin typeface="Consolas" pitchFamily="34" charset="0"/>
                <a:ea typeface="Consolas" pitchFamily="34" charset="-122"/>
                <a:cs typeface="Consolas" pitchFamily="34" charset="-120"/>
              </a:rPr>
              <a:t>p &lt; .001</a:t>
            </a:r>
            <a:endParaRPr lang="en-US" sz="1200" dirty="0"/>
          </a:p>
        </p:txBody>
      </p:sp>
      <p:sp>
        <p:nvSpPr>
          <p:cNvPr id="24" name="Text 22"/>
          <p:cNvSpPr txBox="1"/>
          <p:nvPr/>
        </p:nvSpPr>
        <p:spPr>
          <a:xfrm>
            <a:off x="6388456" y="2688336"/>
            <a:ext cx="914400" cy="219456"/>
          </a:xfrm>
          <a:prstGeom prst="rect">
            <a:avLst/>
          </a:prstGeom>
          <a:noFill/>
          <a:ln/>
        </p:spPr>
        <p:txBody>
          <a:bodyPr wrap="square" lIns="0" tIns="0" rIns="0" bIns="0" rtlCol="0" anchor="t"/>
          <a:lstStyle/>
          <a:p>
            <a:pPr algn="l" indent="0" marL="0">
              <a:buNone/>
            </a:pPr>
            <a:r>
              <a:rPr lang="en-US" sz="900" dirty="0">
                <a:solidFill>
                  <a:srgbClr val="93A0B8"/>
                </a:solidFill>
                <a:latin typeface="Consolas" pitchFamily="34" charset="0"/>
                <a:ea typeface="Consolas" pitchFamily="34" charset="-122"/>
                <a:cs typeface="Consolas" pitchFamily="34" charset="-120"/>
              </a:rPr>
              <a:t>Cramér's V</a:t>
            </a:r>
            <a:endParaRPr lang="en-US" sz="900" dirty="0"/>
          </a:p>
        </p:txBody>
      </p:sp>
      <p:sp>
        <p:nvSpPr>
          <p:cNvPr id="25" name="Shape 23"/>
          <p:cNvSpPr/>
          <p:nvPr/>
        </p:nvSpPr>
        <p:spPr>
          <a:xfrm>
            <a:off x="7348576" y="2734056"/>
            <a:ext cx="2804008" cy="164592"/>
          </a:xfrm>
          <a:prstGeom prst="rect">
            <a:avLst/>
          </a:prstGeom>
          <a:solidFill>
            <a:srgbClr val="1F2C47"/>
          </a:solidFill>
          <a:ln/>
        </p:spPr>
      </p:sp>
      <p:sp>
        <p:nvSpPr>
          <p:cNvPr id="26" name="Shape 24"/>
          <p:cNvSpPr/>
          <p:nvPr/>
        </p:nvSpPr>
        <p:spPr>
          <a:xfrm>
            <a:off x="7348576" y="2734056"/>
            <a:ext cx="308441" cy="164592"/>
          </a:xfrm>
          <a:prstGeom prst="rect">
            <a:avLst/>
          </a:prstGeom>
          <a:solidFill>
            <a:srgbClr val="F5A524"/>
          </a:solidFill>
          <a:ln/>
        </p:spPr>
      </p:sp>
      <p:sp>
        <p:nvSpPr>
          <p:cNvPr id="27" name="Shape 25"/>
          <p:cNvSpPr/>
          <p:nvPr/>
        </p:nvSpPr>
        <p:spPr>
          <a:xfrm>
            <a:off x="7628976" y="2688336"/>
            <a:ext cx="0" cy="256032"/>
          </a:xfrm>
          <a:prstGeom prst="line">
            <a:avLst/>
          </a:prstGeom>
          <a:noFill/>
          <a:ln w="6350">
            <a:solidFill>
              <a:srgbClr val="5C6A85"/>
            </a:solidFill>
            <a:prstDash val="solid"/>
          </a:ln>
        </p:spPr>
      </p:sp>
      <p:sp>
        <p:nvSpPr>
          <p:cNvPr id="28" name="Shape 26"/>
          <p:cNvSpPr/>
          <p:nvPr/>
        </p:nvSpPr>
        <p:spPr>
          <a:xfrm>
            <a:off x="8189778" y="2688336"/>
            <a:ext cx="0" cy="256032"/>
          </a:xfrm>
          <a:prstGeom prst="line">
            <a:avLst/>
          </a:prstGeom>
          <a:noFill/>
          <a:ln w="6350">
            <a:solidFill>
              <a:srgbClr val="5C6A85"/>
            </a:solidFill>
            <a:prstDash val="solid"/>
          </a:ln>
        </p:spPr>
      </p:sp>
      <p:sp>
        <p:nvSpPr>
          <p:cNvPr id="29" name="Shape 27"/>
          <p:cNvSpPr/>
          <p:nvPr/>
        </p:nvSpPr>
        <p:spPr>
          <a:xfrm>
            <a:off x="8750579" y="2688336"/>
            <a:ext cx="0" cy="256032"/>
          </a:xfrm>
          <a:prstGeom prst="line">
            <a:avLst/>
          </a:prstGeom>
          <a:noFill/>
          <a:ln w="6350">
            <a:solidFill>
              <a:srgbClr val="5C6A85"/>
            </a:solidFill>
            <a:prstDash val="solid"/>
          </a:ln>
        </p:spPr>
      </p:sp>
      <p:sp>
        <p:nvSpPr>
          <p:cNvPr id="30" name="Text 28"/>
          <p:cNvSpPr txBox="1"/>
          <p:nvPr/>
        </p:nvSpPr>
        <p:spPr>
          <a:xfrm>
            <a:off x="10262311" y="2688336"/>
            <a:ext cx="1371600" cy="256032"/>
          </a:xfrm>
          <a:prstGeom prst="rect">
            <a:avLst/>
          </a:prstGeom>
          <a:noFill/>
          <a:ln/>
        </p:spPr>
        <p:txBody>
          <a:bodyPr wrap="square" lIns="0" tIns="0" rIns="0" bIns="0" rtlCol="0" anchor="t"/>
          <a:lstStyle/>
          <a:p>
            <a:pPr algn="l" indent="0" marL="0">
              <a:buNone/>
            </a:pPr>
            <a:r>
              <a:rPr lang="en-US" sz="1100" b="1" dirty="0">
                <a:solidFill>
                  <a:srgbClr val="E9EEF6"/>
                </a:solidFill>
                <a:latin typeface="Consolas" pitchFamily="34" charset="0"/>
                <a:ea typeface="Consolas" pitchFamily="34" charset="-122"/>
                <a:cs typeface="Consolas" pitchFamily="34" charset="-120"/>
              </a:rPr>
              <a:t>0.11  (small)</a:t>
            </a:r>
            <a:endParaRPr lang="en-US" sz="1100" dirty="0"/>
          </a:p>
        </p:txBody>
      </p:sp>
      <p:sp>
        <p:nvSpPr>
          <p:cNvPr id="31" name="Text 29"/>
          <p:cNvSpPr txBox="1"/>
          <p:nvPr/>
        </p:nvSpPr>
        <p:spPr>
          <a:xfrm>
            <a:off x="6388456" y="3090672"/>
            <a:ext cx="5053432" cy="548640"/>
          </a:xfrm>
          <a:prstGeom prst="rect">
            <a:avLst/>
          </a:prstGeom>
          <a:noFill/>
          <a:ln/>
        </p:spPr>
        <p:txBody>
          <a:bodyPr wrap="square" lIns="0" tIns="0" rIns="0" bIns="0" rtlCol="0" anchor="t"/>
          <a:lstStyle/>
          <a:p>
            <a:pPr algn="l" indent="0" marL="0">
              <a:lnSpc>
                <a:spcPct val="106000"/>
              </a:lnSpc>
              <a:buNone/>
            </a:pPr>
            <a:r>
              <a:rPr lang="en-US" sz="980" dirty="0">
                <a:solidFill>
                  <a:srgbClr val="C7D0DE"/>
                </a:solidFill>
                <a:latin typeface="Helvetica Neue" pitchFamily="34" charset="0"/>
                <a:ea typeface="Helvetica Neue" pitchFamily="34" charset="-122"/>
                <a:cs typeface="Helvetica Neue" pitchFamily="34" charset="-120"/>
              </a:rPr>
              <a:t>Event type matters, but its direction depends on the model — there is no globally “hard” event type.</a:t>
            </a:r>
            <a:endParaRPr lang="en-US" sz="980" dirty="0"/>
          </a:p>
        </p:txBody>
      </p:sp>
      <p:sp>
        <p:nvSpPr>
          <p:cNvPr id="32" name="Text 30"/>
          <p:cNvSpPr txBox="1"/>
          <p:nvPr/>
        </p:nvSpPr>
        <p:spPr>
          <a:xfrm>
            <a:off x="548640" y="3794760"/>
            <a:ext cx="7315200" cy="201168"/>
          </a:xfrm>
          <a:prstGeom prst="rect">
            <a:avLst/>
          </a:prstGeom>
          <a:noFill/>
          <a:ln/>
        </p:spPr>
        <p:txBody>
          <a:bodyPr wrap="square" lIns="0" tIns="0" rIns="0" bIns="0" rtlCol="0" anchor="t"/>
          <a:lstStyle/>
          <a:p>
            <a:pPr algn="l" indent="0" marL="0">
              <a:buNone/>
            </a:pPr>
            <a:r>
              <a:rPr lang="en-US" sz="900" spc="100" kern="0" dirty="0">
                <a:solidFill>
                  <a:srgbClr val="2DD4BF"/>
                </a:solidFill>
                <a:latin typeface="Consolas" pitchFamily="34" charset="0"/>
                <a:ea typeface="Consolas" pitchFamily="34" charset="-122"/>
                <a:cs typeface="Consolas" pitchFamily="34" charset="-120"/>
              </a:rPr>
              <a:t>CLEAN RATE PER MODEL × PROXY EVENT TYPE  (Table 4.3, clean of 25, %)</a:t>
            </a:r>
            <a:endParaRPr lang="en-US" sz="900" dirty="0"/>
          </a:p>
        </p:txBody>
      </p:sp>
      <p:sp>
        <p:nvSpPr>
          <p:cNvPr id="33" name="Text 31"/>
          <p:cNvSpPr txBox="1"/>
          <p:nvPr/>
        </p:nvSpPr>
        <p:spPr>
          <a:xfrm>
            <a:off x="2331720" y="4014216"/>
            <a:ext cx="1362456" cy="347472"/>
          </a:xfrm>
          <a:prstGeom prst="rect">
            <a:avLst/>
          </a:prstGeom>
          <a:noFill/>
          <a:ln/>
        </p:spPr>
        <p:txBody>
          <a:bodyPr wrap="square" lIns="0" tIns="0" rIns="0" bIns="0" rtlCol="0" anchor="b"/>
          <a:lstStyle/>
          <a:p>
            <a:pPr algn="ctr" indent="0" marL="0">
              <a:buNone/>
            </a:pPr>
            <a:r>
              <a:rPr lang="en-US" sz="780" dirty="0">
                <a:solidFill>
                  <a:srgbClr val="93A0B8"/>
                </a:solidFill>
                <a:latin typeface="Consolas" pitchFamily="34" charset="0"/>
                <a:ea typeface="Consolas" pitchFamily="34" charset="-122"/>
                <a:cs typeface="Consolas" pitchFamily="34" charset="-120"/>
              </a:rPr>
              <a:t>function_code_</a:t>
            </a:r>
            <a:endParaRPr lang="en-US" sz="780" dirty="0"/>
          </a:p>
          <a:p>
            <a:pPr algn="ctr" indent="0" marL="0">
              <a:buNone/>
            </a:pPr>
            <a:r>
              <a:rPr lang="en-US" sz="780" dirty="0">
                <a:solidFill>
                  <a:srgbClr val="93A0B8"/>
                </a:solidFill>
                <a:latin typeface="Consolas" pitchFamily="34" charset="0"/>
                <a:ea typeface="Consolas" pitchFamily="34" charset="-122"/>
                <a:cs typeface="Consolas" pitchFamily="34" charset="-120"/>
              </a:rPr>
              <a:t>violation</a:t>
            </a:r>
            <a:endParaRPr lang="en-US" sz="780" dirty="0"/>
          </a:p>
        </p:txBody>
      </p:sp>
      <p:sp>
        <p:nvSpPr>
          <p:cNvPr id="34" name="Text 32"/>
          <p:cNvSpPr txBox="1"/>
          <p:nvPr/>
        </p:nvSpPr>
        <p:spPr>
          <a:xfrm>
            <a:off x="3749040" y="4014216"/>
            <a:ext cx="1362456" cy="347472"/>
          </a:xfrm>
          <a:prstGeom prst="rect">
            <a:avLst/>
          </a:prstGeom>
          <a:noFill/>
          <a:ln/>
        </p:spPr>
        <p:txBody>
          <a:bodyPr wrap="square" lIns="0" tIns="0" rIns="0" bIns="0" rtlCol="0" anchor="b"/>
          <a:lstStyle/>
          <a:p>
            <a:pPr algn="ctr" indent="0" marL="0">
              <a:buNone/>
            </a:pPr>
            <a:r>
              <a:rPr lang="en-US" sz="780" dirty="0">
                <a:solidFill>
                  <a:srgbClr val="93A0B8"/>
                </a:solidFill>
                <a:latin typeface="Consolas" pitchFamily="34" charset="0"/>
                <a:ea typeface="Consolas" pitchFamily="34" charset="-122"/>
                <a:cs typeface="Consolas" pitchFamily="34" charset="-120"/>
              </a:rPr>
              <a:t>network_scan</a:t>
            </a:r>
            <a:endParaRPr lang="en-US" sz="780" dirty="0"/>
          </a:p>
        </p:txBody>
      </p:sp>
      <p:sp>
        <p:nvSpPr>
          <p:cNvPr id="35" name="Text 33"/>
          <p:cNvSpPr txBox="1"/>
          <p:nvPr/>
        </p:nvSpPr>
        <p:spPr>
          <a:xfrm>
            <a:off x="5166360" y="4014216"/>
            <a:ext cx="1362456" cy="347472"/>
          </a:xfrm>
          <a:prstGeom prst="rect">
            <a:avLst/>
          </a:prstGeom>
          <a:noFill/>
          <a:ln/>
        </p:spPr>
        <p:txBody>
          <a:bodyPr wrap="square" lIns="0" tIns="0" rIns="0" bIns="0" rtlCol="0" anchor="b"/>
          <a:lstStyle/>
          <a:p>
            <a:pPr algn="ctr" indent="0" marL="0">
              <a:buNone/>
            </a:pPr>
            <a:r>
              <a:rPr lang="en-US" sz="780" dirty="0">
                <a:solidFill>
                  <a:srgbClr val="93A0B8"/>
                </a:solidFill>
                <a:latin typeface="Consolas" pitchFamily="34" charset="0"/>
                <a:ea typeface="Consolas" pitchFamily="34" charset="-122"/>
                <a:cs typeface="Consolas" pitchFamily="34" charset="-120"/>
              </a:rPr>
              <a:t>normal_modbus_</a:t>
            </a:r>
            <a:endParaRPr lang="en-US" sz="780" dirty="0"/>
          </a:p>
          <a:p>
            <a:pPr algn="ctr" indent="0" marL="0">
              <a:buNone/>
            </a:pPr>
            <a:r>
              <a:rPr lang="en-US" sz="780" dirty="0">
                <a:solidFill>
                  <a:srgbClr val="93A0B8"/>
                </a:solidFill>
                <a:latin typeface="Consolas" pitchFamily="34" charset="0"/>
                <a:ea typeface="Consolas" pitchFamily="34" charset="-122"/>
                <a:cs typeface="Consolas" pitchFamily="34" charset="-120"/>
              </a:rPr>
              <a:t>polling</a:t>
            </a:r>
            <a:endParaRPr lang="en-US" sz="780" dirty="0"/>
          </a:p>
        </p:txBody>
      </p:sp>
      <p:sp>
        <p:nvSpPr>
          <p:cNvPr id="36" name="Text 34"/>
          <p:cNvSpPr txBox="1"/>
          <p:nvPr/>
        </p:nvSpPr>
        <p:spPr>
          <a:xfrm>
            <a:off x="6583680" y="4014216"/>
            <a:ext cx="1362456" cy="347472"/>
          </a:xfrm>
          <a:prstGeom prst="rect">
            <a:avLst/>
          </a:prstGeom>
          <a:noFill/>
          <a:ln/>
        </p:spPr>
        <p:txBody>
          <a:bodyPr wrap="square" lIns="0" tIns="0" rIns="0" bIns="0" rtlCol="0" anchor="b"/>
          <a:lstStyle/>
          <a:p>
            <a:pPr algn="ctr" indent="0" marL="0">
              <a:buNone/>
            </a:pPr>
            <a:r>
              <a:rPr lang="en-US" sz="780" dirty="0">
                <a:solidFill>
                  <a:srgbClr val="93A0B8"/>
                </a:solidFill>
                <a:latin typeface="Consolas" pitchFamily="34" charset="0"/>
                <a:ea typeface="Consolas" pitchFamily="34" charset="-122"/>
                <a:cs typeface="Consolas" pitchFamily="34" charset="-120"/>
              </a:rPr>
              <a:t>topology_change</a:t>
            </a:r>
            <a:endParaRPr lang="en-US" sz="780" dirty="0"/>
          </a:p>
        </p:txBody>
      </p:sp>
      <p:sp>
        <p:nvSpPr>
          <p:cNvPr id="37" name="Text 35"/>
          <p:cNvSpPr txBox="1"/>
          <p:nvPr/>
        </p:nvSpPr>
        <p:spPr>
          <a:xfrm>
            <a:off x="548640" y="4416552"/>
            <a:ext cx="1783080" cy="292608"/>
          </a:xfrm>
          <a:prstGeom prst="rect">
            <a:avLst/>
          </a:prstGeom>
          <a:noFill/>
          <a:ln/>
        </p:spPr>
        <p:txBody>
          <a:bodyPr wrap="square" lIns="0" tIns="0" rIns="0" bIns="0" rtlCol="0" anchor="ctr"/>
          <a:lstStyle/>
          <a:p>
            <a:pPr algn="l" indent="0" marL="0">
              <a:buNone/>
            </a:pPr>
            <a:r>
              <a:rPr lang="en-US" sz="1000" dirty="0">
                <a:solidFill>
                  <a:srgbClr val="E9EEF6"/>
                </a:solidFill>
                <a:latin typeface="Helvetica Neue" pitchFamily="34" charset="0"/>
                <a:ea typeface="Helvetica Neue" pitchFamily="34" charset="-122"/>
                <a:cs typeface="Helvetica Neue" pitchFamily="34" charset="-120"/>
              </a:rPr>
              <a:t>llama3.1:8b</a:t>
            </a:r>
            <a:endParaRPr lang="en-US" sz="1000" dirty="0"/>
          </a:p>
        </p:txBody>
      </p:sp>
      <p:sp>
        <p:nvSpPr>
          <p:cNvPr id="38" name="Shape 36"/>
          <p:cNvSpPr/>
          <p:nvPr/>
        </p:nvSpPr>
        <p:spPr>
          <a:xfrm>
            <a:off x="2359152" y="4416552"/>
            <a:ext cx="1335024" cy="292608"/>
          </a:xfrm>
          <a:prstGeom prst="rect">
            <a:avLst/>
          </a:prstGeom>
          <a:solidFill>
            <a:srgbClr val="164E49"/>
          </a:solidFill>
          <a:ln w="6350">
            <a:solidFill>
              <a:srgbClr val="16605A"/>
            </a:solidFill>
            <a:prstDash val="solid"/>
          </a:ln>
        </p:spPr>
      </p:sp>
      <p:sp>
        <p:nvSpPr>
          <p:cNvPr id="39" name="Text 37"/>
          <p:cNvSpPr txBox="1"/>
          <p:nvPr/>
        </p:nvSpPr>
        <p:spPr>
          <a:xfrm>
            <a:off x="2359152" y="4416552"/>
            <a:ext cx="1335024" cy="292608"/>
          </a:xfrm>
          <a:prstGeom prst="rect">
            <a:avLst/>
          </a:prstGeom>
          <a:noFill/>
          <a:ln/>
        </p:spPr>
        <p:txBody>
          <a:bodyPr wrap="square" lIns="0" tIns="0" rIns="0" bIns="0" rtlCol="0" anchor="ctr"/>
          <a:lstStyle/>
          <a:p>
            <a:pPr algn="ctr" indent="0" marL="0">
              <a:buNone/>
            </a:pPr>
            <a:r>
              <a:rPr lang="en-US" sz="1050" b="1" dirty="0">
                <a:solidFill>
                  <a:srgbClr val="E9EEF6"/>
                </a:solidFill>
                <a:latin typeface="Consolas" pitchFamily="34" charset="0"/>
                <a:ea typeface="Consolas" pitchFamily="34" charset="-122"/>
                <a:cs typeface="Consolas" pitchFamily="34" charset="-120"/>
              </a:rPr>
              <a:t>44</a:t>
            </a:r>
            <a:endParaRPr lang="en-US" sz="1050" dirty="0"/>
          </a:p>
        </p:txBody>
      </p:sp>
      <p:sp>
        <p:nvSpPr>
          <p:cNvPr id="40" name="Shape 38"/>
          <p:cNvSpPr/>
          <p:nvPr/>
        </p:nvSpPr>
        <p:spPr>
          <a:xfrm>
            <a:off x="3776472" y="4416552"/>
            <a:ext cx="1335024" cy="292608"/>
          </a:xfrm>
          <a:prstGeom prst="rect">
            <a:avLst/>
          </a:prstGeom>
          <a:solidFill>
            <a:srgbClr val="1B6F66"/>
          </a:solidFill>
          <a:ln w="6350">
            <a:solidFill>
              <a:srgbClr val="16605A"/>
            </a:solidFill>
            <a:prstDash val="solid"/>
          </a:ln>
        </p:spPr>
      </p:sp>
      <p:sp>
        <p:nvSpPr>
          <p:cNvPr id="41" name="Text 39"/>
          <p:cNvSpPr txBox="1"/>
          <p:nvPr/>
        </p:nvSpPr>
        <p:spPr>
          <a:xfrm>
            <a:off x="3776472" y="4416552"/>
            <a:ext cx="1335024" cy="292608"/>
          </a:xfrm>
          <a:prstGeom prst="rect">
            <a:avLst/>
          </a:prstGeom>
          <a:noFill/>
          <a:ln/>
        </p:spPr>
        <p:txBody>
          <a:bodyPr wrap="square" lIns="0" tIns="0" rIns="0" bIns="0" rtlCol="0" anchor="ctr"/>
          <a:lstStyle/>
          <a:p>
            <a:pPr algn="ctr" indent="0" marL="0">
              <a:buNone/>
            </a:pPr>
            <a:r>
              <a:rPr lang="en-US" sz="1050" b="1" dirty="0">
                <a:solidFill>
                  <a:srgbClr val="E9EEF6"/>
                </a:solidFill>
                <a:latin typeface="Consolas" pitchFamily="34" charset="0"/>
                <a:ea typeface="Consolas" pitchFamily="34" charset="-122"/>
                <a:cs typeface="Consolas" pitchFamily="34" charset="-120"/>
              </a:rPr>
              <a:t>84</a:t>
            </a:r>
            <a:endParaRPr lang="en-US" sz="1050" dirty="0"/>
          </a:p>
        </p:txBody>
      </p:sp>
      <p:sp>
        <p:nvSpPr>
          <p:cNvPr id="42" name="Shape 40"/>
          <p:cNvSpPr/>
          <p:nvPr/>
        </p:nvSpPr>
        <p:spPr>
          <a:xfrm>
            <a:off x="5193792" y="4416552"/>
            <a:ext cx="1335024" cy="292608"/>
          </a:xfrm>
          <a:prstGeom prst="rect">
            <a:avLst/>
          </a:prstGeom>
          <a:solidFill>
            <a:srgbClr val="164E49"/>
          </a:solidFill>
          <a:ln w="6350">
            <a:solidFill>
              <a:srgbClr val="16605A"/>
            </a:solidFill>
            <a:prstDash val="solid"/>
          </a:ln>
        </p:spPr>
      </p:sp>
      <p:sp>
        <p:nvSpPr>
          <p:cNvPr id="43" name="Text 41"/>
          <p:cNvSpPr txBox="1"/>
          <p:nvPr/>
        </p:nvSpPr>
        <p:spPr>
          <a:xfrm>
            <a:off x="5193792" y="4416552"/>
            <a:ext cx="1335024" cy="292608"/>
          </a:xfrm>
          <a:prstGeom prst="rect">
            <a:avLst/>
          </a:prstGeom>
          <a:noFill/>
          <a:ln/>
        </p:spPr>
        <p:txBody>
          <a:bodyPr wrap="square" lIns="0" tIns="0" rIns="0" bIns="0" rtlCol="0" anchor="ctr"/>
          <a:lstStyle/>
          <a:p>
            <a:pPr algn="ctr" indent="0" marL="0">
              <a:buNone/>
            </a:pPr>
            <a:r>
              <a:rPr lang="en-US" sz="1050" b="1" dirty="0">
                <a:solidFill>
                  <a:srgbClr val="E9EEF6"/>
                </a:solidFill>
                <a:latin typeface="Consolas" pitchFamily="34" charset="0"/>
                <a:ea typeface="Consolas" pitchFamily="34" charset="-122"/>
                <a:cs typeface="Consolas" pitchFamily="34" charset="-120"/>
              </a:rPr>
              <a:t>56</a:t>
            </a:r>
            <a:endParaRPr lang="en-US" sz="1050" dirty="0"/>
          </a:p>
        </p:txBody>
      </p:sp>
      <p:sp>
        <p:nvSpPr>
          <p:cNvPr id="44" name="Shape 42"/>
          <p:cNvSpPr/>
          <p:nvPr/>
        </p:nvSpPr>
        <p:spPr>
          <a:xfrm>
            <a:off x="6611112" y="4416552"/>
            <a:ext cx="1335024" cy="292608"/>
          </a:xfrm>
          <a:prstGeom prst="rect">
            <a:avLst/>
          </a:prstGeom>
          <a:solidFill>
            <a:srgbClr val="1B6F66"/>
          </a:solidFill>
          <a:ln w="6350">
            <a:solidFill>
              <a:srgbClr val="16605A"/>
            </a:solidFill>
            <a:prstDash val="solid"/>
          </a:ln>
        </p:spPr>
      </p:sp>
      <p:sp>
        <p:nvSpPr>
          <p:cNvPr id="45" name="Text 43"/>
          <p:cNvSpPr txBox="1"/>
          <p:nvPr/>
        </p:nvSpPr>
        <p:spPr>
          <a:xfrm>
            <a:off x="6611112" y="4416552"/>
            <a:ext cx="1335024" cy="292608"/>
          </a:xfrm>
          <a:prstGeom prst="rect">
            <a:avLst/>
          </a:prstGeom>
          <a:noFill/>
          <a:ln/>
        </p:spPr>
        <p:txBody>
          <a:bodyPr wrap="square" lIns="0" tIns="0" rIns="0" bIns="0" rtlCol="0" anchor="ctr"/>
          <a:lstStyle/>
          <a:p>
            <a:pPr algn="ctr" indent="0" marL="0">
              <a:buNone/>
            </a:pPr>
            <a:r>
              <a:rPr lang="en-US" sz="1050" b="1" dirty="0">
                <a:solidFill>
                  <a:srgbClr val="E9EEF6"/>
                </a:solidFill>
                <a:latin typeface="Consolas" pitchFamily="34" charset="0"/>
                <a:ea typeface="Consolas" pitchFamily="34" charset="-122"/>
                <a:cs typeface="Consolas" pitchFamily="34" charset="-120"/>
              </a:rPr>
              <a:t>68</a:t>
            </a:r>
            <a:endParaRPr lang="en-US" sz="1050" dirty="0"/>
          </a:p>
        </p:txBody>
      </p:sp>
      <p:sp>
        <p:nvSpPr>
          <p:cNvPr id="46" name="Text 44"/>
          <p:cNvSpPr txBox="1"/>
          <p:nvPr/>
        </p:nvSpPr>
        <p:spPr>
          <a:xfrm>
            <a:off x="548640" y="4745736"/>
            <a:ext cx="1783080" cy="292608"/>
          </a:xfrm>
          <a:prstGeom prst="rect">
            <a:avLst/>
          </a:prstGeom>
          <a:noFill/>
          <a:ln/>
        </p:spPr>
        <p:txBody>
          <a:bodyPr wrap="square" lIns="0" tIns="0" rIns="0" bIns="0" rtlCol="0" anchor="ctr"/>
          <a:lstStyle/>
          <a:p>
            <a:pPr algn="l" indent="0" marL="0">
              <a:buNone/>
            </a:pPr>
            <a:r>
              <a:rPr lang="en-US" sz="1000" dirty="0">
                <a:solidFill>
                  <a:srgbClr val="E9EEF6"/>
                </a:solidFill>
                <a:latin typeface="Helvetica Neue" pitchFamily="34" charset="0"/>
                <a:ea typeface="Helvetica Neue" pitchFamily="34" charset="-122"/>
                <a:cs typeface="Helvetica Neue" pitchFamily="34" charset="-120"/>
              </a:rPr>
              <a:t>mistral:7b</a:t>
            </a:r>
            <a:endParaRPr lang="en-US" sz="1000" dirty="0"/>
          </a:p>
        </p:txBody>
      </p:sp>
      <p:sp>
        <p:nvSpPr>
          <p:cNvPr id="47" name="Shape 45"/>
          <p:cNvSpPr/>
          <p:nvPr/>
        </p:nvSpPr>
        <p:spPr>
          <a:xfrm>
            <a:off x="2359152" y="4745736"/>
            <a:ext cx="1335024" cy="292608"/>
          </a:xfrm>
          <a:prstGeom prst="rect">
            <a:avLst/>
          </a:prstGeom>
          <a:solidFill>
            <a:srgbClr val="123A37"/>
          </a:solidFill>
          <a:ln w="6350">
            <a:solidFill>
              <a:srgbClr val="16605A"/>
            </a:solidFill>
            <a:prstDash val="solid"/>
          </a:ln>
        </p:spPr>
      </p:sp>
      <p:sp>
        <p:nvSpPr>
          <p:cNvPr id="48" name="Text 46"/>
          <p:cNvSpPr txBox="1"/>
          <p:nvPr/>
        </p:nvSpPr>
        <p:spPr>
          <a:xfrm>
            <a:off x="2359152" y="4745736"/>
            <a:ext cx="1335024" cy="292608"/>
          </a:xfrm>
          <a:prstGeom prst="rect">
            <a:avLst/>
          </a:prstGeom>
          <a:noFill/>
          <a:ln/>
        </p:spPr>
        <p:txBody>
          <a:bodyPr wrap="square" lIns="0" tIns="0" rIns="0" bIns="0" rtlCol="0" anchor="ctr"/>
          <a:lstStyle/>
          <a:p>
            <a:pPr algn="ctr" indent="0" marL="0">
              <a:buNone/>
            </a:pPr>
            <a:r>
              <a:rPr lang="en-US" sz="1050" b="1" dirty="0">
                <a:solidFill>
                  <a:srgbClr val="E9EEF6"/>
                </a:solidFill>
                <a:latin typeface="Consolas" pitchFamily="34" charset="0"/>
                <a:ea typeface="Consolas" pitchFamily="34" charset="-122"/>
                <a:cs typeface="Consolas" pitchFamily="34" charset="-120"/>
              </a:rPr>
              <a:t>20</a:t>
            </a:r>
            <a:endParaRPr lang="en-US" sz="1050" dirty="0"/>
          </a:p>
        </p:txBody>
      </p:sp>
      <p:sp>
        <p:nvSpPr>
          <p:cNvPr id="49" name="Shape 47"/>
          <p:cNvSpPr/>
          <p:nvPr/>
        </p:nvSpPr>
        <p:spPr>
          <a:xfrm>
            <a:off x="3776472" y="4745736"/>
            <a:ext cx="1335024" cy="292608"/>
          </a:xfrm>
          <a:prstGeom prst="rect">
            <a:avLst/>
          </a:prstGeom>
          <a:solidFill>
            <a:srgbClr val="123A37"/>
          </a:solidFill>
          <a:ln w="6350">
            <a:solidFill>
              <a:srgbClr val="16605A"/>
            </a:solidFill>
            <a:prstDash val="solid"/>
          </a:ln>
        </p:spPr>
      </p:sp>
      <p:sp>
        <p:nvSpPr>
          <p:cNvPr id="50" name="Text 48"/>
          <p:cNvSpPr txBox="1"/>
          <p:nvPr/>
        </p:nvSpPr>
        <p:spPr>
          <a:xfrm>
            <a:off x="3776472" y="4745736"/>
            <a:ext cx="1335024" cy="292608"/>
          </a:xfrm>
          <a:prstGeom prst="rect">
            <a:avLst/>
          </a:prstGeom>
          <a:noFill/>
          <a:ln/>
        </p:spPr>
        <p:txBody>
          <a:bodyPr wrap="square" lIns="0" tIns="0" rIns="0" bIns="0" rtlCol="0" anchor="ctr"/>
          <a:lstStyle/>
          <a:p>
            <a:pPr algn="ctr" indent="0" marL="0">
              <a:buNone/>
            </a:pPr>
            <a:r>
              <a:rPr lang="en-US" sz="1050" b="1" dirty="0">
                <a:solidFill>
                  <a:srgbClr val="E9EEF6"/>
                </a:solidFill>
                <a:latin typeface="Consolas" pitchFamily="34" charset="0"/>
                <a:ea typeface="Consolas" pitchFamily="34" charset="-122"/>
                <a:cs typeface="Consolas" pitchFamily="34" charset="-120"/>
              </a:rPr>
              <a:t>24</a:t>
            </a:r>
            <a:endParaRPr lang="en-US" sz="1050" dirty="0"/>
          </a:p>
        </p:txBody>
      </p:sp>
      <p:sp>
        <p:nvSpPr>
          <p:cNvPr id="51" name="Shape 49"/>
          <p:cNvSpPr/>
          <p:nvPr/>
        </p:nvSpPr>
        <p:spPr>
          <a:xfrm>
            <a:off x="5193792" y="4745736"/>
            <a:ext cx="1335024" cy="292608"/>
          </a:xfrm>
          <a:prstGeom prst="rect">
            <a:avLst/>
          </a:prstGeom>
          <a:solidFill>
            <a:srgbClr val="123A37"/>
          </a:solidFill>
          <a:ln w="6350">
            <a:solidFill>
              <a:srgbClr val="16605A"/>
            </a:solidFill>
            <a:prstDash val="solid"/>
          </a:ln>
        </p:spPr>
      </p:sp>
      <p:sp>
        <p:nvSpPr>
          <p:cNvPr id="52" name="Text 50"/>
          <p:cNvSpPr txBox="1"/>
          <p:nvPr/>
        </p:nvSpPr>
        <p:spPr>
          <a:xfrm>
            <a:off x="5193792" y="4745736"/>
            <a:ext cx="1335024" cy="292608"/>
          </a:xfrm>
          <a:prstGeom prst="rect">
            <a:avLst/>
          </a:prstGeom>
          <a:noFill/>
          <a:ln/>
        </p:spPr>
        <p:txBody>
          <a:bodyPr wrap="square" lIns="0" tIns="0" rIns="0" bIns="0" rtlCol="0" anchor="ctr"/>
          <a:lstStyle/>
          <a:p>
            <a:pPr algn="ctr" indent="0" marL="0">
              <a:buNone/>
            </a:pPr>
            <a:r>
              <a:rPr lang="en-US" sz="1050" b="1" dirty="0">
                <a:solidFill>
                  <a:srgbClr val="E9EEF6"/>
                </a:solidFill>
                <a:latin typeface="Consolas" pitchFamily="34" charset="0"/>
                <a:ea typeface="Consolas" pitchFamily="34" charset="-122"/>
                <a:cs typeface="Consolas" pitchFamily="34" charset="-120"/>
              </a:rPr>
              <a:t>32</a:t>
            </a:r>
            <a:endParaRPr lang="en-US" sz="1050" dirty="0"/>
          </a:p>
        </p:txBody>
      </p:sp>
      <p:sp>
        <p:nvSpPr>
          <p:cNvPr id="53" name="Shape 51"/>
          <p:cNvSpPr/>
          <p:nvPr/>
        </p:nvSpPr>
        <p:spPr>
          <a:xfrm>
            <a:off x="6611112" y="4745736"/>
            <a:ext cx="1335024" cy="292608"/>
          </a:xfrm>
          <a:prstGeom prst="rect">
            <a:avLst/>
          </a:prstGeom>
          <a:solidFill>
            <a:srgbClr val="164E49"/>
          </a:solidFill>
          <a:ln w="6350">
            <a:solidFill>
              <a:srgbClr val="16605A"/>
            </a:solidFill>
            <a:prstDash val="solid"/>
          </a:ln>
        </p:spPr>
      </p:sp>
      <p:sp>
        <p:nvSpPr>
          <p:cNvPr id="54" name="Text 52"/>
          <p:cNvSpPr txBox="1"/>
          <p:nvPr/>
        </p:nvSpPr>
        <p:spPr>
          <a:xfrm>
            <a:off x="6611112" y="4745736"/>
            <a:ext cx="1335024" cy="292608"/>
          </a:xfrm>
          <a:prstGeom prst="rect">
            <a:avLst/>
          </a:prstGeom>
          <a:noFill/>
          <a:ln/>
        </p:spPr>
        <p:txBody>
          <a:bodyPr wrap="square" lIns="0" tIns="0" rIns="0" bIns="0" rtlCol="0" anchor="ctr"/>
          <a:lstStyle/>
          <a:p>
            <a:pPr algn="ctr" indent="0" marL="0">
              <a:buNone/>
            </a:pPr>
            <a:r>
              <a:rPr lang="en-US" sz="1050" b="1" dirty="0">
                <a:solidFill>
                  <a:srgbClr val="E9EEF6"/>
                </a:solidFill>
                <a:latin typeface="Consolas" pitchFamily="34" charset="0"/>
                <a:ea typeface="Consolas" pitchFamily="34" charset="-122"/>
                <a:cs typeface="Consolas" pitchFamily="34" charset="-120"/>
              </a:rPr>
              <a:t>56</a:t>
            </a:r>
            <a:endParaRPr lang="en-US" sz="1050" dirty="0"/>
          </a:p>
        </p:txBody>
      </p:sp>
      <p:sp>
        <p:nvSpPr>
          <p:cNvPr id="55" name="Text 53"/>
          <p:cNvSpPr txBox="1"/>
          <p:nvPr/>
        </p:nvSpPr>
        <p:spPr>
          <a:xfrm>
            <a:off x="548640" y="5074920"/>
            <a:ext cx="1783080" cy="292608"/>
          </a:xfrm>
          <a:prstGeom prst="rect">
            <a:avLst/>
          </a:prstGeom>
          <a:noFill/>
          <a:ln/>
        </p:spPr>
        <p:txBody>
          <a:bodyPr wrap="square" lIns="0" tIns="0" rIns="0" bIns="0" rtlCol="0" anchor="ctr"/>
          <a:lstStyle/>
          <a:p>
            <a:pPr algn="l" indent="0" marL="0">
              <a:buNone/>
            </a:pPr>
            <a:r>
              <a:rPr lang="en-US" sz="1000" dirty="0">
                <a:solidFill>
                  <a:srgbClr val="E9EEF6"/>
                </a:solidFill>
                <a:latin typeface="Helvetica Neue" pitchFamily="34" charset="0"/>
                <a:ea typeface="Helvetica Neue" pitchFamily="34" charset="-122"/>
                <a:cs typeface="Helvetica Neue" pitchFamily="34" charset="-120"/>
              </a:rPr>
              <a:t>phi3:mini</a:t>
            </a:r>
            <a:endParaRPr lang="en-US" sz="1000" dirty="0"/>
          </a:p>
        </p:txBody>
      </p:sp>
      <p:sp>
        <p:nvSpPr>
          <p:cNvPr id="56" name="Shape 54"/>
          <p:cNvSpPr/>
          <p:nvPr/>
        </p:nvSpPr>
        <p:spPr>
          <a:xfrm>
            <a:off x="2359152" y="5074920"/>
            <a:ext cx="1335024" cy="292608"/>
          </a:xfrm>
          <a:prstGeom prst="rect">
            <a:avLst/>
          </a:prstGeom>
          <a:solidFill>
            <a:srgbClr val="10302E"/>
          </a:solidFill>
          <a:ln w="6350">
            <a:solidFill>
              <a:srgbClr val="16605A"/>
            </a:solidFill>
            <a:prstDash val="solid"/>
          </a:ln>
        </p:spPr>
      </p:sp>
      <p:sp>
        <p:nvSpPr>
          <p:cNvPr id="57" name="Text 55"/>
          <p:cNvSpPr txBox="1"/>
          <p:nvPr/>
        </p:nvSpPr>
        <p:spPr>
          <a:xfrm>
            <a:off x="2359152" y="5074920"/>
            <a:ext cx="1335024" cy="292608"/>
          </a:xfrm>
          <a:prstGeom prst="rect">
            <a:avLst/>
          </a:prstGeom>
          <a:noFill/>
          <a:ln/>
        </p:spPr>
        <p:txBody>
          <a:bodyPr wrap="square" lIns="0" tIns="0" rIns="0" bIns="0" rtlCol="0" anchor="ctr"/>
          <a:lstStyle/>
          <a:p>
            <a:pPr algn="ctr" indent="0" marL="0">
              <a:buNone/>
            </a:pPr>
            <a:r>
              <a:rPr lang="en-US" sz="1050" b="1" dirty="0">
                <a:solidFill>
                  <a:srgbClr val="E9EEF6"/>
                </a:solidFill>
                <a:latin typeface="Consolas" pitchFamily="34" charset="0"/>
                <a:ea typeface="Consolas" pitchFamily="34" charset="-122"/>
                <a:cs typeface="Consolas" pitchFamily="34" charset="-120"/>
              </a:rPr>
              <a:t>4</a:t>
            </a:r>
            <a:endParaRPr lang="en-US" sz="1050" dirty="0"/>
          </a:p>
        </p:txBody>
      </p:sp>
      <p:sp>
        <p:nvSpPr>
          <p:cNvPr id="58" name="Shape 56"/>
          <p:cNvSpPr/>
          <p:nvPr/>
        </p:nvSpPr>
        <p:spPr>
          <a:xfrm>
            <a:off x="3776472" y="5074920"/>
            <a:ext cx="1335024" cy="292608"/>
          </a:xfrm>
          <a:prstGeom prst="rect">
            <a:avLst/>
          </a:prstGeom>
          <a:solidFill>
            <a:srgbClr val="18233A"/>
          </a:solidFill>
          <a:ln w="6350">
            <a:solidFill>
              <a:srgbClr val="1E2A42"/>
            </a:solidFill>
            <a:prstDash val="solid"/>
          </a:ln>
        </p:spPr>
      </p:sp>
      <p:sp>
        <p:nvSpPr>
          <p:cNvPr id="59" name="Text 57"/>
          <p:cNvSpPr txBox="1"/>
          <p:nvPr/>
        </p:nvSpPr>
        <p:spPr>
          <a:xfrm>
            <a:off x="3776472" y="5074920"/>
            <a:ext cx="1335024" cy="292608"/>
          </a:xfrm>
          <a:prstGeom prst="rect">
            <a:avLst/>
          </a:prstGeom>
          <a:noFill/>
          <a:ln/>
        </p:spPr>
        <p:txBody>
          <a:bodyPr wrap="square" lIns="0" tIns="0" rIns="0" bIns="0" rtlCol="0" anchor="ctr"/>
          <a:lstStyle/>
          <a:p>
            <a:pPr algn="ctr" indent="0" marL="0">
              <a:buNone/>
            </a:pPr>
            <a:r>
              <a:rPr lang="en-US" sz="1050" dirty="0">
                <a:solidFill>
                  <a:srgbClr val="5C6A85"/>
                </a:solidFill>
                <a:latin typeface="Consolas" pitchFamily="34" charset="0"/>
                <a:ea typeface="Consolas" pitchFamily="34" charset="-122"/>
                <a:cs typeface="Consolas" pitchFamily="34" charset="-120"/>
              </a:rPr>
              <a:t>0</a:t>
            </a:r>
            <a:endParaRPr lang="en-US" sz="1050" dirty="0"/>
          </a:p>
        </p:txBody>
      </p:sp>
      <p:sp>
        <p:nvSpPr>
          <p:cNvPr id="60" name="Shape 58"/>
          <p:cNvSpPr/>
          <p:nvPr/>
        </p:nvSpPr>
        <p:spPr>
          <a:xfrm>
            <a:off x="5193792" y="5074920"/>
            <a:ext cx="1335024" cy="292608"/>
          </a:xfrm>
          <a:prstGeom prst="rect">
            <a:avLst/>
          </a:prstGeom>
          <a:solidFill>
            <a:srgbClr val="18233A"/>
          </a:solidFill>
          <a:ln w="6350">
            <a:solidFill>
              <a:srgbClr val="1E2A42"/>
            </a:solidFill>
            <a:prstDash val="solid"/>
          </a:ln>
        </p:spPr>
      </p:sp>
      <p:sp>
        <p:nvSpPr>
          <p:cNvPr id="61" name="Text 59"/>
          <p:cNvSpPr txBox="1"/>
          <p:nvPr/>
        </p:nvSpPr>
        <p:spPr>
          <a:xfrm>
            <a:off x="5193792" y="5074920"/>
            <a:ext cx="1335024" cy="292608"/>
          </a:xfrm>
          <a:prstGeom prst="rect">
            <a:avLst/>
          </a:prstGeom>
          <a:noFill/>
          <a:ln/>
        </p:spPr>
        <p:txBody>
          <a:bodyPr wrap="square" lIns="0" tIns="0" rIns="0" bIns="0" rtlCol="0" anchor="ctr"/>
          <a:lstStyle/>
          <a:p>
            <a:pPr algn="ctr" indent="0" marL="0">
              <a:buNone/>
            </a:pPr>
            <a:r>
              <a:rPr lang="en-US" sz="1050" dirty="0">
                <a:solidFill>
                  <a:srgbClr val="5C6A85"/>
                </a:solidFill>
                <a:latin typeface="Consolas" pitchFamily="34" charset="0"/>
                <a:ea typeface="Consolas" pitchFamily="34" charset="-122"/>
                <a:cs typeface="Consolas" pitchFamily="34" charset="-120"/>
              </a:rPr>
              <a:t>0</a:t>
            </a:r>
            <a:endParaRPr lang="en-US" sz="1050" dirty="0"/>
          </a:p>
        </p:txBody>
      </p:sp>
      <p:sp>
        <p:nvSpPr>
          <p:cNvPr id="62" name="Shape 60"/>
          <p:cNvSpPr/>
          <p:nvPr/>
        </p:nvSpPr>
        <p:spPr>
          <a:xfrm>
            <a:off x="6611112" y="5074920"/>
            <a:ext cx="1335024" cy="292608"/>
          </a:xfrm>
          <a:prstGeom prst="rect">
            <a:avLst/>
          </a:prstGeom>
          <a:solidFill>
            <a:srgbClr val="10302E"/>
          </a:solidFill>
          <a:ln w="6350">
            <a:solidFill>
              <a:srgbClr val="16605A"/>
            </a:solidFill>
            <a:prstDash val="solid"/>
          </a:ln>
        </p:spPr>
      </p:sp>
      <p:sp>
        <p:nvSpPr>
          <p:cNvPr id="63" name="Text 61"/>
          <p:cNvSpPr txBox="1"/>
          <p:nvPr/>
        </p:nvSpPr>
        <p:spPr>
          <a:xfrm>
            <a:off x="6611112" y="5074920"/>
            <a:ext cx="1335024" cy="292608"/>
          </a:xfrm>
          <a:prstGeom prst="rect">
            <a:avLst/>
          </a:prstGeom>
          <a:noFill/>
          <a:ln/>
        </p:spPr>
        <p:txBody>
          <a:bodyPr wrap="square" lIns="0" tIns="0" rIns="0" bIns="0" rtlCol="0" anchor="ctr"/>
          <a:lstStyle/>
          <a:p>
            <a:pPr algn="ctr" indent="0" marL="0">
              <a:buNone/>
            </a:pPr>
            <a:r>
              <a:rPr lang="en-US" sz="1050" b="1" dirty="0">
                <a:solidFill>
                  <a:srgbClr val="E9EEF6"/>
                </a:solidFill>
                <a:latin typeface="Consolas" pitchFamily="34" charset="0"/>
                <a:ea typeface="Consolas" pitchFamily="34" charset="-122"/>
                <a:cs typeface="Consolas" pitchFamily="34" charset="-120"/>
              </a:rPr>
              <a:t>4</a:t>
            </a:r>
            <a:endParaRPr lang="en-US" sz="1050" dirty="0"/>
          </a:p>
        </p:txBody>
      </p:sp>
      <p:sp>
        <p:nvSpPr>
          <p:cNvPr id="64" name="Text 62"/>
          <p:cNvSpPr txBox="1"/>
          <p:nvPr/>
        </p:nvSpPr>
        <p:spPr>
          <a:xfrm>
            <a:off x="548640" y="5404104"/>
            <a:ext cx="1783080" cy="292608"/>
          </a:xfrm>
          <a:prstGeom prst="rect">
            <a:avLst/>
          </a:prstGeom>
          <a:noFill/>
          <a:ln/>
        </p:spPr>
        <p:txBody>
          <a:bodyPr wrap="square" lIns="0" tIns="0" rIns="0" bIns="0" rtlCol="0" anchor="ctr"/>
          <a:lstStyle/>
          <a:p>
            <a:pPr algn="l" indent="0" marL="0">
              <a:buNone/>
            </a:pPr>
            <a:r>
              <a:rPr lang="en-US" sz="1000" dirty="0">
                <a:solidFill>
                  <a:srgbClr val="E9EEF6"/>
                </a:solidFill>
                <a:latin typeface="Helvetica Neue" pitchFamily="34" charset="0"/>
                <a:ea typeface="Helvetica Neue" pitchFamily="34" charset="-122"/>
                <a:cs typeface="Helvetica Neue" pitchFamily="34" charset="-120"/>
              </a:rPr>
              <a:t>gpt-4o-mini</a:t>
            </a:r>
            <a:endParaRPr lang="en-US" sz="1000" dirty="0"/>
          </a:p>
        </p:txBody>
      </p:sp>
      <p:sp>
        <p:nvSpPr>
          <p:cNvPr id="65" name="Shape 63"/>
          <p:cNvSpPr/>
          <p:nvPr/>
        </p:nvSpPr>
        <p:spPr>
          <a:xfrm>
            <a:off x="2359152" y="5404104"/>
            <a:ext cx="1335024" cy="292608"/>
          </a:xfrm>
          <a:prstGeom prst="rect">
            <a:avLst/>
          </a:prstGeom>
          <a:solidFill>
            <a:srgbClr val="10302E"/>
          </a:solidFill>
          <a:ln w="6350">
            <a:solidFill>
              <a:srgbClr val="16605A"/>
            </a:solidFill>
            <a:prstDash val="solid"/>
          </a:ln>
        </p:spPr>
      </p:sp>
      <p:sp>
        <p:nvSpPr>
          <p:cNvPr id="66" name="Text 64"/>
          <p:cNvSpPr txBox="1"/>
          <p:nvPr/>
        </p:nvSpPr>
        <p:spPr>
          <a:xfrm>
            <a:off x="2359152" y="5404104"/>
            <a:ext cx="1335024" cy="292608"/>
          </a:xfrm>
          <a:prstGeom prst="rect">
            <a:avLst/>
          </a:prstGeom>
          <a:noFill/>
          <a:ln/>
        </p:spPr>
        <p:txBody>
          <a:bodyPr wrap="square" lIns="0" tIns="0" rIns="0" bIns="0" rtlCol="0" anchor="ctr"/>
          <a:lstStyle/>
          <a:p>
            <a:pPr algn="ctr" indent="0" marL="0">
              <a:buNone/>
            </a:pPr>
            <a:r>
              <a:rPr lang="en-US" sz="1050" b="1" dirty="0">
                <a:solidFill>
                  <a:srgbClr val="E9EEF6"/>
                </a:solidFill>
                <a:latin typeface="Consolas" pitchFamily="34" charset="0"/>
                <a:ea typeface="Consolas" pitchFamily="34" charset="-122"/>
                <a:cs typeface="Consolas" pitchFamily="34" charset="-120"/>
              </a:rPr>
              <a:t>8</a:t>
            </a:r>
            <a:endParaRPr lang="en-US" sz="1050" dirty="0"/>
          </a:p>
        </p:txBody>
      </p:sp>
      <p:sp>
        <p:nvSpPr>
          <p:cNvPr id="67" name="Shape 65"/>
          <p:cNvSpPr/>
          <p:nvPr/>
        </p:nvSpPr>
        <p:spPr>
          <a:xfrm>
            <a:off x="3776472" y="5404104"/>
            <a:ext cx="1335024" cy="292608"/>
          </a:xfrm>
          <a:prstGeom prst="rect">
            <a:avLst/>
          </a:prstGeom>
          <a:solidFill>
            <a:srgbClr val="164E49"/>
          </a:solidFill>
          <a:ln w="6350">
            <a:solidFill>
              <a:srgbClr val="16605A"/>
            </a:solidFill>
            <a:prstDash val="solid"/>
          </a:ln>
        </p:spPr>
      </p:sp>
      <p:sp>
        <p:nvSpPr>
          <p:cNvPr id="68" name="Text 66"/>
          <p:cNvSpPr txBox="1"/>
          <p:nvPr/>
        </p:nvSpPr>
        <p:spPr>
          <a:xfrm>
            <a:off x="3776472" y="5404104"/>
            <a:ext cx="1335024" cy="292608"/>
          </a:xfrm>
          <a:prstGeom prst="rect">
            <a:avLst/>
          </a:prstGeom>
          <a:noFill/>
          <a:ln/>
        </p:spPr>
        <p:txBody>
          <a:bodyPr wrap="square" lIns="0" tIns="0" rIns="0" bIns="0" rtlCol="0" anchor="ctr"/>
          <a:lstStyle/>
          <a:p>
            <a:pPr algn="ctr" indent="0" marL="0">
              <a:buNone/>
            </a:pPr>
            <a:r>
              <a:rPr lang="en-US" sz="1050" b="1" dirty="0">
                <a:solidFill>
                  <a:srgbClr val="E9EEF6"/>
                </a:solidFill>
                <a:latin typeface="Consolas" pitchFamily="34" charset="0"/>
                <a:ea typeface="Consolas" pitchFamily="34" charset="-122"/>
                <a:cs typeface="Consolas" pitchFamily="34" charset="-120"/>
              </a:rPr>
              <a:t>48</a:t>
            </a:r>
            <a:endParaRPr lang="en-US" sz="1050" dirty="0"/>
          </a:p>
        </p:txBody>
      </p:sp>
      <p:sp>
        <p:nvSpPr>
          <p:cNvPr id="69" name="Shape 67"/>
          <p:cNvSpPr/>
          <p:nvPr/>
        </p:nvSpPr>
        <p:spPr>
          <a:xfrm>
            <a:off x="5193792" y="5404104"/>
            <a:ext cx="1335024" cy="292608"/>
          </a:xfrm>
          <a:prstGeom prst="rect">
            <a:avLst/>
          </a:prstGeom>
          <a:solidFill>
            <a:srgbClr val="164E49"/>
          </a:solidFill>
          <a:ln w="6350">
            <a:solidFill>
              <a:srgbClr val="16605A"/>
            </a:solidFill>
            <a:prstDash val="solid"/>
          </a:ln>
        </p:spPr>
      </p:sp>
      <p:sp>
        <p:nvSpPr>
          <p:cNvPr id="70" name="Text 68"/>
          <p:cNvSpPr txBox="1"/>
          <p:nvPr/>
        </p:nvSpPr>
        <p:spPr>
          <a:xfrm>
            <a:off x="5193792" y="5404104"/>
            <a:ext cx="1335024" cy="292608"/>
          </a:xfrm>
          <a:prstGeom prst="rect">
            <a:avLst/>
          </a:prstGeom>
          <a:noFill/>
          <a:ln/>
        </p:spPr>
        <p:txBody>
          <a:bodyPr wrap="square" lIns="0" tIns="0" rIns="0" bIns="0" rtlCol="0" anchor="ctr"/>
          <a:lstStyle/>
          <a:p>
            <a:pPr algn="ctr" indent="0" marL="0">
              <a:buNone/>
            </a:pPr>
            <a:r>
              <a:rPr lang="en-US" sz="1050" b="1" dirty="0">
                <a:solidFill>
                  <a:srgbClr val="E9EEF6"/>
                </a:solidFill>
                <a:latin typeface="Consolas" pitchFamily="34" charset="0"/>
                <a:ea typeface="Consolas" pitchFamily="34" charset="-122"/>
                <a:cs typeface="Consolas" pitchFamily="34" charset="-120"/>
              </a:rPr>
              <a:t>44</a:t>
            </a:r>
            <a:endParaRPr lang="en-US" sz="1050" dirty="0"/>
          </a:p>
        </p:txBody>
      </p:sp>
      <p:sp>
        <p:nvSpPr>
          <p:cNvPr id="71" name="Shape 69"/>
          <p:cNvSpPr/>
          <p:nvPr/>
        </p:nvSpPr>
        <p:spPr>
          <a:xfrm>
            <a:off x="6611112" y="5404104"/>
            <a:ext cx="1335024" cy="292608"/>
          </a:xfrm>
          <a:prstGeom prst="rect">
            <a:avLst/>
          </a:prstGeom>
          <a:solidFill>
            <a:srgbClr val="10302E"/>
          </a:solidFill>
          <a:ln w="6350">
            <a:solidFill>
              <a:srgbClr val="16605A"/>
            </a:solidFill>
            <a:prstDash val="solid"/>
          </a:ln>
        </p:spPr>
      </p:sp>
      <p:sp>
        <p:nvSpPr>
          <p:cNvPr id="72" name="Text 70"/>
          <p:cNvSpPr txBox="1"/>
          <p:nvPr/>
        </p:nvSpPr>
        <p:spPr>
          <a:xfrm>
            <a:off x="6611112" y="5404104"/>
            <a:ext cx="1335024" cy="292608"/>
          </a:xfrm>
          <a:prstGeom prst="rect">
            <a:avLst/>
          </a:prstGeom>
          <a:noFill/>
          <a:ln/>
        </p:spPr>
        <p:txBody>
          <a:bodyPr wrap="square" lIns="0" tIns="0" rIns="0" bIns="0" rtlCol="0" anchor="ctr"/>
          <a:lstStyle/>
          <a:p>
            <a:pPr algn="ctr" indent="0" marL="0">
              <a:buNone/>
            </a:pPr>
            <a:r>
              <a:rPr lang="en-US" sz="1050" b="1" dirty="0">
                <a:solidFill>
                  <a:srgbClr val="E9EEF6"/>
                </a:solidFill>
                <a:latin typeface="Consolas" pitchFamily="34" charset="0"/>
                <a:ea typeface="Consolas" pitchFamily="34" charset="-122"/>
                <a:cs typeface="Consolas" pitchFamily="34" charset="-120"/>
              </a:rPr>
              <a:t>12</a:t>
            </a:r>
            <a:endParaRPr lang="en-US" sz="1050" dirty="0"/>
          </a:p>
        </p:txBody>
      </p:sp>
      <p:sp>
        <p:nvSpPr>
          <p:cNvPr id="73" name="Text 71"/>
          <p:cNvSpPr txBox="1"/>
          <p:nvPr/>
        </p:nvSpPr>
        <p:spPr>
          <a:xfrm>
            <a:off x="548640" y="5733288"/>
            <a:ext cx="1783080" cy="292608"/>
          </a:xfrm>
          <a:prstGeom prst="rect">
            <a:avLst/>
          </a:prstGeom>
          <a:noFill/>
          <a:ln/>
        </p:spPr>
        <p:txBody>
          <a:bodyPr wrap="square" lIns="0" tIns="0" rIns="0" bIns="0" rtlCol="0" anchor="ctr"/>
          <a:lstStyle/>
          <a:p>
            <a:pPr algn="l" indent="0" marL="0">
              <a:buNone/>
            </a:pPr>
            <a:r>
              <a:rPr lang="en-US" sz="1000" dirty="0">
                <a:solidFill>
                  <a:srgbClr val="E9EEF6"/>
                </a:solidFill>
                <a:latin typeface="Helvetica Neue" pitchFamily="34" charset="0"/>
                <a:ea typeface="Helvetica Neue" pitchFamily="34" charset="-122"/>
                <a:cs typeface="Helvetica Neue" pitchFamily="34" charset="-120"/>
              </a:rPr>
              <a:t>gemini-2.5-flash-lite</a:t>
            </a:r>
            <a:endParaRPr lang="en-US" sz="1000" dirty="0"/>
          </a:p>
        </p:txBody>
      </p:sp>
      <p:sp>
        <p:nvSpPr>
          <p:cNvPr id="74" name="Shape 72"/>
          <p:cNvSpPr/>
          <p:nvPr/>
        </p:nvSpPr>
        <p:spPr>
          <a:xfrm>
            <a:off x="2359152" y="5733288"/>
            <a:ext cx="1335024" cy="292608"/>
          </a:xfrm>
          <a:prstGeom prst="rect">
            <a:avLst/>
          </a:prstGeom>
          <a:solidFill>
            <a:srgbClr val="18233A"/>
          </a:solidFill>
          <a:ln w="6350">
            <a:solidFill>
              <a:srgbClr val="1E2A42"/>
            </a:solidFill>
            <a:prstDash val="solid"/>
          </a:ln>
        </p:spPr>
      </p:sp>
      <p:sp>
        <p:nvSpPr>
          <p:cNvPr id="75" name="Text 73"/>
          <p:cNvSpPr txBox="1"/>
          <p:nvPr/>
        </p:nvSpPr>
        <p:spPr>
          <a:xfrm>
            <a:off x="2359152" y="5733288"/>
            <a:ext cx="1335024" cy="292608"/>
          </a:xfrm>
          <a:prstGeom prst="rect">
            <a:avLst/>
          </a:prstGeom>
          <a:noFill/>
          <a:ln/>
        </p:spPr>
        <p:txBody>
          <a:bodyPr wrap="square" lIns="0" tIns="0" rIns="0" bIns="0" rtlCol="0" anchor="ctr"/>
          <a:lstStyle/>
          <a:p>
            <a:pPr algn="ctr" indent="0" marL="0">
              <a:buNone/>
            </a:pPr>
            <a:r>
              <a:rPr lang="en-US" sz="1050" dirty="0">
                <a:solidFill>
                  <a:srgbClr val="5C6A85"/>
                </a:solidFill>
                <a:latin typeface="Consolas" pitchFamily="34" charset="0"/>
                <a:ea typeface="Consolas" pitchFamily="34" charset="-122"/>
                <a:cs typeface="Consolas" pitchFamily="34" charset="-120"/>
              </a:rPr>
              <a:t>0</a:t>
            </a:r>
            <a:endParaRPr lang="en-US" sz="1050" dirty="0"/>
          </a:p>
        </p:txBody>
      </p:sp>
      <p:sp>
        <p:nvSpPr>
          <p:cNvPr id="76" name="Shape 74"/>
          <p:cNvSpPr/>
          <p:nvPr/>
        </p:nvSpPr>
        <p:spPr>
          <a:xfrm>
            <a:off x="3776472" y="5733288"/>
            <a:ext cx="1335024" cy="292608"/>
          </a:xfrm>
          <a:prstGeom prst="rect">
            <a:avLst/>
          </a:prstGeom>
          <a:solidFill>
            <a:srgbClr val="18233A"/>
          </a:solidFill>
          <a:ln w="6350">
            <a:solidFill>
              <a:srgbClr val="1E2A42"/>
            </a:solidFill>
            <a:prstDash val="solid"/>
          </a:ln>
        </p:spPr>
      </p:sp>
      <p:sp>
        <p:nvSpPr>
          <p:cNvPr id="77" name="Text 75"/>
          <p:cNvSpPr txBox="1"/>
          <p:nvPr/>
        </p:nvSpPr>
        <p:spPr>
          <a:xfrm>
            <a:off x="3776472" y="5733288"/>
            <a:ext cx="1335024" cy="292608"/>
          </a:xfrm>
          <a:prstGeom prst="rect">
            <a:avLst/>
          </a:prstGeom>
          <a:noFill/>
          <a:ln/>
        </p:spPr>
        <p:txBody>
          <a:bodyPr wrap="square" lIns="0" tIns="0" rIns="0" bIns="0" rtlCol="0" anchor="ctr"/>
          <a:lstStyle/>
          <a:p>
            <a:pPr algn="ctr" indent="0" marL="0">
              <a:buNone/>
            </a:pPr>
            <a:r>
              <a:rPr lang="en-US" sz="1050" dirty="0">
                <a:solidFill>
                  <a:srgbClr val="5C6A85"/>
                </a:solidFill>
                <a:latin typeface="Consolas" pitchFamily="34" charset="0"/>
                <a:ea typeface="Consolas" pitchFamily="34" charset="-122"/>
                <a:cs typeface="Consolas" pitchFamily="34" charset="-120"/>
              </a:rPr>
              <a:t>0</a:t>
            </a:r>
            <a:endParaRPr lang="en-US" sz="1050" dirty="0"/>
          </a:p>
        </p:txBody>
      </p:sp>
      <p:sp>
        <p:nvSpPr>
          <p:cNvPr id="78" name="Shape 76"/>
          <p:cNvSpPr/>
          <p:nvPr/>
        </p:nvSpPr>
        <p:spPr>
          <a:xfrm>
            <a:off x="5193792" y="5733288"/>
            <a:ext cx="1335024" cy="292608"/>
          </a:xfrm>
          <a:prstGeom prst="rect">
            <a:avLst/>
          </a:prstGeom>
          <a:solidFill>
            <a:srgbClr val="18233A"/>
          </a:solidFill>
          <a:ln w="6350">
            <a:solidFill>
              <a:srgbClr val="1E2A42"/>
            </a:solidFill>
            <a:prstDash val="solid"/>
          </a:ln>
        </p:spPr>
      </p:sp>
      <p:sp>
        <p:nvSpPr>
          <p:cNvPr id="79" name="Text 77"/>
          <p:cNvSpPr txBox="1"/>
          <p:nvPr/>
        </p:nvSpPr>
        <p:spPr>
          <a:xfrm>
            <a:off x="5193792" y="5733288"/>
            <a:ext cx="1335024" cy="292608"/>
          </a:xfrm>
          <a:prstGeom prst="rect">
            <a:avLst/>
          </a:prstGeom>
          <a:noFill/>
          <a:ln/>
        </p:spPr>
        <p:txBody>
          <a:bodyPr wrap="square" lIns="0" tIns="0" rIns="0" bIns="0" rtlCol="0" anchor="ctr"/>
          <a:lstStyle/>
          <a:p>
            <a:pPr algn="ctr" indent="0" marL="0">
              <a:buNone/>
            </a:pPr>
            <a:r>
              <a:rPr lang="en-US" sz="1050" dirty="0">
                <a:solidFill>
                  <a:srgbClr val="5C6A85"/>
                </a:solidFill>
                <a:latin typeface="Consolas" pitchFamily="34" charset="0"/>
                <a:ea typeface="Consolas" pitchFamily="34" charset="-122"/>
                <a:cs typeface="Consolas" pitchFamily="34" charset="-120"/>
              </a:rPr>
              <a:t>0</a:t>
            </a:r>
            <a:endParaRPr lang="en-US" sz="1050" dirty="0"/>
          </a:p>
        </p:txBody>
      </p:sp>
      <p:sp>
        <p:nvSpPr>
          <p:cNvPr id="80" name="Shape 78"/>
          <p:cNvSpPr/>
          <p:nvPr/>
        </p:nvSpPr>
        <p:spPr>
          <a:xfrm>
            <a:off x="6611112" y="5733288"/>
            <a:ext cx="1335024" cy="292608"/>
          </a:xfrm>
          <a:prstGeom prst="rect">
            <a:avLst/>
          </a:prstGeom>
          <a:solidFill>
            <a:srgbClr val="18233A"/>
          </a:solidFill>
          <a:ln w="6350">
            <a:solidFill>
              <a:srgbClr val="1E2A42"/>
            </a:solidFill>
            <a:prstDash val="solid"/>
          </a:ln>
        </p:spPr>
      </p:sp>
      <p:sp>
        <p:nvSpPr>
          <p:cNvPr id="81" name="Text 79"/>
          <p:cNvSpPr txBox="1"/>
          <p:nvPr/>
        </p:nvSpPr>
        <p:spPr>
          <a:xfrm>
            <a:off x="6611112" y="5733288"/>
            <a:ext cx="1335024" cy="292608"/>
          </a:xfrm>
          <a:prstGeom prst="rect">
            <a:avLst/>
          </a:prstGeom>
          <a:noFill/>
          <a:ln/>
        </p:spPr>
        <p:txBody>
          <a:bodyPr wrap="square" lIns="0" tIns="0" rIns="0" bIns="0" rtlCol="0" anchor="ctr"/>
          <a:lstStyle/>
          <a:p>
            <a:pPr algn="ctr" indent="0" marL="0">
              <a:buNone/>
            </a:pPr>
            <a:r>
              <a:rPr lang="en-US" sz="1050" dirty="0">
                <a:solidFill>
                  <a:srgbClr val="5C6A85"/>
                </a:solidFill>
                <a:latin typeface="Consolas" pitchFamily="34" charset="0"/>
                <a:ea typeface="Consolas" pitchFamily="34" charset="-122"/>
                <a:cs typeface="Consolas" pitchFamily="34" charset="-120"/>
              </a:rPr>
              <a:t>0</a:t>
            </a:r>
            <a:endParaRPr lang="en-US" sz="1050" dirty="0"/>
          </a:p>
        </p:txBody>
      </p:sp>
      <p:sp>
        <p:nvSpPr>
          <p:cNvPr id="82" name="Shape 80"/>
          <p:cNvSpPr/>
          <p:nvPr/>
        </p:nvSpPr>
        <p:spPr>
          <a:xfrm>
            <a:off x="8366760" y="3813048"/>
            <a:ext cx="3276295" cy="2331720"/>
          </a:xfrm>
          <a:prstGeom prst="roundRect">
            <a:avLst>
              <a:gd name="adj" fmla="val 3137"/>
            </a:avLst>
          </a:prstGeom>
          <a:solidFill>
            <a:srgbClr val="18233A"/>
          </a:solidFill>
          <a:ln w="9525">
            <a:solidFill>
              <a:srgbClr val="1E2A42"/>
            </a:solidFill>
            <a:prstDash val="solid"/>
          </a:ln>
        </p:spPr>
      </p:sp>
      <p:sp>
        <p:nvSpPr>
          <p:cNvPr id="83" name="Text 81"/>
          <p:cNvSpPr txBox="1"/>
          <p:nvPr/>
        </p:nvSpPr>
        <p:spPr>
          <a:xfrm>
            <a:off x="8549640" y="3977640"/>
            <a:ext cx="2910535" cy="2103120"/>
          </a:xfrm>
          <a:prstGeom prst="rect">
            <a:avLst/>
          </a:prstGeom>
          <a:noFill/>
          <a:ln/>
        </p:spPr>
        <p:txBody>
          <a:bodyPr wrap="square" lIns="0" tIns="0" rIns="0" bIns="0" rtlCol="0" anchor="t"/>
          <a:lstStyle/>
          <a:p>
            <a:pPr marL="177800" indent="-177800">
              <a:spcAft>
                <a:spcPts val="700"/>
              </a:spcAft>
              <a:buSzPct val="100000"/>
              <a:buChar char="▪"/>
            </a:pPr>
            <a:r>
              <a:rPr lang="en-US" sz="1000" dirty="0">
                <a:solidFill>
                  <a:srgbClr val="C7D0DE"/>
                </a:solidFill>
                <a:latin typeface="Helvetica Neue" pitchFamily="34" charset="0"/>
                <a:ea typeface="Helvetica Neue" pitchFamily="34" charset="-122"/>
                <a:cs typeface="Helvetica Neue" pitchFamily="34" charset="-120"/>
              </a:rPr>
              <a:t>Rare types are not uniformly harder: llama is best on network_scan (84 %), the second-rarest type; gpt-4o-mini is worst on function-code violation (8 %) and topology change (12 %).</a:t>
            </a:r>
            <a:endParaRPr lang="en-US" sz="1000" dirty="0"/>
          </a:p>
          <a:p>
            <a:pPr marL="177800" indent="-177800">
              <a:spcAft>
                <a:spcPts val="700"/>
              </a:spcAft>
              <a:buSzPct val="100000"/>
              <a:buChar char="▪"/>
            </a:pPr>
            <a:r>
              <a:rPr lang="en-US" sz="1000" dirty="0">
                <a:solidFill>
                  <a:srgbClr val="C7D0DE"/>
                </a:solidFill>
                <a:latin typeface="Helvetica Neue" pitchFamily="34" charset="0"/>
                <a:ea typeface="Helvetica Neue" pitchFamily="34" charset="-122"/>
                <a:cs typeface="Helvetica Neue" pitchFamily="34" charset="-120"/>
              </a:rPr>
              <a:t>Function-code violation reaches at most 44 % clean for any model.</a:t>
            </a:r>
            <a:endParaRPr lang="en-US" sz="1000" dirty="0"/>
          </a:p>
          <a:p>
            <a:pPr marL="177800" indent="-177800">
              <a:spcAft>
                <a:spcPts val="700"/>
              </a:spcAft>
              <a:buSzPct val="100000"/>
              <a:buChar char="▪"/>
            </a:pPr>
            <a:r>
              <a:rPr lang="en-US" sz="1000" dirty="0">
                <a:solidFill>
                  <a:srgbClr val="F5A524"/>
                </a:solidFill>
                <a:latin typeface="Helvetica Neue" pitchFamily="34" charset="0"/>
                <a:ea typeface="Helvetica Neue" pitchFamily="34" charset="-122"/>
                <a:cs typeface="Helvetica Neue" pitchFamily="34" charset="-120"/>
              </a:rPr>
              <a:t>Caveats: 25 responses per cell → indicative only; assumption check 20 % of expected cells &lt; 5, none &lt; 2; associations, not causal effects.</a:t>
            </a:r>
            <a:endParaRPr lang="en-US" sz="10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indent="0" marL="0">
              <a:buNone/>
            </a:pPr>
            <a:r>
              <a:rPr lang="en-US" sz="1050" spc="200" kern="0" dirty="0">
                <a:solidFill>
                  <a:srgbClr val="2DD4BF"/>
                </a:solidFill>
                <a:latin typeface="Consolas" pitchFamily="34" charset="0"/>
                <a:ea typeface="Consolas" pitchFamily="34" charset="-122"/>
                <a:cs typeface="Consolas" pitchFamily="34" charset="-120"/>
              </a:rPr>
              <a:t>14 · WHAT THE EXPERIMENTS DEMONSTRATE — AND WHAT THEY DO NOT</a:t>
            </a:r>
            <a:endParaRPr lang="en-US" sz="1050" dirty="0"/>
          </a:p>
        </p:txBody>
      </p:sp>
      <p:sp>
        <p:nvSpPr>
          <p:cNvPr id="3" name="Text 1"/>
          <p:cNvSpPr txBox="1"/>
          <p:nvPr/>
        </p:nvSpPr>
        <p:spPr>
          <a:xfrm>
            <a:off x="548640" y="603504"/>
            <a:ext cx="11094415" cy="566928"/>
          </a:xfrm>
          <a:prstGeom prst="rect">
            <a:avLst/>
          </a:prstGeom>
          <a:noFill/>
          <a:ln/>
        </p:spPr>
        <p:txBody>
          <a:bodyPr wrap="square" lIns="0" tIns="0" rIns="0" bIns="0" rtlCol="0" anchor="t"/>
          <a:lstStyle/>
          <a:p>
            <a:pPr indent="0" marL="0">
              <a:buNone/>
            </a:pPr>
            <a:r>
              <a:rPr lang="en-US" sz="2100" b="1" dirty="0">
                <a:solidFill>
                  <a:srgbClr val="E9EEF6"/>
                </a:solidFill>
                <a:latin typeface="Helvetica Neue" pitchFamily="34" charset="0"/>
                <a:ea typeface="Helvetica Neue" pitchFamily="34" charset="-122"/>
                <a:cs typeface="Helvetica Neue" pitchFamily="34" charset="-120"/>
              </a:rPr>
              <a:t>A gatekeeper with a human in the loop — not yet a stand-alone verifier</a:t>
            </a:r>
            <a:endParaRPr lang="en-US" sz="21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350" dirty="0">
                <a:solidFill>
                  <a:srgbClr val="93A0B8"/>
                </a:solidFill>
                <a:latin typeface="Helvetica Neue" pitchFamily="34" charset="0"/>
                <a:ea typeface="Helvetica Neue" pitchFamily="34" charset="-122"/>
                <a:cs typeface="Helvetica Neue" pitchFamily="34" charset="-120"/>
              </a:rPr>
              <a:t>Separating what the evidence supports from what remains open is the thesis' own reading of its results (§4.7, §5.3, §6.2).</a:t>
            </a:r>
            <a:endParaRPr lang="en-US" sz="1350" dirty="0"/>
          </a:p>
        </p:txBody>
      </p:sp>
      <p:sp>
        <p:nvSpPr>
          <p:cNvPr id="5" name="Text 3"/>
          <p:cNvSpPr txBox="1"/>
          <p:nvPr/>
        </p:nvSpPr>
        <p:spPr>
          <a:xfrm>
            <a:off x="548640" y="6473952"/>
            <a:ext cx="8778240" cy="219456"/>
          </a:xfrm>
          <a:prstGeom prst="rect">
            <a:avLst/>
          </a:prstGeom>
          <a:noFill/>
          <a:ln/>
        </p:spPr>
        <p:txBody>
          <a:bodyPr wrap="square" lIns="0" tIns="0" rIns="0" bIns="0" rtlCol="0" anchor="ctr"/>
          <a:lstStyle/>
          <a:p>
            <a:pPr indent="0" marL="0">
              <a:buNone/>
            </a:pPr>
            <a:r>
              <a:rPr lang="en-US" sz="850" dirty="0">
                <a:solidFill>
                  <a:srgbClr val="5C6A85"/>
                </a:solidFill>
                <a:latin typeface="Helvetica Neue" pitchFamily="34" charset="0"/>
                <a:ea typeface="Helvetica Neue" pitchFamily="34" charset="-122"/>
                <a:cs typeface="Helvetica Neue" pitchFamily="34" charset="-120"/>
              </a:rPr>
              <a:t>ReasonGuard  ·  Runtime Verification of AI Reasoning Faithfulness  ·  R. Bilalov  ·  SRH University Hamburg / FIT VUT Brno</a:t>
            </a:r>
            <a:endParaRPr lang="en-US" sz="850" dirty="0"/>
          </a:p>
        </p:txBody>
      </p:sp>
      <p:sp>
        <p:nvSpPr>
          <p:cNvPr id="6" name="Text 4"/>
          <p:cNvSpPr txBox="1"/>
          <p:nvPr/>
        </p:nvSpPr>
        <p:spPr>
          <a:xfrm>
            <a:off x="10545775" y="6473952"/>
            <a:ext cx="1097280" cy="219456"/>
          </a:xfrm>
          <a:prstGeom prst="rect">
            <a:avLst/>
          </a:prstGeom>
          <a:noFill/>
          <a:ln/>
        </p:spPr>
        <p:txBody>
          <a:bodyPr wrap="square" lIns="0" tIns="0" rIns="0" bIns="0" rtlCol="0" anchor="ctr"/>
          <a:lstStyle/>
          <a:p>
            <a:pPr algn="r" indent="0" marL="0">
              <a:buNone/>
            </a:pPr>
            <a:r>
              <a:rPr lang="en-US" sz="900" dirty="0">
                <a:solidFill>
                  <a:srgbClr val="5C6A85"/>
                </a:solidFill>
                <a:latin typeface="Consolas" pitchFamily="34" charset="0"/>
                <a:ea typeface="Consolas" pitchFamily="34" charset="-122"/>
                <a:cs typeface="Consolas" pitchFamily="34" charset="-120"/>
              </a:rPr>
              <a:t>15 / 18</a:t>
            </a:r>
            <a:endParaRPr lang="en-US" sz="900" dirty="0"/>
          </a:p>
        </p:txBody>
      </p:sp>
      <p:sp>
        <p:nvSpPr>
          <p:cNvPr id="7" name="Shape 5"/>
          <p:cNvSpPr/>
          <p:nvPr/>
        </p:nvSpPr>
        <p:spPr>
          <a:xfrm>
            <a:off x="548640" y="1810512"/>
            <a:ext cx="5437480" cy="4160520"/>
          </a:xfrm>
          <a:prstGeom prst="roundRect">
            <a:avLst>
              <a:gd name="adj" fmla="val 1758"/>
            </a:avLst>
          </a:prstGeom>
          <a:solidFill>
            <a:srgbClr val="121B2E"/>
          </a:solidFill>
          <a:ln w="12700">
            <a:solidFill>
              <a:srgbClr val="2DD4BF"/>
            </a:solidFill>
            <a:prstDash val="solid"/>
          </a:ln>
        </p:spPr>
      </p:sp>
      <p:sp>
        <p:nvSpPr>
          <p:cNvPr id="8" name="Text 6"/>
          <p:cNvSpPr txBox="1"/>
          <p:nvPr/>
        </p:nvSpPr>
        <p:spPr>
          <a:xfrm>
            <a:off x="749808" y="1956816"/>
            <a:ext cx="5071720" cy="219456"/>
          </a:xfrm>
          <a:prstGeom prst="rect">
            <a:avLst/>
          </a:prstGeom>
          <a:noFill/>
          <a:ln/>
        </p:spPr>
        <p:txBody>
          <a:bodyPr wrap="square" lIns="0" tIns="0" rIns="0" bIns="0" rtlCol="0" anchor="t"/>
          <a:lstStyle/>
          <a:p>
            <a:pPr algn="l" indent="0" marL="0">
              <a:buNone/>
            </a:pPr>
            <a:r>
              <a:rPr lang="en-US" sz="950" spc="100" kern="0" dirty="0">
                <a:solidFill>
                  <a:srgbClr val="2DD4BF"/>
                </a:solidFill>
                <a:latin typeface="Consolas" pitchFamily="34" charset="0"/>
                <a:ea typeface="Consolas" pitchFamily="34" charset="-122"/>
                <a:cs typeface="Consolas" pitchFamily="34" charset="-120"/>
              </a:rPr>
              <a:t>DEMONSTRATED</a:t>
            </a:r>
            <a:endParaRPr lang="en-US" sz="950" dirty="0"/>
          </a:p>
        </p:txBody>
      </p:sp>
      <p:sp>
        <p:nvSpPr>
          <p:cNvPr id="9" name="Text 7"/>
          <p:cNvSpPr txBox="1"/>
          <p:nvPr/>
        </p:nvSpPr>
        <p:spPr>
          <a:xfrm>
            <a:off x="749808" y="2286000"/>
            <a:ext cx="228600" cy="444627"/>
          </a:xfrm>
          <a:prstGeom prst="rect">
            <a:avLst/>
          </a:prstGeom>
          <a:noFill/>
          <a:ln/>
        </p:spPr>
        <p:txBody>
          <a:bodyPr wrap="square" lIns="0" tIns="0" rIns="0" bIns="0" rtlCol="0" anchor="t"/>
          <a:lstStyle/>
          <a:p>
            <a:pPr algn="l" indent="0" marL="0">
              <a:buNone/>
            </a:pPr>
            <a:r>
              <a:rPr lang="en-US" sz="1100" b="1" dirty="0">
                <a:solidFill>
                  <a:srgbClr val="2DD4BF"/>
                </a:solidFill>
                <a:latin typeface="Helvetica Neue" pitchFamily="34" charset="0"/>
                <a:ea typeface="Helvetica Neue" pitchFamily="34" charset="-122"/>
                <a:cs typeface="Helvetica Neue" pitchFamily="34" charset="-120"/>
              </a:rPr>
              <a:t>✓</a:t>
            </a:r>
            <a:endParaRPr lang="en-US" sz="1100" dirty="0"/>
          </a:p>
        </p:txBody>
      </p:sp>
      <p:sp>
        <p:nvSpPr>
          <p:cNvPr id="10" name="Text 8"/>
          <p:cNvSpPr txBox="1"/>
          <p:nvPr/>
        </p:nvSpPr>
        <p:spPr>
          <a:xfrm>
            <a:off x="1005840" y="2286000"/>
            <a:ext cx="4779112" cy="444627"/>
          </a:xfrm>
          <a:prstGeom prst="rect">
            <a:avLst/>
          </a:prstGeom>
          <a:noFill/>
          <a:ln/>
        </p:spPr>
        <p:txBody>
          <a:bodyPr wrap="square" lIns="0" tIns="0" rIns="0" bIns="0" rtlCol="0" anchor="t"/>
          <a:lstStyle/>
          <a:p>
            <a:pPr algn="l" indent="0" marL="0">
              <a:lnSpc>
                <a:spcPct val="104000"/>
              </a:lnSpc>
              <a:buNone/>
            </a:pPr>
            <a:r>
              <a:rPr lang="en-US" sz="980" dirty="0">
                <a:solidFill>
                  <a:srgbClr val="C7D0DE"/>
                </a:solidFill>
                <a:latin typeface="Helvetica Neue" pitchFamily="34" charset="0"/>
                <a:ea typeface="Helvetica Neue" pitchFamily="34" charset="-122"/>
                <a:cs typeface="Helvetica Neue" pitchFamily="34" charset="-120"/>
              </a:rPr>
              <a:t>End-to-end pipeline: 20,000 bounds → 100 prompts → 5 LLMs → 1,000 verified explanations; every stage leaves an inspectable artefact</a:t>
            </a:r>
            <a:endParaRPr lang="en-US" sz="980" dirty="0"/>
          </a:p>
        </p:txBody>
      </p:sp>
      <p:sp>
        <p:nvSpPr>
          <p:cNvPr id="11" name="Text 9"/>
          <p:cNvSpPr txBox="1"/>
          <p:nvPr/>
        </p:nvSpPr>
        <p:spPr>
          <a:xfrm>
            <a:off x="749808" y="2730627"/>
            <a:ext cx="228600" cy="444627"/>
          </a:xfrm>
          <a:prstGeom prst="rect">
            <a:avLst/>
          </a:prstGeom>
          <a:noFill/>
          <a:ln/>
        </p:spPr>
        <p:txBody>
          <a:bodyPr wrap="square" lIns="0" tIns="0" rIns="0" bIns="0" rtlCol="0" anchor="t"/>
          <a:lstStyle/>
          <a:p>
            <a:pPr algn="l" indent="0" marL="0">
              <a:buNone/>
            </a:pPr>
            <a:r>
              <a:rPr lang="en-US" sz="1100" b="1" dirty="0">
                <a:solidFill>
                  <a:srgbClr val="2DD4BF"/>
                </a:solidFill>
                <a:latin typeface="Helvetica Neue" pitchFamily="34" charset="0"/>
                <a:ea typeface="Helvetica Neue" pitchFamily="34" charset="-122"/>
                <a:cs typeface="Helvetica Neue" pitchFamily="34" charset="-120"/>
              </a:rPr>
              <a:t>✓</a:t>
            </a:r>
            <a:endParaRPr lang="en-US" sz="1100" dirty="0"/>
          </a:p>
        </p:txBody>
      </p:sp>
      <p:sp>
        <p:nvSpPr>
          <p:cNvPr id="12" name="Text 10"/>
          <p:cNvSpPr txBox="1"/>
          <p:nvPr/>
        </p:nvSpPr>
        <p:spPr>
          <a:xfrm>
            <a:off x="1005840" y="2730627"/>
            <a:ext cx="4779112" cy="444627"/>
          </a:xfrm>
          <a:prstGeom prst="rect">
            <a:avLst/>
          </a:prstGeom>
          <a:noFill/>
          <a:ln/>
        </p:spPr>
        <p:txBody>
          <a:bodyPr wrap="square" lIns="0" tIns="0" rIns="0" bIns="0" rtlCol="0" anchor="t"/>
          <a:lstStyle/>
          <a:p>
            <a:pPr algn="l" indent="0" marL="0">
              <a:lnSpc>
                <a:spcPct val="104000"/>
              </a:lnSpc>
              <a:buNone/>
            </a:pPr>
            <a:r>
              <a:rPr lang="en-US" sz="980" dirty="0">
                <a:solidFill>
                  <a:srgbClr val="C7D0DE"/>
                </a:solidFill>
                <a:latin typeface="Helvetica Neue" pitchFamily="34" charset="0"/>
                <a:ea typeface="Helvetica Neue" pitchFamily="34" charset="-122"/>
                <a:cs typeface="Helvetica Neue" pitchFamily="34" charset="-120"/>
              </a:rPr>
              <a:t>Bound schema (RQ1) and V1–V5 taxonomy (RQ2): implemented, documented, unit-tested, released</a:t>
            </a:r>
            <a:endParaRPr lang="en-US" sz="980" dirty="0"/>
          </a:p>
        </p:txBody>
      </p:sp>
      <p:sp>
        <p:nvSpPr>
          <p:cNvPr id="13" name="Text 11"/>
          <p:cNvSpPr txBox="1"/>
          <p:nvPr/>
        </p:nvSpPr>
        <p:spPr>
          <a:xfrm>
            <a:off x="749808" y="3175254"/>
            <a:ext cx="228600" cy="444627"/>
          </a:xfrm>
          <a:prstGeom prst="rect">
            <a:avLst/>
          </a:prstGeom>
          <a:noFill/>
          <a:ln/>
        </p:spPr>
        <p:txBody>
          <a:bodyPr wrap="square" lIns="0" tIns="0" rIns="0" bIns="0" rtlCol="0" anchor="t"/>
          <a:lstStyle/>
          <a:p>
            <a:pPr algn="l" indent="0" marL="0">
              <a:buNone/>
            </a:pPr>
            <a:r>
              <a:rPr lang="en-US" sz="1100" b="1" dirty="0">
                <a:solidFill>
                  <a:srgbClr val="2DD4BF"/>
                </a:solidFill>
                <a:latin typeface="Helvetica Neue" pitchFamily="34" charset="0"/>
                <a:ea typeface="Helvetica Neue" pitchFamily="34" charset="-122"/>
                <a:cs typeface="Helvetica Neue" pitchFamily="34" charset="-120"/>
              </a:rPr>
              <a:t>✓</a:t>
            </a:r>
            <a:endParaRPr lang="en-US" sz="1100" dirty="0"/>
          </a:p>
        </p:txBody>
      </p:sp>
      <p:sp>
        <p:nvSpPr>
          <p:cNvPr id="14" name="Text 12"/>
          <p:cNvSpPr txBox="1"/>
          <p:nvPr/>
        </p:nvSpPr>
        <p:spPr>
          <a:xfrm>
            <a:off x="1005840" y="3175254"/>
            <a:ext cx="4779112" cy="444627"/>
          </a:xfrm>
          <a:prstGeom prst="rect">
            <a:avLst/>
          </a:prstGeom>
          <a:noFill/>
          <a:ln/>
        </p:spPr>
        <p:txBody>
          <a:bodyPr wrap="square" lIns="0" tIns="0" rIns="0" bIns="0" rtlCol="0" anchor="t"/>
          <a:lstStyle/>
          <a:p>
            <a:pPr algn="l" indent="0" marL="0">
              <a:lnSpc>
                <a:spcPct val="104000"/>
              </a:lnSpc>
              <a:buNone/>
            </a:pPr>
            <a:r>
              <a:rPr lang="en-US" sz="980" dirty="0">
                <a:solidFill>
                  <a:srgbClr val="C7D0DE"/>
                </a:solidFill>
                <a:latin typeface="Helvetica Neue" pitchFamily="34" charset="0"/>
                <a:ea typeface="Helvetica Neue" pitchFamily="34" charset="-122"/>
                <a:cs typeface="Helvetica Neue" pitchFamily="34" charset="-120"/>
              </a:rPr>
              <a:t>Deterministic, auditable per-claim checking — same input, same verdict; per-claim reason strings</a:t>
            </a:r>
            <a:endParaRPr lang="en-US" sz="980" dirty="0"/>
          </a:p>
        </p:txBody>
      </p:sp>
      <p:sp>
        <p:nvSpPr>
          <p:cNvPr id="15" name="Text 13"/>
          <p:cNvSpPr txBox="1"/>
          <p:nvPr/>
        </p:nvSpPr>
        <p:spPr>
          <a:xfrm>
            <a:off x="749808" y="3619881"/>
            <a:ext cx="228600" cy="444627"/>
          </a:xfrm>
          <a:prstGeom prst="rect">
            <a:avLst/>
          </a:prstGeom>
          <a:noFill/>
          <a:ln/>
        </p:spPr>
        <p:txBody>
          <a:bodyPr wrap="square" lIns="0" tIns="0" rIns="0" bIns="0" rtlCol="0" anchor="t"/>
          <a:lstStyle/>
          <a:p>
            <a:pPr algn="l" indent="0" marL="0">
              <a:buNone/>
            </a:pPr>
            <a:r>
              <a:rPr lang="en-US" sz="1100" b="1" dirty="0">
                <a:solidFill>
                  <a:srgbClr val="2DD4BF"/>
                </a:solidFill>
                <a:latin typeface="Helvetica Neue" pitchFamily="34" charset="0"/>
                <a:ea typeface="Helvetica Neue" pitchFamily="34" charset="-122"/>
                <a:cs typeface="Helvetica Neue" pitchFamily="34" charset="-120"/>
              </a:rPr>
              <a:t>✓</a:t>
            </a:r>
            <a:endParaRPr lang="en-US" sz="1100" dirty="0"/>
          </a:p>
        </p:txBody>
      </p:sp>
      <p:sp>
        <p:nvSpPr>
          <p:cNvPr id="16" name="Text 14"/>
          <p:cNvSpPr txBox="1"/>
          <p:nvPr/>
        </p:nvSpPr>
        <p:spPr>
          <a:xfrm>
            <a:off x="1005840" y="3619881"/>
            <a:ext cx="4779112" cy="444627"/>
          </a:xfrm>
          <a:prstGeom prst="rect">
            <a:avLst/>
          </a:prstGeom>
          <a:noFill/>
          <a:ln/>
        </p:spPr>
        <p:txBody>
          <a:bodyPr wrap="square" lIns="0" tIns="0" rIns="0" bIns="0" rtlCol="0" anchor="t"/>
          <a:lstStyle/>
          <a:p>
            <a:pPr algn="l" indent="0" marL="0">
              <a:lnSpc>
                <a:spcPct val="104000"/>
              </a:lnSpc>
              <a:buNone/>
            </a:pPr>
            <a:r>
              <a:rPr lang="en-US" sz="980" dirty="0">
                <a:solidFill>
                  <a:srgbClr val="C7D0DE"/>
                </a:solidFill>
                <a:latin typeface="Helvetica Neue" pitchFamily="34" charset="0"/>
                <a:ea typeface="Helvetica Neue" pitchFamily="34" charset="-122"/>
                <a:cs typeface="Helvetica Neue" pitchFamily="34" charset="-120"/>
              </a:rPr>
              <a:t>Detector coverage confirmed on the synthetic regression set: each seeded class V1–V4 is caught when unambiguously present</a:t>
            </a:r>
            <a:endParaRPr lang="en-US" sz="980" dirty="0"/>
          </a:p>
        </p:txBody>
      </p:sp>
      <p:sp>
        <p:nvSpPr>
          <p:cNvPr id="17" name="Text 15"/>
          <p:cNvSpPr txBox="1"/>
          <p:nvPr/>
        </p:nvSpPr>
        <p:spPr>
          <a:xfrm>
            <a:off x="749808" y="4064508"/>
            <a:ext cx="228600" cy="444627"/>
          </a:xfrm>
          <a:prstGeom prst="rect">
            <a:avLst/>
          </a:prstGeom>
          <a:noFill/>
          <a:ln/>
        </p:spPr>
        <p:txBody>
          <a:bodyPr wrap="square" lIns="0" tIns="0" rIns="0" bIns="0" rtlCol="0" anchor="t"/>
          <a:lstStyle/>
          <a:p>
            <a:pPr algn="l" indent="0" marL="0">
              <a:buNone/>
            </a:pPr>
            <a:r>
              <a:rPr lang="en-US" sz="1100" b="1" dirty="0">
                <a:solidFill>
                  <a:srgbClr val="2DD4BF"/>
                </a:solidFill>
                <a:latin typeface="Helvetica Neue" pitchFamily="34" charset="0"/>
                <a:ea typeface="Helvetica Neue" pitchFamily="34" charset="-122"/>
                <a:cs typeface="Helvetica Neue" pitchFamily="34" charset="-120"/>
              </a:rPr>
              <a:t>✓</a:t>
            </a:r>
            <a:endParaRPr lang="en-US" sz="1100" dirty="0"/>
          </a:p>
        </p:txBody>
      </p:sp>
      <p:sp>
        <p:nvSpPr>
          <p:cNvPr id="18" name="Text 16"/>
          <p:cNvSpPr txBox="1"/>
          <p:nvPr/>
        </p:nvSpPr>
        <p:spPr>
          <a:xfrm>
            <a:off x="1005840" y="4064508"/>
            <a:ext cx="4779112" cy="444627"/>
          </a:xfrm>
          <a:prstGeom prst="rect">
            <a:avLst/>
          </a:prstGeom>
          <a:noFill/>
          <a:ln/>
        </p:spPr>
        <p:txBody>
          <a:bodyPr wrap="square" lIns="0" tIns="0" rIns="0" bIns="0" rtlCol="0" anchor="t"/>
          <a:lstStyle/>
          <a:p>
            <a:pPr algn="l" indent="0" marL="0">
              <a:lnSpc>
                <a:spcPct val="104000"/>
              </a:lnSpc>
              <a:buNone/>
            </a:pPr>
            <a:r>
              <a:rPr lang="en-US" sz="980" dirty="0">
                <a:solidFill>
                  <a:srgbClr val="C7D0DE"/>
                </a:solidFill>
                <a:latin typeface="Helvetica Neue" pitchFamily="34" charset="0"/>
                <a:ea typeface="Helvetica Neue" pitchFamily="34" charset="-122"/>
                <a:cs typeface="Helvetica Neue" pitchFamily="34" charset="-120"/>
              </a:rPr>
              <a:t>Statistically significant model and event-type associations (RQ4); distinct per-model error signatures</a:t>
            </a:r>
            <a:endParaRPr lang="en-US" sz="980" dirty="0"/>
          </a:p>
        </p:txBody>
      </p:sp>
      <p:sp>
        <p:nvSpPr>
          <p:cNvPr id="19" name="Text 17"/>
          <p:cNvSpPr txBox="1"/>
          <p:nvPr/>
        </p:nvSpPr>
        <p:spPr>
          <a:xfrm>
            <a:off x="749808" y="4509135"/>
            <a:ext cx="228600" cy="444627"/>
          </a:xfrm>
          <a:prstGeom prst="rect">
            <a:avLst/>
          </a:prstGeom>
          <a:noFill/>
          <a:ln/>
        </p:spPr>
        <p:txBody>
          <a:bodyPr wrap="square" lIns="0" tIns="0" rIns="0" bIns="0" rtlCol="0" anchor="t"/>
          <a:lstStyle/>
          <a:p>
            <a:pPr algn="l" indent="0" marL="0">
              <a:buNone/>
            </a:pPr>
            <a:r>
              <a:rPr lang="en-US" sz="1100" b="1" dirty="0">
                <a:solidFill>
                  <a:srgbClr val="2DD4BF"/>
                </a:solidFill>
                <a:latin typeface="Helvetica Neue" pitchFamily="34" charset="0"/>
                <a:ea typeface="Helvetica Neue" pitchFamily="34" charset="-122"/>
                <a:cs typeface="Helvetica Neue" pitchFamily="34" charset="-120"/>
              </a:rPr>
              <a:t>✓</a:t>
            </a:r>
            <a:endParaRPr lang="en-US" sz="1100" dirty="0"/>
          </a:p>
        </p:txBody>
      </p:sp>
      <p:sp>
        <p:nvSpPr>
          <p:cNvPr id="20" name="Text 18"/>
          <p:cNvSpPr txBox="1"/>
          <p:nvPr/>
        </p:nvSpPr>
        <p:spPr>
          <a:xfrm>
            <a:off x="1005840" y="4509135"/>
            <a:ext cx="4779112" cy="444627"/>
          </a:xfrm>
          <a:prstGeom prst="rect">
            <a:avLst/>
          </a:prstGeom>
          <a:noFill/>
          <a:ln/>
        </p:spPr>
        <p:txBody>
          <a:bodyPr wrap="square" lIns="0" tIns="0" rIns="0" bIns="0" rtlCol="0" anchor="t"/>
          <a:lstStyle/>
          <a:p>
            <a:pPr algn="l" indent="0" marL="0">
              <a:lnSpc>
                <a:spcPct val="104000"/>
              </a:lnSpc>
              <a:buNone/>
            </a:pPr>
            <a:r>
              <a:rPr lang="en-US" sz="980" dirty="0">
                <a:solidFill>
                  <a:srgbClr val="C7D0DE"/>
                </a:solidFill>
                <a:latin typeface="Helvetica Neue" pitchFamily="34" charset="0"/>
                <a:ea typeface="Helvetica Neue" pitchFamily="34" charset="-122"/>
                <a:cs typeface="Helvetica Neue" pitchFamily="34" charset="-120"/>
              </a:rPr>
              <a:t>Interactive latency on commodity CPU (≈ 12–19 s per prompt) — no cloud dependency, no data leaves the site</a:t>
            </a:r>
            <a:endParaRPr lang="en-US" sz="980" dirty="0"/>
          </a:p>
        </p:txBody>
      </p:sp>
      <p:sp>
        <p:nvSpPr>
          <p:cNvPr id="21" name="Text 19"/>
          <p:cNvSpPr txBox="1"/>
          <p:nvPr/>
        </p:nvSpPr>
        <p:spPr>
          <a:xfrm>
            <a:off x="749808" y="4953762"/>
            <a:ext cx="228600" cy="444627"/>
          </a:xfrm>
          <a:prstGeom prst="rect">
            <a:avLst/>
          </a:prstGeom>
          <a:noFill/>
          <a:ln/>
        </p:spPr>
        <p:txBody>
          <a:bodyPr wrap="square" lIns="0" tIns="0" rIns="0" bIns="0" rtlCol="0" anchor="t"/>
          <a:lstStyle/>
          <a:p>
            <a:pPr algn="l" indent="0" marL="0">
              <a:buNone/>
            </a:pPr>
            <a:r>
              <a:rPr lang="en-US" sz="1100" b="1" dirty="0">
                <a:solidFill>
                  <a:srgbClr val="2DD4BF"/>
                </a:solidFill>
                <a:latin typeface="Helvetica Neue" pitchFamily="34" charset="0"/>
                <a:ea typeface="Helvetica Neue" pitchFamily="34" charset="-122"/>
                <a:cs typeface="Helvetica Neue" pitchFamily="34" charset="-120"/>
              </a:rPr>
              <a:t>✓</a:t>
            </a:r>
            <a:endParaRPr lang="en-US" sz="1100" dirty="0"/>
          </a:p>
        </p:txBody>
      </p:sp>
      <p:sp>
        <p:nvSpPr>
          <p:cNvPr id="22" name="Text 20"/>
          <p:cNvSpPr txBox="1"/>
          <p:nvPr/>
        </p:nvSpPr>
        <p:spPr>
          <a:xfrm>
            <a:off x="1005840" y="4953762"/>
            <a:ext cx="4779112" cy="444627"/>
          </a:xfrm>
          <a:prstGeom prst="rect">
            <a:avLst/>
          </a:prstGeom>
          <a:noFill/>
          <a:ln/>
        </p:spPr>
        <p:txBody>
          <a:bodyPr wrap="square" lIns="0" tIns="0" rIns="0" bIns="0" rtlCol="0" anchor="t"/>
          <a:lstStyle/>
          <a:p>
            <a:pPr algn="l" indent="0" marL="0">
              <a:lnSpc>
                <a:spcPct val="104000"/>
              </a:lnSpc>
              <a:buNone/>
            </a:pPr>
            <a:r>
              <a:rPr lang="en-US" sz="980" dirty="0">
                <a:solidFill>
                  <a:srgbClr val="C7D0DE"/>
                </a:solidFill>
                <a:latin typeface="Helvetica Neue" pitchFamily="34" charset="0"/>
                <a:ea typeface="Helvetica Neue" pitchFamily="34" charset="-122"/>
                <a:cs typeface="Helvetica Neue" pitchFamily="34" charset="-120"/>
              </a:rPr>
              <a:t>Reproducible evaluation: MLflow, fixed seeds, MIT-licensed code, Zenodo release, 200-pair annotated dataset</a:t>
            </a:r>
            <a:endParaRPr lang="en-US" sz="980" dirty="0"/>
          </a:p>
        </p:txBody>
      </p:sp>
      <p:sp>
        <p:nvSpPr>
          <p:cNvPr id="23" name="Text 21"/>
          <p:cNvSpPr txBox="1"/>
          <p:nvPr/>
        </p:nvSpPr>
        <p:spPr>
          <a:xfrm>
            <a:off x="749808" y="5398389"/>
            <a:ext cx="228600" cy="444627"/>
          </a:xfrm>
          <a:prstGeom prst="rect">
            <a:avLst/>
          </a:prstGeom>
          <a:noFill/>
          <a:ln/>
        </p:spPr>
        <p:txBody>
          <a:bodyPr wrap="square" lIns="0" tIns="0" rIns="0" bIns="0" rtlCol="0" anchor="t"/>
          <a:lstStyle/>
          <a:p>
            <a:pPr algn="l" indent="0" marL="0">
              <a:buNone/>
            </a:pPr>
            <a:r>
              <a:rPr lang="en-US" sz="1100" b="1" dirty="0">
                <a:solidFill>
                  <a:srgbClr val="2DD4BF"/>
                </a:solidFill>
                <a:latin typeface="Helvetica Neue" pitchFamily="34" charset="0"/>
                <a:ea typeface="Helvetica Neue" pitchFamily="34" charset="-122"/>
                <a:cs typeface="Helvetica Neue" pitchFamily="34" charset="-120"/>
              </a:rPr>
              <a:t>✓</a:t>
            </a:r>
            <a:endParaRPr lang="en-US" sz="1100" dirty="0"/>
          </a:p>
        </p:txBody>
      </p:sp>
      <p:sp>
        <p:nvSpPr>
          <p:cNvPr id="24" name="Text 22"/>
          <p:cNvSpPr txBox="1"/>
          <p:nvPr/>
        </p:nvSpPr>
        <p:spPr>
          <a:xfrm>
            <a:off x="1005840" y="5398389"/>
            <a:ext cx="4779112" cy="444627"/>
          </a:xfrm>
          <a:prstGeom prst="rect">
            <a:avLst/>
          </a:prstGeom>
          <a:noFill/>
          <a:ln/>
        </p:spPr>
        <p:txBody>
          <a:bodyPr wrap="square" lIns="0" tIns="0" rIns="0" bIns="0" rtlCol="0" anchor="t"/>
          <a:lstStyle/>
          <a:p>
            <a:pPr algn="l" indent="0" marL="0">
              <a:lnSpc>
                <a:spcPct val="104000"/>
              </a:lnSpc>
              <a:buNone/>
            </a:pPr>
            <a:r>
              <a:rPr lang="en-US" sz="980" dirty="0">
                <a:solidFill>
                  <a:srgbClr val="C7D0DE"/>
                </a:solidFill>
                <a:latin typeface="Helvetica Neue" pitchFamily="34" charset="0"/>
                <a:ea typeface="Helvetica Neue" pitchFamily="34" charset="-122"/>
                <a:cs typeface="Helvetica Neue" pitchFamily="34" charset="-120"/>
              </a:rPr>
              <a:t>Five deployment guidelines mapped to EU AI Act Art. 13 and Art. 17 (RQ5)</a:t>
            </a:r>
            <a:endParaRPr lang="en-US" sz="980" dirty="0"/>
          </a:p>
        </p:txBody>
      </p:sp>
      <p:sp>
        <p:nvSpPr>
          <p:cNvPr id="25" name="Shape 23"/>
          <p:cNvSpPr/>
          <p:nvPr/>
        </p:nvSpPr>
        <p:spPr>
          <a:xfrm>
            <a:off x="6205576" y="1810512"/>
            <a:ext cx="5437480" cy="4160520"/>
          </a:xfrm>
          <a:prstGeom prst="roundRect">
            <a:avLst>
              <a:gd name="adj" fmla="val 1758"/>
            </a:avLst>
          </a:prstGeom>
          <a:solidFill>
            <a:srgbClr val="121B2E"/>
          </a:solidFill>
          <a:ln w="12700">
            <a:solidFill>
              <a:srgbClr val="F0605E"/>
            </a:solidFill>
            <a:prstDash val="solid"/>
          </a:ln>
        </p:spPr>
      </p:sp>
      <p:sp>
        <p:nvSpPr>
          <p:cNvPr id="26" name="Text 24"/>
          <p:cNvSpPr txBox="1"/>
          <p:nvPr/>
        </p:nvSpPr>
        <p:spPr>
          <a:xfrm>
            <a:off x="6406744" y="1956816"/>
            <a:ext cx="5071720" cy="219456"/>
          </a:xfrm>
          <a:prstGeom prst="rect">
            <a:avLst/>
          </a:prstGeom>
          <a:noFill/>
          <a:ln/>
        </p:spPr>
        <p:txBody>
          <a:bodyPr wrap="square" lIns="0" tIns="0" rIns="0" bIns="0" rtlCol="0" anchor="t"/>
          <a:lstStyle/>
          <a:p>
            <a:pPr algn="l" indent="0" marL="0">
              <a:buNone/>
            </a:pPr>
            <a:r>
              <a:rPr lang="en-US" sz="950" spc="100" kern="0" dirty="0">
                <a:solidFill>
                  <a:srgbClr val="F0605E"/>
                </a:solidFill>
                <a:latin typeface="Consolas" pitchFamily="34" charset="0"/>
                <a:ea typeface="Consolas" pitchFamily="34" charset="-122"/>
                <a:cs typeface="Consolas" pitchFamily="34" charset="-120"/>
              </a:rPr>
              <a:t>NOT ACHIEVED  /  UNRESOLVED</a:t>
            </a:r>
            <a:endParaRPr lang="en-US" sz="950" dirty="0"/>
          </a:p>
        </p:txBody>
      </p:sp>
      <p:sp>
        <p:nvSpPr>
          <p:cNvPr id="27" name="Text 25"/>
          <p:cNvSpPr txBox="1"/>
          <p:nvPr/>
        </p:nvSpPr>
        <p:spPr>
          <a:xfrm>
            <a:off x="6406744" y="2286000"/>
            <a:ext cx="228600" cy="508145"/>
          </a:xfrm>
          <a:prstGeom prst="rect">
            <a:avLst/>
          </a:prstGeom>
          <a:noFill/>
          <a:ln/>
        </p:spPr>
        <p:txBody>
          <a:bodyPr wrap="square" lIns="0" tIns="0" rIns="0" bIns="0" rtlCol="0" anchor="t"/>
          <a:lstStyle/>
          <a:p>
            <a:pPr algn="l" indent="0" marL="0">
              <a:buNone/>
            </a:pPr>
            <a:r>
              <a:rPr lang="en-US" sz="1100" b="1" dirty="0">
                <a:solidFill>
                  <a:srgbClr val="F0605E"/>
                </a:solidFill>
                <a:latin typeface="Helvetica Neue" pitchFamily="34" charset="0"/>
                <a:ea typeface="Helvetica Neue" pitchFamily="34" charset="-122"/>
                <a:cs typeface="Helvetica Neue" pitchFamily="34" charset="-120"/>
              </a:rPr>
              <a:t>✕</a:t>
            </a:r>
            <a:endParaRPr lang="en-US" sz="1100" dirty="0"/>
          </a:p>
        </p:txBody>
      </p:sp>
      <p:sp>
        <p:nvSpPr>
          <p:cNvPr id="28" name="Text 26"/>
          <p:cNvSpPr txBox="1"/>
          <p:nvPr/>
        </p:nvSpPr>
        <p:spPr>
          <a:xfrm>
            <a:off x="6662776" y="2286000"/>
            <a:ext cx="4779112" cy="508145"/>
          </a:xfrm>
          <a:prstGeom prst="rect">
            <a:avLst/>
          </a:prstGeom>
          <a:noFill/>
          <a:ln/>
        </p:spPr>
        <p:txBody>
          <a:bodyPr wrap="square" lIns="0" tIns="0" rIns="0" bIns="0" rtlCol="0" anchor="t"/>
          <a:lstStyle/>
          <a:p>
            <a:pPr algn="l" indent="0" marL="0">
              <a:lnSpc>
                <a:spcPct val="104000"/>
              </a:lnSpc>
              <a:buNone/>
            </a:pPr>
            <a:r>
              <a:rPr lang="en-US" sz="980" dirty="0">
                <a:solidFill>
                  <a:srgbClr val="C7D0DE"/>
                </a:solidFill>
                <a:latin typeface="Helvetica Neue" pitchFamily="34" charset="0"/>
                <a:ea typeface="Helvetica Neue" pitchFamily="34" charset="-122"/>
                <a:cs typeface="Helvetica Neue" pitchFamily="34" charset="-120"/>
              </a:rPr>
              <a:t>Reliable V1–V5 classification against human judgement (RQ3): κ 0.16 vs target 0.70, macro-F1 0.19 vs 0.80</a:t>
            </a:r>
            <a:endParaRPr lang="en-US" sz="980" dirty="0"/>
          </a:p>
        </p:txBody>
      </p:sp>
      <p:sp>
        <p:nvSpPr>
          <p:cNvPr id="29" name="Text 27"/>
          <p:cNvSpPr txBox="1"/>
          <p:nvPr/>
        </p:nvSpPr>
        <p:spPr>
          <a:xfrm>
            <a:off x="6406744" y="2794145"/>
            <a:ext cx="228600" cy="508145"/>
          </a:xfrm>
          <a:prstGeom prst="rect">
            <a:avLst/>
          </a:prstGeom>
          <a:noFill/>
          <a:ln/>
        </p:spPr>
        <p:txBody>
          <a:bodyPr wrap="square" lIns="0" tIns="0" rIns="0" bIns="0" rtlCol="0" anchor="t"/>
          <a:lstStyle/>
          <a:p>
            <a:pPr algn="l" indent="0" marL="0">
              <a:buNone/>
            </a:pPr>
            <a:r>
              <a:rPr lang="en-US" sz="1100" b="1" dirty="0">
                <a:solidFill>
                  <a:srgbClr val="F0605E"/>
                </a:solidFill>
                <a:latin typeface="Helvetica Neue" pitchFamily="34" charset="0"/>
                <a:ea typeface="Helvetica Neue" pitchFamily="34" charset="-122"/>
                <a:cs typeface="Helvetica Neue" pitchFamily="34" charset="-120"/>
              </a:rPr>
              <a:t>✕</a:t>
            </a:r>
            <a:endParaRPr lang="en-US" sz="1100" dirty="0"/>
          </a:p>
        </p:txBody>
      </p:sp>
      <p:sp>
        <p:nvSpPr>
          <p:cNvPr id="30" name="Text 28"/>
          <p:cNvSpPr txBox="1"/>
          <p:nvPr/>
        </p:nvSpPr>
        <p:spPr>
          <a:xfrm>
            <a:off x="6662776" y="2794145"/>
            <a:ext cx="4779112" cy="508145"/>
          </a:xfrm>
          <a:prstGeom prst="rect">
            <a:avLst/>
          </a:prstGeom>
          <a:noFill/>
          <a:ln/>
        </p:spPr>
        <p:txBody>
          <a:bodyPr wrap="square" lIns="0" tIns="0" rIns="0" bIns="0" rtlCol="0" anchor="t"/>
          <a:lstStyle/>
          <a:p>
            <a:pPr algn="l" indent="0" marL="0">
              <a:lnSpc>
                <a:spcPct val="104000"/>
              </a:lnSpc>
              <a:buNone/>
            </a:pPr>
            <a:r>
              <a:rPr lang="en-US" sz="980" dirty="0">
                <a:solidFill>
                  <a:srgbClr val="C7D0DE"/>
                </a:solidFill>
                <a:latin typeface="Helvetica Neue" pitchFamily="34" charset="0"/>
                <a:ea typeface="Helvetica Neue" pitchFamily="34" charset="-122"/>
                <a:cs typeface="Helvetica Neue" pitchFamily="34" charset="-120"/>
              </a:rPr>
              <a:t>Fabrication recall 0.09 — the dangerous direction; under-specification fires on ≈ 55 % of explanations vs 12.5 % by the annotator</a:t>
            </a:r>
            <a:endParaRPr lang="en-US" sz="980" dirty="0"/>
          </a:p>
        </p:txBody>
      </p:sp>
      <p:sp>
        <p:nvSpPr>
          <p:cNvPr id="31" name="Text 29"/>
          <p:cNvSpPr txBox="1"/>
          <p:nvPr/>
        </p:nvSpPr>
        <p:spPr>
          <a:xfrm>
            <a:off x="6406744" y="3302290"/>
            <a:ext cx="228600" cy="508145"/>
          </a:xfrm>
          <a:prstGeom prst="rect">
            <a:avLst/>
          </a:prstGeom>
          <a:noFill/>
          <a:ln/>
        </p:spPr>
        <p:txBody>
          <a:bodyPr wrap="square" lIns="0" tIns="0" rIns="0" bIns="0" rtlCol="0" anchor="t"/>
          <a:lstStyle/>
          <a:p>
            <a:pPr algn="l" indent="0" marL="0">
              <a:buNone/>
            </a:pPr>
            <a:r>
              <a:rPr lang="en-US" sz="1100" b="1" dirty="0">
                <a:solidFill>
                  <a:srgbClr val="F0605E"/>
                </a:solidFill>
                <a:latin typeface="Helvetica Neue" pitchFamily="34" charset="0"/>
                <a:ea typeface="Helvetica Neue" pitchFamily="34" charset="-122"/>
                <a:cs typeface="Helvetica Neue" pitchFamily="34" charset="-120"/>
              </a:rPr>
              <a:t>✕</a:t>
            </a:r>
            <a:endParaRPr lang="en-US" sz="1100" dirty="0"/>
          </a:p>
        </p:txBody>
      </p:sp>
      <p:sp>
        <p:nvSpPr>
          <p:cNvPr id="32" name="Text 30"/>
          <p:cNvSpPr txBox="1"/>
          <p:nvPr/>
        </p:nvSpPr>
        <p:spPr>
          <a:xfrm>
            <a:off x="6662776" y="3302290"/>
            <a:ext cx="4779112" cy="508145"/>
          </a:xfrm>
          <a:prstGeom prst="rect">
            <a:avLst/>
          </a:prstGeom>
          <a:noFill/>
          <a:ln/>
        </p:spPr>
        <p:txBody>
          <a:bodyPr wrap="square" lIns="0" tIns="0" rIns="0" bIns="0" rtlCol="0" anchor="t"/>
          <a:lstStyle/>
          <a:p>
            <a:pPr algn="l" indent="0" marL="0">
              <a:lnSpc>
                <a:spcPct val="104000"/>
              </a:lnSpc>
              <a:buNone/>
            </a:pPr>
            <a:r>
              <a:rPr lang="en-US" sz="980" dirty="0">
                <a:solidFill>
                  <a:srgbClr val="C7D0DE"/>
                </a:solidFill>
                <a:latin typeface="Helvetica Neue" pitchFamily="34" charset="0"/>
                <a:ea typeface="Helvetica Neue" pitchFamily="34" charset="-122"/>
                <a:cs typeface="Helvetica Neue" pitchFamily="34" charset="-120"/>
              </a:rPr>
              <a:t>V2, V3 and V5 not estimable on the annotated set (support 17 / 2 / 0)</a:t>
            </a:r>
            <a:endParaRPr lang="en-US" sz="980" dirty="0"/>
          </a:p>
        </p:txBody>
      </p:sp>
      <p:sp>
        <p:nvSpPr>
          <p:cNvPr id="33" name="Text 31"/>
          <p:cNvSpPr txBox="1"/>
          <p:nvPr/>
        </p:nvSpPr>
        <p:spPr>
          <a:xfrm>
            <a:off x="6406744" y="3810435"/>
            <a:ext cx="228600" cy="508145"/>
          </a:xfrm>
          <a:prstGeom prst="rect">
            <a:avLst/>
          </a:prstGeom>
          <a:noFill/>
          <a:ln/>
        </p:spPr>
        <p:txBody>
          <a:bodyPr wrap="square" lIns="0" tIns="0" rIns="0" bIns="0" rtlCol="0" anchor="t"/>
          <a:lstStyle/>
          <a:p>
            <a:pPr algn="l" indent="0" marL="0">
              <a:buNone/>
            </a:pPr>
            <a:r>
              <a:rPr lang="en-US" sz="1100" b="1" dirty="0">
                <a:solidFill>
                  <a:srgbClr val="F0605E"/>
                </a:solidFill>
                <a:latin typeface="Helvetica Neue" pitchFamily="34" charset="0"/>
                <a:ea typeface="Helvetica Neue" pitchFamily="34" charset="-122"/>
                <a:cs typeface="Helvetica Neue" pitchFamily="34" charset="-120"/>
              </a:rPr>
              <a:t>✕</a:t>
            </a:r>
            <a:endParaRPr lang="en-US" sz="1100" dirty="0"/>
          </a:p>
        </p:txBody>
      </p:sp>
      <p:sp>
        <p:nvSpPr>
          <p:cNvPr id="34" name="Text 32"/>
          <p:cNvSpPr txBox="1"/>
          <p:nvPr/>
        </p:nvSpPr>
        <p:spPr>
          <a:xfrm>
            <a:off x="6662776" y="3810435"/>
            <a:ext cx="4779112" cy="508145"/>
          </a:xfrm>
          <a:prstGeom prst="rect">
            <a:avLst/>
          </a:prstGeom>
          <a:noFill/>
          <a:ln/>
        </p:spPr>
        <p:txBody>
          <a:bodyPr wrap="square" lIns="0" tIns="0" rIns="0" bIns="0" rtlCol="0" anchor="t"/>
          <a:lstStyle/>
          <a:p>
            <a:pPr algn="l" indent="0" marL="0">
              <a:lnSpc>
                <a:spcPct val="104000"/>
              </a:lnSpc>
              <a:buNone/>
            </a:pPr>
            <a:r>
              <a:rPr lang="en-US" sz="980" dirty="0">
                <a:solidFill>
                  <a:srgbClr val="C7D0DE"/>
                </a:solidFill>
                <a:latin typeface="Helvetica Neue" pitchFamily="34" charset="0"/>
                <a:ea typeface="Helvetica Neue" pitchFamily="34" charset="-122"/>
                <a:cs typeface="Helvetica Neue" pitchFamily="34" charset="-120"/>
              </a:rPr>
              <a:t>No validation against the official NES@FIT automaton schema — all machine-checkable constraints inactive, all verdicts proxy</a:t>
            </a:r>
            <a:endParaRPr lang="en-US" sz="980" dirty="0"/>
          </a:p>
        </p:txBody>
      </p:sp>
      <p:sp>
        <p:nvSpPr>
          <p:cNvPr id="35" name="Text 33"/>
          <p:cNvSpPr txBox="1"/>
          <p:nvPr/>
        </p:nvSpPr>
        <p:spPr>
          <a:xfrm>
            <a:off x="6406744" y="4318581"/>
            <a:ext cx="228600" cy="508145"/>
          </a:xfrm>
          <a:prstGeom prst="rect">
            <a:avLst/>
          </a:prstGeom>
          <a:noFill/>
          <a:ln/>
        </p:spPr>
        <p:txBody>
          <a:bodyPr wrap="square" lIns="0" tIns="0" rIns="0" bIns="0" rtlCol="0" anchor="t"/>
          <a:lstStyle/>
          <a:p>
            <a:pPr algn="l" indent="0" marL="0">
              <a:buNone/>
            </a:pPr>
            <a:r>
              <a:rPr lang="en-US" sz="1100" b="1" dirty="0">
                <a:solidFill>
                  <a:srgbClr val="F0605E"/>
                </a:solidFill>
                <a:latin typeface="Helvetica Neue" pitchFamily="34" charset="0"/>
                <a:ea typeface="Helvetica Neue" pitchFamily="34" charset="-122"/>
                <a:cs typeface="Helvetica Neue" pitchFamily="34" charset="-120"/>
              </a:rPr>
              <a:t>✕</a:t>
            </a:r>
            <a:endParaRPr lang="en-US" sz="1100" dirty="0"/>
          </a:p>
        </p:txBody>
      </p:sp>
      <p:sp>
        <p:nvSpPr>
          <p:cNvPr id="36" name="Text 34"/>
          <p:cNvSpPr txBox="1"/>
          <p:nvPr/>
        </p:nvSpPr>
        <p:spPr>
          <a:xfrm>
            <a:off x="6662776" y="4318581"/>
            <a:ext cx="4779112" cy="508145"/>
          </a:xfrm>
          <a:prstGeom prst="rect">
            <a:avLst/>
          </a:prstGeom>
          <a:noFill/>
          <a:ln/>
        </p:spPr>
        <p:txBody>
          <a:bodyPr wrap="square" lIns="0" tIns="0" rIns="0" bIns="0" rtlCol="0" anchor="t"/>
          <a:lstStyle/>
          <a:p>
            <a:pPr algn="l" indent="0" marL="0">
              <a:lnSpc>
                <a:spcPct val="104000"/>
              </a:lnSpc>
              <a:buNone/>
            </a:pPr>
            <a:r>
              <a:rPr lang="en-US" sz="980" dirty="0">
                <a:solidFill>
                  <a:srgbClr val="C7D0DE"/>
                </a:solidFill>
                <a:latin typeface="Helvetica Neue" pitchFamily="34" charset="0"/>
                <a:ea typeface="Helvetica Neue" pitchFamily="34" charset="-122"/>
                <a:cs typeface="Helvetica Neue" pitchFamily="34" charset="-120"/>
              </a:rPr>
              <a:t>Single annotator; expert second-rater results pending; cloud-model outputs not human-checked</a:t>
            </a:r>
            <a:endParaRPr lang="en-US" sz="980" dirty="0"/>
          </a:p>
        </p:txBody>
      </p:sp>
      <p:sp>
        <p:nvSpPr>
          <p:cNvPr id="37" name="Text 35"/>
          <p:cNvSpPr txBox="1"/>
          <p:nvPr/>
        </p:nvSpPr>
        <p:spPr>
          <a:xfrm>
            <a:off x="6406744" y="4826726"/>
            <a:ext cx="228600" cy="508145"/>
          </a:xfrm>
          <a:prstGeom prst="rect">
            <a:avLst/>
          </a:prstGeom>
          <a:noFill/>
          <a:ln/>
        </p:spPr>
        <p:txBody>
          <a:bodyPr wrap="square" lIns="0" tIns="0" rIns="0" bIns="0" rtlCol="0" anchor="t"/>
          <a:lstStyle/>
          <a:p>
            <a:pPr algn="l" indent="0" marL="0">
              <a:buNone/>
            </a:pPr>
            <a:r>
              <a:rPr lang="en-US" sz="1100" b="1" dirty="0">
                <a:solidFill>
                  <a:srgbClr val="F0605E"/>
                </a:solidFill>
                <a:latin typeface="Helvetica Neue" pitchFamily="34" charset="0"/>
                <a:ea typeface="Helvetica Neue" pitchFamily="34" charset="-122"/>
                <a:cs typeface="Helvetica Neue" pitchFamily="34" charset="-120"/>
              </a:rPr>
              <a:t>✕</a:t>
            </a:r>
            <a:endParaRPr lang="en-US" sz="1100" dirty="0"/>
          </a:p>
        </p:txBody>
      </p:sp>
      <p:sp>
        <p:nvSpPr>
          <p:cNvPr id="38" name="Text 36"/>
          <p:cNvSpPr txBox="1"/>
          <p:nvPr/>
        </p:nvSpPr>
        <p:spPr>
          <a:xfrm>
            <a:off x="6662776" y="4826726"/>
            <a:ext cx="4779112" cy="508145"/>
          </a:xfrm>
          <a:prstGeom prst="rect">
            <a:avLst/>
          </a:prstGeom>
          <a:noFill/>
          <a:ln/>
        </p:spPr>
        <p:txBody>
          <a:bodyPr wrap="square" lIns="0" tIns="0" rIns="0" bIns="0" rtlCol="0" anchor="t"/>
          <a:lstStyle/>
          <a:p>
            <a:pPr algn="l" indent="0" marL="0">
              <a:lnSpc>
                <a:spcPct val="104000"/>
              </a:lnSpc>
              <a:buNone/>
            </a:pPr>
            <a:r>
              <a:rPr lang="en-US" sz="980" dirty="0">
                <a:solidFill>
                  <a:srgbClr val="C7D0DE"/>
                </a:solidFill>
                <a:latin typeface="Helvetica Neue" pitchFamily="34" charset="0"/>
                <a:ea typeface="Helvetica Neue" pitchFamily="34" charset="-122"/>
                <a:cs typeface="Helvetica Neue" pitchFamily="34" charset="-120"/>
              </a:rPr>
              <a:t>No operator-in-the-loop evidence that verdicts improve decisions</a:t>
            </a:r>
            <a:endParaRPr lang="en-US" sz="980" dirty="0"/>
          </a:p>
        </p:txBody>
      </p:sp>
      <p:sp>
        <p:nvSpPr>
          <p:cNvPr id="39" name="Text 37"/>
          <p:cNvSpPr txBox="1"/>
          <p:nvPr/>
        </p:nvSpPr>
        <p:spPr>
          <a:xfrm>
            <a:off x="6406744" y="5334871"/>
            <a:ext cx="228600" cy="508145"/>
          </a:xfrm>
          <a:prstGeom prst="rect">
            <a:avLst/>
          </a:prstGeom>
          <a:noFill/>
          <a:ln/>
        </p:spPr>
        <p:txBody>
          <a:bodyPr wrap="square" lIns="0" tIns="0" rIns="0" bIns="0" rtlCol="0" anchor="t"/>
          <a:lstStyle/>
          <a:p>
            <a:pPr algn="l" indent="0" marL="0">
              <a:buNone/>
            </a:pPr>
            <a:r>
              <a:rPr lang="en-US" sz="1100" b="1" dirty="0">
                <a:solidFill>
                  <a:srgbClr val="F0605E"/>
                </a:solidFill>
                <a:latin typeface="Helvetica Neue" pitchFamily="34" charset="0"/>
                <a:ea typeface="Helvetica Neue" pitchFamily="34" charset="-122"/>
                <a:cs typeface="Helvetica Neue" pitchFamily="34" charset="-120"/>
              </a:rPr>
              <a:t>✕</a:t>
            </a:r>
            <a:endParaRPr lang="en-US" sz="1100" dirty="0"/>
          </a:p>
        </p:txBody>
      </p:sp>
      <p:sp>
        <p:nvSpPr>
          <p:cNvPr id="40" name="Text 38"/>
          <p:cNvSpPr txBox="1"/>
          <p:nvPr/>
        </p:nvSpPr>
        <p:spPr>
          <a:xfrm>
            <a:off x="6662776" y="5334871"/>
            <a:ext cx="4779112" cy="508145"/>
          </a:xfrm>
          <a:prstGeom prst="rect">
            <a:avLst/>
          </a:prstGeom>
          <a:noFill/>
          <a:ln/>
        </p:spPr>
        <p:txBody>
          <a:bodyPr wrap="square" lIns="0" tIns="0" rIns="0" bIns="0" rtlCol="0" anchor="t"/>
          <a:lstStyle/>
          <a:p>
            <a:pPr algn="l" indent="0" marL="0">
              <a:lnSpc>
                <a:spcPct val="104000"/>
              </a:lnSpc>
              <a:buNone/>
            </a:pPr>
            <a:r>
              <a:rPr lang="en-US" sz="980" dirty="0">
                <a:solidFill>
                  <a:srgbClr val="C7D0DE"/>
                </a:solidFill>
                <a:latin typeface="Helvetica Neue" pitchFamily="34" charset="0"/>
                <a:ea typeface="Helvetica Neue" pitchFamily="34" charset="-122"/>
                <a:cs typeface="Helvetica Neue" pitchFamily="34" charset="-120"/>
              </a:rPr>
              <a:t>Checking happens after generation on complete texts — no token-level online monitoring</a:t>
            </a:r>
            <a:endParaRPr lang="en-US" sz="98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indent="0" marL="0">
              <a:buNone/>
            </a:pPr>
            <a:r>
              <a:rPr lang="en-US" sz="1050" spc="200" kern="0" dirty="0">
                <a:solidFill>
                  <a:srgbClr val="2DD4BF"/>
                </a:solidFill>
                <a:latin typeface="Consolas" pitchFamily="34" charset="0"/>
                <a:ea typeface="Consolas" pitchFamily="34" charset="-122"/>
                <a:cs typeface="Consolas" pitchFamily="34" charset="-120"/>
              </a:rPr>
              <a:t>15 · LIMITATIONS AND THREATS TO VALIDITY</a:t>
            </a:r>
            <a:endParaRPr lang="en-US" sz="1050" dirty="0"/>
          </a:p>
        </p:txBody>
      </p:sp>
      <p:sp>
        <p:nvSpPr>
          <p:cNvPr id="3" name="Text 1"/>
          <p:cNvSpPr txBox="1"/>
          <p:nvPr/>
        </p:nvSpPr>
        <p:spPr>
          <a:xfrm>
            <a:off x="548640" y="603504"/>
            <a:ext cx="11094415" cy="566928"/>
          </a:xfrm>
          <a:prstGeom prst="rect">
            <a:avLst/>
          </a:prstGeom>
          <a:noFill/>
          <a:ln/>
        </p:spPr>
        <p:txBody>
          <a:bodyPr wrap="square" lIns="0" tIns="0" rIns="0" bIns="0" rtlCol="0" anchor="t"/>
          <a:lstStyle/>
          <a:p>
            <a:pPr indent="0" marL="0">
              <a:buNone/>
            </a:pPr>
            <a:r>
              <a:rPr lang="en-US" sz="2100" b="1" dirty="0">
                <a:solidFill>
                  <a:srgbClr val="E9EEF6"/>
                </a:solidFill>
                <a:latin typeface="Helvetica Neue" pitchFamily="34" charset="0"/>
                <a:ea typeface="Helvetica Neue" pitchFamily="34" charset="-122"/>
                <a:cs typeface="Helvetica Neue" pitchFamily="34" charset="-120"/>
              </a:rPr>
              <a:t>Five limitations — effect on the claims, and the next step for each</a:t>
            </a:r>
            <a:endParaRPr lang="en-US" sz="21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350" dirty="0">
                <a:solidFill>
                  <a:srgbClr val="93A0B8"/>
                </a:solidFill>
                <a:latin typeface="Helvetica Neue" pitchFamily="34" charset="0"/>
                <a:ea typeface="Helvetica Neue" pitchFamily="34" charset="-122"/>
                <a:cs typeface="Helvetica Neue" pitchFamily="34" charset="-120"/>
              </a:rPr>
              <a:t>All are stated in the thesis (§1.5, §5.2, §5.6); none is hidden behind aggregate numbers.</a:t>
            </a:r>
            <a:endParaRPr lang="en-US" sz="1350" dirty="0"/>
          </a:p>
        </p:txBody>
      </p:sp>
      <p:sp>
        <p:nvSpPr>
          <p:cNvPr id="5" name="Text 3"/>
          <p:cNvSpPr txBox="1"/>
          <p:nvPr/>
        </p:nvSpPr>
        <p:spPr>
          <a:xfrm>
            <a:off x="548640" y="6473952"/>
            <a:ext cx="8778240" cy="219456"/>
          </a:xfrm>
          <a:prstGeom prst="rect">
            <a:avLst/>
          </a:prstGeom>
          <a:noFill/>
          <a:ln/>
        </p:spPr>
        <p:txBody>
          <a:bodyPr wrap="square" lIns="0" tIns="0" rIns="0" bIns="0" rtlCol="0" anchor="ctr"/>
          <a:lstStyle/>
          <a:p>
            <a:pPr indent="0" marL="0">
              <a:buNone/>
            </a:pPr>
            <a:r>
              <a:rPr lang="en-US" sz="850" dirty="0">
                <a:solidFill>
                  <a:srgbClr val="5C6A85"/>
                </a:solidFill>
                <a:latin typeface="Helvetica Neue" pitchFamily="34" charset="0"/>
                <a:ea typeface="Helvetica Neue" pitchFamily="34" charset="-122"/>
                <a:cs typeface="Helvetica Neue" pitchFamily="34" charset="-120"/>
              </a:rPr>
              <a:t>ReasonGuard  ·  Runtime Verification of AI Reasoning Faithfulness  ·  R. Bilalov  ·  SRH University Hamburg / FIT VUT Brno</a:t>
            </a:r>
            <a:endParaRPr lang="en-US" sz="850" dirty="0"/>
          </a:p>
        </p:txBody>
      </p:sp>
      <p:sp>
        <p:nvSpPr>
          <p:cNvPr id="6" name="Text 4"/>
          <p:cNvSpPr txBox="1"/>
          <p:nvPr/>
        </p:nvSpPr>
        <p:spPr>
          <a:xfrm>
            <a:off x="10545775" y="6473952"/>
            <a:ext cx="1097280" cy="219456"/>
          </a:xfrm>
          <a:prstGeom prst="rect">
            <a:avLst/>
          </a:prstGeom>
          <a:noFill/>
          <a:ln/>
        </p:spPr>
        <p:txBody>
          <a:bodyPr wrap="square" lIns="0" tIns="0" rIns="0" bIns="0" rtlCol="0" anchor="ctr"/>
          <a:lstStyle/>
          <a:p>
            <a:pPr algn="r" indent="0" marL="0">
              <a:buNone/>
            </a:pPr>
            <a:r>
              <a:rPr lang="en-US" sz="900" dirty="0">
                <a:solidFill>
                  <a:srgbClr val="5C6A85"/>
                </a:solidFill>
                <a:latin typeface="Consolas" pitchFamily="34" charset="0"/>
                <a:ea typeface="Consolas" pitchFamily="34" charset="-122"/>
                <a:cs typeface="Consolas" pitchFamily="34" charset="-120"/>
              </a:rPr>
              <a:t>16 / 18</a:t>
            </a:r>
            <a:endParaRPr lang="en-US" sz="900" dirty="0"/>
          </a:p>
        </p:txBody>
      </p:sp>
      <p:sp>
        <p:nvSpPr>
          <p:cNvPr id="7" name="Shape 5"/>
          <p:cNvSpPr/>
          <p:nvPr/>
        </p:nvSpPr>
        <p:spPr>
          <a:xfrm>
            <a:off x="548640" y="1810512"/>
            <a:ext cx="2116470" cy="4206240"/>
          </a:xfrm>
          <a:prstGeom prst="roundRect">
            <a:avLst>
              <a:gd name="adj" fmla="val 3456"/>
            </a:avLst>
          </a:prstGeom>
          <a:solidFill>
            <a:srgbClr val="121B2E"/>
          </a:solidFill>
          <a:ln w="13970">
            <a:solidFill>
              <a:srgbClr val="F5A524"/>
            </a:solidFill>
            <a:prstDash val="solid"/>
          </a:ln>
        </p:spPr>
      </p:sp>
      <p:sp>
        <p:nvSpPr>
          <p:cNvPr id="8" name="Text 6"/>
          <p:cNvSpPr txBox="1"/>
          <p:nvPr/>
        </p:nvSpPr>
        <p:spPr>
          <a:xfrm>
            <a:off x="713232" y="1956816"/>
            <a:ext cx="1787286" cy="384048"/>
          </a:xfrm>
          <a:prstGeom prst="rect">
            <a:avLst/>
          </a:prstGeom>
          <a:noFill/>
          <a:ln/>
        </p:spPr>
        <p:txBody>
          <a:bodyPr wrap="square" lIns="0" tIns="0" rIns="0" bIns="0" rtlCol="0" anchor="t"/>
          <a:lstStyle/>
          <a:p>
            <a:pPr algn="l" indent="0" marL="0">
              <a:buNone/>
            </a:pPr>
            <a:r>
              <a:rPr lang="en-US" sz="880" b="1" spc="50" kern="0" dirty="0">
                <a:solidFill>
                  <a:srgbClr val="F5A524"/>
                </a:solidFill>
                <a:latin typeface="Consolas" pitchFamily="34" charset="0"/>
                <a:ea typeface="Consolas" pitchFamily="34" charset="-122"/>
                <a:cs typeface="Consolas" pitchFamily="34" charset="-120"/>
              </a:rPr>
              <a:t>PROXY FORMAL VERIFICATION</a:t>
            </a:r>
            <a:endParaRPr lang="en-US" sz="880" dirty="0"/>
          </a:p>
        </p:txBody>
      </p:sp>
      <p:sp>
        <p:nvSpPr>
          <p:cNvPr id="9" name="Text 7"/>
          <p:cNvSpPr txBox="1"/>
          <p:nvPr/>
        </p:nvSpPr>
        <p:spPr>
          <a:xfrm>
            <a:off x="713232" y="2377440"/>
            <a:ext cx="1787286" cy="164592"/>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WHAT</a:t>
            </a:r>
            <a:endParaRPr lang="en-US" sz="750" dirty="0"/>
          </a:p>
        </p:txBody>
      </p:sp>
      <p:sp>
        <p:nvSpPr>
          <p:cNvPr id="10" name="Text 8"/>
          <p:cNvSpPr txBox="1"/>
          <p:nvPr/>
        </p:nvSpPr>
        <p:spPr>
          <a:xfrm>
            <a:off x="713232" y="2560320"/>
            <a:ext cx="1787286" cy="1207008"/>
          </a:xfrm>
          <a:prstGeom prst="rect">
            <a:avLst/>
          </a:prstGeom>
          <a:noFill/>
          <a:ln/>
        </p:spPr>
        <p:txBody>
          <a:bodyPr wrap="square" lIns="0" tIns="0" rIns="0" bIns="0" rtlCol="0" anchor="t"/>
          <a:lstStyle/>
          <a:p>
            <a:pPr algn="l" indent="0" marL="0">
              <a:lnSpc>
                <a:spcPct val="104000"/>
              </a:lnSpc>
              <a:buNone/>
            </a:pPr>
            <a:r>
              <a:rPr lang="en-US" sz="880" dirty="0">
                <a:solidFill>
                  <a:srgbClr val="C7D0DE"/>
                </a:solidFill>
                <a:latin typeface="Helvetica Neue" pitchFamily="34" charset="0"/>
                <a:ea typeface="Helvetica Neue" pitchFamily="34" charset="-122"/>
                <a:cs typeface="Helvetica Neue" pitchFamily="34" charset="-120"/>
              </a:rPr>
              <a:t>Official NES@FIT automaton schema unavailable → formal_class and event type from an internal rule-based classifier; all machine_constraints false, i.e. the machine-checkable constraints were inactive.</a:t>
            </a:r>
            <a:endParaRPr lang="en-US" sz="880" dirty="0"/>
          </a:p>
        </p:txBody>
      </p:sp>
      <p:sp>
        <p:nvSpPr>
          <p:cNvPr id="11" name="Text 9"/>
          <p:cNvSpPr txBox="1"/>
          <p:nvPr/>
        </p:nvSpPr>
        <p:spPr>
          <a:xfrm>
            <a:off x="713232" y="3840480"/>
            <a:ext cx="1787286" cy="164592"/>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EFFECT ON CLAIMS</a:t>
            </a:r>
            <a:endParaRPr lang="en-US" sz="750" dirty="0"/>
          </a:p>
        </p:txBody>
      </p:sp>
      <p:sp>
        <p:nvSpPr>
          <p:cNvPr id="12" name="Text 10"/>
          <p:cNvSpPr txBox="1"/>
          <p:nvPr/>
        </p:nvSpPr>
        <p:spPr>
          <a:xfrm>
            <a:off x="713232" y="4023360"/>
            <a:ext cx="1787286" cy="960120"/>
          </a:xfrm>
          <a:prstGeom prst="rect">
            <a:avLst/>
          </a:prstGeom>
          <a:noFill/>
          <a:ln/>
        </p:spPr>
        <p:txBody>
          <a:bodyPr wrap="square" lIns="0" tIns="0" rIns="0" bIns="0" rtlCol="0" anchor="t"/>
          <a:lstStyle/>
          <a:p>
            <a:pPr algn="l" indent="0" marL="0">
              <a:lnSpc>
                <a:spcPct val="104000"/>
              </a:lnSpc>
              <a:buNone/>
            </a:pPr>
            <a:r>
              <a:rPr lang="en-US" sz="880" dirty="0">
                <a:solidFill>
                  <a:srgbClr val="C7D0DE"/>
                </a:solidFill>
                <a:latin typeface="Helvetica Neue" pitchFamily="34" charset="0"/>
                <a:ea typeface="Helvetica Neue" pitchFamily="34" charset="-122"/>
                <a:cs typeface="Helvetica Neue" pitchFamily="34" charset="-120"/>
              </a:rPr>
              <a:t>Results validate the framework under a proxy bound — not the official formal verdict. Every artefact is labelled proxy.</a:t>
            </a:r>
            <a:endParaRPr lang="en-US" sz="880" dirty="0"/>
          </a:p>
        </p:txBody>
      </p:sp>
      <p:sp>
        <p:nvSpPr>
          <p:cNvPr id="13" name="Text 11"/>
          <p:cNvSpPr txBox="1"/>
          <p:nvPr/>
        </p:nvSpPr>
        <p:spPr>
          <a:xfrm>
            <a:off x="713232" y="5056632"/>
            <a:ext cx="1787286" cy="164592"/>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NEXT STEP</a:t>
            </a:r>
            <a:endParaRPr lang="en-US" sz="750" dirty="0"/>
          </a:p>
        </p:txBody>
      </p:sp>
      <p:sp>
        <p:nvSpPr>
          <p:cNvPr id="14" name="Text 12"/>
          <p:cNvSpPr txBox="1"/>
          <p:nvPr/>
        </p:nvSpPr>
        <p:spPr>
          <a:xfrm>
            <a:off x="713232" y="5239512"/>
            <a:ext cx="1787286" cy="868680"/>
          </a:xfrm>
          <a:prstGeom prst="rect">
            <a:avLst/>
          </a:prstGeom>
          <a:noFill/>
          <a:ln/>
        </p:spPr>
        <p:txBody>
          <a:bodyPr wrap="square" lIns="0" tIns="0" rIns="0" bIns="0" rtlCol="0" anchor="t"/>
          <a:lstStyle/>
          <a:p>
            <a:pPr algn="l" indent="0" marL="0">
              <a:lnSpc>
                <a:spcPct val="104000"/>
              </a:lnSpc>
              <a:buNone/>
            </a:pPr>
            <a:r>
              <a:rPr lang="en-US" sz="880" dirty="0">
                <a:solidFill>
                  <a:srgbClr val="E9EEF6"/>
                </a:solidFill>
                <a:latin typeface="Helvetica Neue" pitchFamily="34" charset="0"/>
                <a:ea typeface="Helvetica Neue" pitchFamily="34" charset="-122"/>
                <a:cs typeface="Helvetica Neue" pitchFamily="34" charset="-120"/>
              </a:rPr>
              <a:t>Plug in the official schema, regenerate all artefacts deterministically, repeat the evaluation — highest-priority follow-up.</a:t>
            </a:r>
            <a:endParaRPr lang="en-US" sz="880" dirty="0"/>
          </a:p>
        </p:txBody>
      </p:sp>
      <p:sp>
        <p:nvSpPr>
          <p:cNvPr id="15" name="Shape 13"/>
          <p:cNvSpPr/>
          <p:nvPr/>
        </p:nvSpPr>
        <p:spPr>
          <a:xfrm>
            <a:off x="2793126" y="1810512"/>
            <a:ext cx="2116470" cy="4206240"/>
          </a:xfrm>
          <a:prstGeom prst="roundRect">
            <a:avLst>
              <a:gd name="adj" fmla="val 3456"/>
            </a:avLst>
          </a:prstGeom>
          <a:solidFill>
            <a:srgbClr val="121B2E"/>
          </a:solidFill>
          <a:ln w="9525">
            <a:solidFill>
              <a:srgbClr val="2A3752"/>
            </a:solidFill>
            <a:prstDash val="solid"/>
          </a:ln>
        </p:spPr>
      </p:sp>
      <p:sp>
        <p:nvSpPr>
          <p:cNvPr id="16" name="Text 14"/>
          <p:cNvSpPr txBox="1"/>
          <p:nvPr/>
        </p:nvSpPr>
        <p:spPr>
          <a:xfrm>
            <a:off x="2957718" y="1956816"/>
            <a:ext cx="1787286" cy="384048"/>
          </a:xfrm>
          <a:prstGeom prst="rect">
            <a:avLst/>
          </a:prstGeom>
          <a:noFill/>
          <a:ln/>
        </p:spPr>
        <p:txBody>
          <a:bodyPr wrap="square" lIns="0" tIns="0" rIns="0" bIns="0" rtlCol="0" anchor="t"/>
          <a:lstStyle/>
          <a:p>
            <a:pPr algn="l" indent="0" marL="0">
              <a:buNone/>
            </a:pPr>
            <a:r>
              <a:rPr lang="en-US" sz="880" b="1" spc="50" kern="0" dirty="0">
                <a:solidFill>
                  <a:srgbClr val="2DD4BF"/>
                </a:solidFill>
                <a:latin typeface="Consolas" pitchFamily="34" charset="0"/>
                <a:ea typeface="Consolas" pitchFamily="34" charset="-122"/>
                <a:cs typeface="Consolas" pitchFamily="34" charset="-120"/>
              </a:rPr>
              <a:t>POST-GENERATION CHECKING</a:t>
            </a:r>
            <a:endParaRPr lang="en-US" sz="880" dirty="0"/>
          </a:p>
        </p:txBody>
      </p:sp>
      <p:sp>
        <p:nvSpPr>
          <p:cNvPr id="17" name="Text 15"/>
          <p:cNvSpPr txBox="1"/>
          <p:nvPr/>
        </p:nvSpPr>
        <p:spPr>
          <a:xfrm>
            <a:off x="2957718" y="2377440"/>
            <a:ext cx="1787286" cy="164592"/>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WHAT</a:t>
            </a:r>
            <a:endParaRPr lang="en-US" sz="750" dirty="0"/>
          </a:p>
        </p:txBody>
      </p:sp>
      <p:sp>
        <p:nvSpPr>
          <p:cNvPr id="18" name="Text 16"/>
          <p:cNvSpPr txBox="1"/>
          <p:nvPr/>
        </p:nvSpPr>
        <p:spPr>
          <a:xfrm>
            <a:off x="2957718" y="2560320"/>
            <a:ext cx="1787286" cy="1207008"/>
          </a:xfrm>
          <a:prstGeom prst="rect">
            <a:avLst/>
          </a:prstGeom>
          <a:noFill/>
          <a:ln/>
        </p:spPr>
        <p:txBody>
          <a:bodyPr wrap="square" lIns="0" tIns="0" rIns="0" bIns="0" rtlCol="0" anchor="t"/>
          <a:lstStyle/>
          <a:p>
            <a:pPr algn="l" indent="0" marL="0">
              <a:lnSpc>
                <a:spcPct val="104000"/>
              </a:lnSpc>
              <a:buNone/>
            </a:pPr>
            <a:r>
              <a:rPr lang="en-US" sz="880" dirty="0">
                <a:solidFill>
                  <a:srgbClr val="C7D0DE"/>
                </a:solidFill>
                <a:latin typeface="Helvetica Neue" pitchFamily="34" charset="0"/>
                <a:ea typeface="Helvetica Neue" pitchFamily="34" charset="-122"/>
                <a:cs typeface="Helvetica Neue" pitchFamily="34" charset="-120"/>
              </a:rPr>
              <a:t>The verifier receives the complete explanation and processes it in a single pass.</a:t>
            </a:r>
            <a:endParaRPr lang="en-US" sz="880" dirty="0"/>
          </a:p>
        </p:txBody>
      </p:sp>
      <p:sp>
        <p:nvSpPr>
          <p:cNvPr id="19" name="Text 17"/>
          <p:cNvSpPr txBox="1"/>
          <p:nvPr/>
        </p:nvSpPr>
        <p:spPr>
          <a:xfrm>
            <a:off x="2957718" y="3840480"/>
            <a:ext cx="1787286" cy="164592"/>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EFFECT ON CLAIMS</a:t>
            </a:r>
            <a:endParaRPr lang="en-US" sz="750" dirty="0"/>
          </a:p>
        </p:txBody>
      </p:sp>
      <p:sp>
        <p:nvSpPr>
          <p:cNvPr id="20" name="Text 18"/>
          <p:cNvSpPr txBox="1"/>
          <p:nvPr/>
        </p:nvSpPr>
        <p:spPr>
          <a:xfrm>
            <a:off x="2957718" y="4023360"/>
            <a:ext cx="1787286" cy="960120"/>
          </a:xfrm>
          <a:prstGeom prst="rect">
            <a:avLst/>
          </a:prstGeom>
          <a:noFill/>
          <a:ln/>
        </p:spPr>
        <p:txBody>
          <a:bodyPr wrap="square" lIns="0" tIns="0" rIns="0" bIns="0" rtlCol="0" anchor="t"/>
          <a:lstStyle/>
          <a:p>
            <a:pPr algn="l" indent="0" marL="0">
              <a:lnSpc>
                <a:spcPct val="104000"/>
              </a:lnSpc>
              <a:buNone/>
            </a:pPr>
            <a:r>
              <a:rPr lang="en-US" sz="880" dirty="0">
                <a:solidFill>
                  <a:srgbClr val="C7D0DE"/>
                </a:solidFill>
                <a:latin typeface="Helvetica Neue" pitchFamily="34" charset="0"/>
                <a:ea typeface="Helvetica Neue" pitchFamily="34" charset="-122"/>
                <a:cs typeface="Helvetica Neue" pitchFamily="34" charset="-120"/>
              </a:rPr>
              <a:t>“Runtime” means before the operator sees the text; no token-by-token monitoring is claimed.</a:t>
            </a:r>
            <a:endParaRPr lang="en-US" sz="880" dirty="0"/>
          </a:p>
        </p:txBody>
      </p:sp>
      <p:sp>
        <p:nvSpPr>
          <p:cNvPr id="21" name="Text 19"/>
          <p:cNvSpPr txBox="1"/>
          <p:nvPr/>
        </p:nvSpPr>
        <p:spPr>
          <a:xfrm>
            <a:off x="2957718" y="5056632"/>
            <a:ext cx="1787286" cy="164592"/>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NEXT STEP</a:t>
            </a:r>
            <a:endParaRPr lang="en-US" sz="750" dirty="0"/>
          </a:p>
        </p:txBody>
      </p:sp>
      <p:sp>
        <p:nvSpPr>
          <p:cNvPr id="22" name="Text 20"/>
          <p:cNvSpPr txBox="1"/>
          <p:nvPr/>
        </p:nvSpPr>
        <p:spPr>
          <a:xfrm>
            <a:off x="2957718" y="5239512"/>
            <a:ext cx="1787286" cy="868680"/>
          </a:xfrm>
          <a:prstGeom prst="rect">
            <a:avLst/>
          </a:prstGeom>
          <a:noFill/>
          <a:ln/>
        </p:spPr>
        <p:txBody>
          <a:bodyPr wrap="square" lIns="0" tIns="0" rIns="0" bIns="0" rtlCol="0" anchor="t"/>
          <a:lstStyle/>
          <a:p>
            <a:pPr algn="l" indent="0" marL="0">
              <a:lnSpc>
                <a:spcPct val="104000"/>
              </a:lnSpc>
              <a:buNone/>
            </a:pPr>
            <a:r>
              <a:rPr lang="en-US" sz="880" dirty="0">
                <a:solidFill>
                  <a:srgbClr val="E9EEF6"/>
                </a:solidFill>
                <a:latin typeface="Helvetica Neue" pitchFamily="34" charset="0"/>
                <a:ea typeface="Helvetica Neue" pitchFamily="34" charset="-122"/>
                <a:cs typeface="Helvetica Neue" pitchFamily="34" charset="-120"/>
              </a:rPr>
              <a:t>A streaming monitor is compatible in principle (faithfulness is a safety property) but was not built.</a:t>
            </a:r>
            <a:endParaRPr lang="en-US" sz="880" dirty="0"/>
          </a:p>
        </p:txBody>
      </p:sp>
      <p:sp>
        <p:nvSpPr>
          <p:cNvPr id="23" name="Shape 21"/>
          <p:cNvSpPr/>
          <p:nvPr/>
        </p:nvSpPr>
        <p:spPr>
          <a:xfrm>
            <a:off x="5037612" y="1810512"/>
            <a:ext cx="2116470" cy="4206240"/>
          </a:xfrm>
          <a:prstGeom prst="roundRect">
            <a:avLst>
              <a:gd name="adj" fmla="val 3456"/>
            </a:avLst>
          </a:prstGeom>
          <a:solidFill>
            <a:srgbClr val="121B2E"/>
          </a:solidFill>
          <a:ln w="9525">
            <a:solidFill>
              <a:srgbClr val="2A3752"/>
            </a:solidFill>
            <a:prstDash val="solid"/>
          </a:ln>
        </p:spPr>
      </p:sp>
      <p:sp>
        <p:nvSpPr>
          <p:cNvPr id="24" name="Text 22"/>
          <p:cNvSpPr txBox="1"/>
          <p:nvPr/>
        </p:nvSpPr>
        <p:spPr>
          <a:xfrm>
            <a:off x="5202204" y="1956816"/>
            <a:ext cx="1787286" cy="384048"/>
          </a:xfrm>
          <a:prstGeom prst="rect">
            <a:avLst/>
          </a:prstGeom>
          <a:noFill/>
          <a:ln/>
        </p:spPr>
        <p:txBody>
          <a:bodyPr wrap="square" lIns="0" tIns="0" rIns="0" bIns="0" rtlCol="0" anchor="t"/>
          <a:lstStyle/>
          <a:p>
            <a:pPr algn="l" indent="0" marL="0">
              <a:buNone/>
            </a:pPr>
            <a:r>
              <a:rPr lang="en-US" sz="880" b="1" spc="50" kern="0" dirty="0">
                <a:solidFill>
                  <a:srgbClr val="2DD4BF"/>
                </a:solidFill>
                <a:latin typeface="Consolas" pitchFamily="34" charset="0"/>
                <a:ea typeface="Consolas" pitchFamily="34" charset="-122"/>
                <a:cs typeface="Consolas" pitchFamily="34" charset="-120"/>
              </a:rPr>
              <a:t>ANNOTATION</a:t>
            </a:r>
            <a:endParaRPr lang="en-US" sz="880" dirty="0"/>
          </a:p>
        </p:txBody>
      </p:sp>
      <p:sp>
        <p:nvSpPr>
          <p:cNvPr id="25" name="Text 23"/>
          <p:cNvSpPr txBox="1"/>
          <p:nvPr/>
        </p:nvSpPr>
        <p:spPr>
          <a:xfrm>
            <a:off x="5202204" y="2377440"/>
            <a:ext cx="1787286" cy="164592"/>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WHAT</a:t>
            </a:r>
            <a:endParaRPr lang="en-US" sz="750" dirty="0"/>
          </a:p>
        </p:txBody>
      </p:sp>
      <p:sp>
        <p:nvSpPr>
          <p:cNvPr id="26" name="Text 24"/>
          <p:cNvSpPr txBox="1"/>
          <p:nvPr/>
        </p:nvSpPr>
        <p:spPr>
          <a:xfrm>
            <a:off x="5202204" y="2560320"/>
            <a:ext cx="1787286" cy="1207008"/>
          </a:xfrm>
          <a:prstGeom prst="rect">
            <a:avLst/>
          </a:prstGeom>
          <a:noFill/>
          <a:ln/>
        </p:spPr>
        <p:txBody>
          <a:bodyPr wrap="square" lIns="0" tIns="0" rIns="0" bIns="0" rtlCol="0" anchor="t"/>
          <a:lstStyle/>
          <a:p>
            <a:pPr algn="l" indent="0" marL="0">
              <a:lnSpc>
                <a:spcPct val="104000"/>
              </a:lnSpc>
              <a:buNone/>
            </a:pPr>
            <a:r>
              <a:rPr lang="en-US" sz="880" dirty="0">
                <a:solidFill>
                  <a:srgbClr val="C7D0DE"/>
                </a:solidFill>
                <a:latin typeface="Helvetica Neue" pitchFamily="34" charset="0"/>
                <a:ea typeface="Helvetica Neue" pitchFamily="34" charset="-122"/>
                <a:cs typeface="Helvetica Neue" pitchFamily="34" charset="-120"/>
              </a:rPr>
              <a:t>One annotator (the author); pairs sampled for class coverage; 114 synthetic + 86 local-model responses; no cloud outputs.</a:t>
            </a:r>
            <a:endParaRPr lang="en-US" sz="880" dirty="0"/>
          </a:p>
        </p:txBody>
      </p:sp>
      <p:sp>
        <p:nvSpPr>
          <p:cNvPr id="27" name="Text 25"/>
          <p:cNvSpPr txBox="1"/>
          <p:nvPr/>
        </p:nvSpPr>
        <p:spPr>
          <a:xfrm>
            <a:off x="5202204" y="3840480"/>
            <a:ext cx="1787286" cy="164592"/>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EFFECT ON CLAIMS</a:t>
            </a:r>
            <a:endParaRPr lang="en-US" sz="750" dirty="0"/>
          </a:p>
        </p:txBody>
      </p:sp>
      <p:sp>
        <p:nvSpPr>
          <p:cNvPr id="28" name="Text 26"/>
          <p:cNvSpPr txBox="1"/>
          <p:nvPr/>
        </p:nvSpPr>
        <p:spPr>
          <a:xfrm>
            <a:off x="5202204" y="4023360"/>
            <a:ext cx="1787286" cy="960120"/>
          </a:xfrm>
          <a:prstGeom prst="rect">
            <a:avLst/>
          </a:prstGeom>
          <a:noFill/>
          <a:ln/>
        </p:spPr>
        <p:txBody>
          <a:bodyPr wrap="square" lIns="0" tIns="0" rIns="0" bIns="0" rtlCol="0" anchor="t"/>
          <a:lstStyle/>
          <a:p>
            <a:pPr algn="l" indent="0" marL="0">
              <a:lnSpc>
                <a:spcPct val="104000"/>
              </a:lnSpc>
              <a:buNone/>
            </a:pPr>
            <a:r>
              <a:rPr lang="en-US" sz="880" dirty="0">
                <a:solidFill>
                  <a:srgbClr val="C7D0DE"/>
                </a:solidFill>
                <a:latin typeface="Helvetica Neue" pitchFamily="34" charset="0"/>
                <a:ea typeface="Helvetica Neue" pitchFamily="34" charset="-122"/>
                <a:cs typeface="Helvetica Neue" pitchFamily="34" charset="-120"/>
              </a:rPr>
              <a:t>κ and F1 reflect one reading of the guideline; no prevalence estimates; annotator and rule author coincide.</a:t>
            </a:r>
            <a:endParaRPr lang="en-US" sz="880" dirty="0"/>
          </a:p>
        </p:txBody>
      </p:sp>
      <p:sp>
        <p:nvSpPr>
          <p:cNvPr id="29" name="Text 27"/>
          <p:cNvSpPr txBox="1"/>
          <p:nvPr/>
        </p:nvSpPr>
        <p:spPr>
          <a:xfrm>
            <a:off x="5202204" y="5056632"/>
            <a:ext cx="1787286" cy="164592"/>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NEXT STEP</a:t>
            </a:r>
            <a:endParaRPr lang="en-US" sz="750" dirty="0"/>
          </a:p>
        </p:txBody>
      </p:sp>
      <p:sp>
        <p:nvSpPr>
          <p:cNvPr id="30" name="Text 28"/>
          <p:cNvSpPr txBox="1"/>
          <p:nvPr/>
        </p:nvSpPr>
        <p:spPr>
          <a:xfrm>
            <a:off x="5202204" y="5239512"/>
            <a:ext cx="1787286" cy="868680"/>
          </a:xfrm>
          <a:prstGeom prst="rect">
            <a:avLst/>
          </a:prstGeom>
          <a:noFill/>
          <a:ln/>
        </p:spPr>
        <p:txBody>
          <a:bodyPr wrap="square" lIns="0" tIns="0" rIns="0" bIns="0" rtlCol="0" anchor="t"/>
          <a:lstStyle/>
          <a:p>
            <a:pPr algn="l" indent="0" marL="0">
              <a:lnSpc>
                <a:spcPct val="104000"/>
              </a:lnSpc>
              <a:buNone/>
            </a:pPr>
            <a:r>
              <a:rPr lang="en-US" sz="880" dirty="0">
                <a:solidFill>
                  <a:srgbClr val="E9EEF6"/>
                </a:solidFill>
                <a:latin typeface="Helvetica Neue" pitchFamily="34" charset="0"/>
                <a:ea typeface="Helvetica Neue" pitchFamily="34" charset="-122"/>
                <a:cs typeface="Helvetica Neue" pitchFamily="34" charset="-120"/>
              </a:rPr>
              <a:t>50-pair blind expert package at NES@FIT (results pending) → inter-rater κ; multi-annotator adjudication.</a:t>
            </a:r>
            <a:endParaRPr lang="en-US" sz="880" dirty="0"/>
          </a:p>
        </p:txBody>
      </p:sp>
      <p:sp>
        <p:nvSpPr>
          <p:cNvPr id="31" name="Shape 29"/>
          <p:cNvSpPr/>
          <p:nvPr/>
        </p:nvSpPr>
        <p:spPr>
          <a:xfrm>
            <a:off x="7282099" y="1810512"/>
            <a:ext cx="2116470" cy="4206240"/>
          </a:xfrm>
          <a:prstGeom prst="roundRect">
            <a:avLst>
              <a:gd name="adj" fmla="val 3456"/>
            </a:avLst>
          </a:prstGeom>
          <a:solidFill>
            <a:srgbClr val="121B2E"/>
          </a:solidFill>
          <a:ln w="9525">
            <a:solidFill>
              <a:srgbClr val="2A3752"/>
            </a:solidFill>
            <a:prstDash val="solid"/>
          </a:ln>
        </p:spPr>
      </p:sp>
      <p:sp>
        <p:nvSpPr>
          <p:cNvPr id="32" name="Text 30"/>
          <p:cNvSpPr txBox="1"/>
          <p:nvPr/>
        </p:nvSpPr>
        <p:spPr>
          <a:xfrm>
            <a:off x="7446691" y="1956816"/>
            <a:ext cx="1787286" cy="384048"/>
          </a:xfrm>
          <a:prstGeom prst="rect">
            <a:avLst/>
          </a:prstGeom>
          <a:noFill/>
          <a:ln/>
        </p:spPr>
        <p:txBody>
          <a:bodyPr wrap="square" lIns="0" tIns="0" rIns="0" bIns="0" rtlCol="0" anchor="t"/>
          <a:lstStyle/>
          <a:p>
            <a:pPr algn="l" indent="0" marL="0">
              <a:buNone/>
            </a:pPr>
            <a:r>
              <a:rPr lang="en-US" sz="880" b="1" spc="50" kern="0" dirty="0">
                <a:solidFill>
                  <a:srgbClr val="2DD4BF"/>
                </a:solidFill>
                <a:latin typeface="Consolas" pitchFamily="34" charset="0"/>
                <a:ea typeface="Consolas" pitchFamily="34" charset="-122"/>
                <a:cs typeface="Consolas" pitchFamily="34" charset="-120"/>
              </a:rPr>
              <a:t>MODEL CONFOUNDING</a:t>
            </a:r>
            <a:endParaRPr lang="en-US" sz="880" dirty="0"/>
          </a:p>
        </p:txBody>
      </p:sp>
      <p:sp>
        <p:nvSpPr>
          <p:cNvPr id="33" name="Text 31"/>
          <p:cNvSpPr txBox="1"/>
          <p:nvPr/>
        </p:nvSpPr>
        <p:spPr>
          <a:xfrm>
            <a:off x="7446691" y="2377440"/>
            <a:ext cx="1787286" cy="164592"/>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WHAT</a:t>
            </a:r>
            <a:endParaRPr lang="en-US" sz="750" dirty="0"/>
          </a:p>
        </p:txBody>
      </p:sp>
      <p:sp>
        <p:nvSpPr>
          <p:cNvPr id="34" name="Text 32"/>
          <p:cNvSpPr txBox="1"/>
          <p:nvPr/>
        </p:nvSpPr>
        <p:spPr>
          <a:xfrm>
            <a:off x="7446691" y="2560320"/>
            <a:ext cx="1787286" cy="1207008"/>
          </a:xfrm>
          <a:prstGeom prst="rect">
            <a:avLst/>
          </a:prstGeom>
          <a:noFill/>
          <a:ln/>
        </p:spPr>
        <p:txBody>
          <a:bodyPr wrap="square" lIns="0" tIns="0" rIns="0" bIns="0" rtlCol="0" anchor="t"/>
          <a:lstStyle/>
          <a:p>
            <a:pPr algn="l" indent="0" marL="0">
              <a:lnSpc>
                <a:spcPct val="104000"/>
              </a:lnSpc>
              <a:buNone/>
            </a:pPr>
            <a:r>
              <a:rPr lang="en-US" sz="880" dirty="0">
                <a:solidFill>
                  <a:srgbClr val="C7D0DE"/>
                </a:solidFill>
                <a:latin typeface="Helvetica Neue" pitchFamily="34" charset="0"/>
                <a:ea typeface="Helvetica Neue" pitchFamily="34" charset="-122"/>
                <a:cs typeface="Helvetica Neue" pitchFamily="34" charset="-120"/>
              </a:rPr>
              <a:t>The three local models differ in size and in architecture / training; one quantisation (4-bit) only.</a:t>
            </a:r>
            <a:endParaRPr lang="en-US" sz="880" dirty="0"/>
          </a:p>
        </p:txBody>
      </p:sp>
      <p:sp>
        <p:nvSpPr>
          <p:cNvPr id="35" name="Text 33"/>
          <p:cNvSpPr txBox="1"/>
          <p:nvPr/>
        </p:nvSpPr>
        <p:spPr>
          <a:xfrm>
            <a:off x="7446691" y="3840480"/>
            <a:ext cx="1787286" cy="164592"/>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EFFECT ON CLAIMS</a:t>
            </a:r>
            <a:endParaRPr lang="en-US" sz="750" dirty="0"/>
          </a:p>
        </p:txBody>
      </p:sp>
      <p:sp>
        <p:nvSpPr>
          <p:cNvPr id="36" name="Text 34"/>
          <p:cNvSpPr txBox="1"/>
          <p:nvPr/>
        </p:nvSpPr>
        <p:spPr>
          <a:xfrm>
            <a:off x="7446691" y="4023360"/>
            <a:ext cx="1787286" cy="960120"/>
          </a:xfrm>
          <a:prstGeom prst="rect">
            <a:avLst/>
          </a:prstGeom>
          <a:noFill/>
          <a:ln/>
        </p:spPr>
        <p:txBody>
          <a:bodyPr wrap="square" lIns="0" tIns="0" rIns="0" bIns="0" rtlCol="0" anchor="t"/>
          <a:lstStyle/>
          <a:p>
            <a:pPr algn="l" indent="0" marL="0">
              <a:lnSpc>
                <a:spcPct val="104000"/>
              </a:lnSpc>
              <a:buNone/>
            </a:pPr>
            <a:r>
              <a:rPr lang="en-US" sz="880" dirty="0">
                <a:solidFill>
                  <a:srgbClr val="C7D0DE"/>
                </a:solidFill>
                <a:latin typeface="Helvetica Neue" pitchFamily="34" charset="0"/>
                <a:ea typeface="Helvetica Neue" pitchFamily="34" charset="-122"/>
                <a:cs typeface="Helvetica Neue" pitchFamily="34" charset="-120"/>
              </a:rPr>
              <a:t>Smaller local models violated more — reported as a tendency, not a causal size effect; no claim beyond 4-bit.</a:t>
            </a:r>
            <a:endParaRPr lang="en-US" sz="880" dirty="0"/>
          </a:p>
        </p:txBody>
      </p:sp>
      <p:sp>
        <p:nvSpPr>
          <p:cNvPr id="37" name="Text 35"/>
          <p:cNvSpPr txBox="1"/>
          <p:nvPr/>
        </p:nvSpPr>
        <p:spPr>
          <a:xfrm>
            <a:off x="7446691" y="5056632"/>
            <a:ext cx="1787286" cy="164592"/>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NEXT STEP</a:t>
            </a:r>
            <a:endParaRPr lang="en-US" sz="750" dirty="0"/>
          </a:p>
        </p:txBody>
      </p:sp>
      <p:sp>
        <p:nvSpPr>
          <p:cNvPr id="38" name="Text 36"/>
          <p:cNvSpPr txBox="1"/>
          <p:nvPr/>
        </p:nvSpPr>
        <p:spPr>
          <a:xfrm>
            <a:off x="7446691" y="5239512"/>
            <a:ext cx="1787286" cy="868680"/>
          </a:xfrm>
          <a:prstGeom prst="rect">
            <a:avLst/>
          </a:prstGeom>
          <a:noFill/>
          <a:ln/>
        </p:spPr>
        <p:txBody>
          <a:bodyPr wrap="square" lIns="0" tIns="0" rIns="0" bIns="0" rtlCol="0" anchor="t"/>
          <a:lstStyle/>
          <a:p>
            <a:pPr algn="l" indent="0" marL="0">
              <a:lnSpc>
                <a:spcPct val="104000"/>
              </a:lnSpc>
              <a:buNone/>
            </a:pPr>
            <a:r>
              <a:rPr lang="en-US" sz="880" dirty="0">
                <a:solidFill>
                  <a:srgbClr val="E9EEF6"/>
                </a:solidFill>
                <a:latin typeface="Helvetica Neue" pitchFamily="34" charset="0"/>
                <a:ea typeface="Helvetica Neue" pitchFamily="34" charset="-122"/>
                <a:cs typeface="Helvetica Neue" pitchFamily="34" charset="-120"/>
              </a:rPr>
              <a:t>Same model family at several sizes and quantisations; more models.</a:t>
            </a:r>
            <a:endParaRPr lang="en-US" sz="880" dirty="0"/>
          </a:p>
        </p:txBody>
      </p:sp>
      <p:sp>
        <p:nvSpPr>
          <p:cNvPr id="39" name="Shape 37"/>
          <p:cNvSpPr/>
          <p:nvPr/>
        </p:nvSpPr>
        <p:spPr>
          <a:xfrm>
            <a:off x="9526585" y="1810512"/>
            <a:ext cx="2116470" cy="4206240"/>
          </a:xfrm>
          <a:prstGeom prst="roundRect">
            <a:avLst>
              <a:gd name="adj" fmla="val 3456"/>
            </a:avLst>
          </a:prstGeom>
          <a:solidFill>
            <a:srgbClr val="121B2E"/>
          </a:solidFill>
          <a:ln w="9525">
            <a:solidFill>
              <a:srgbClr val="2A3752"/>
            </a:solidFill>
            <a:prstDash val="solid"/>
          </a:ln>
        </p:spPr>
      </p:sp>
      <p:sp>
        <p:nvSpPr>
          <p:cNvPr id="40" name="Text 38"/>
          <p:cNvSpPr txBox="1"/>
          <p:nvPr/>
        </p:nvSpPr>
        <p:spPr>
          <a:xfrm>
            <a:off x="9691177" y="1956816"/>
            <a:ext cx="1787286" cy="384048"/>
          </a:xfrm>
          <a:prstGeom prst="rect">
            <a:avLst/>
          </a:prstGeom>
          <a:noFill/>
          <a:ln/>
        </p:spPr>
        <p:txBody>
          <a:bodyPr wrap="square" lIns="0" tIns="0" rIns="0" bIns="0" rtlCol="0" anchor="t"/>
          <a:lstStyle/>
          <a:p>
            <a:pPr algn="l" indent="0" marL="0">
              <a:buNone/>
            </a:pPr>
            <a:r>
              <a:rPr lang="en-US" sz="880" b="1" spc="50" kern="0" dirty="0">
                <a:solidFill>
                  <a:srgbClr val="2DD4BF"/>
                </a:solidFill>
                <a:latin typeface="Consolas" pitchFamily="34" charset="0"/>
                <a:ea typeface="Consolas" pitchFamily="34" charset="-122"/>
                <a:cs typeface="Consolas" pitchFamily="34" charset="-120"/>
              </a:rPr>
              <a:t>COVERAGE AND POWER</a:t>
            </a:r>
            <a:endParaRPr lang="en-US" sz="880" dirty="0"/>
          </a:p>
        </p:txBody>
      </p:sp>
      <p:sp>
        <p:nvSpPr>
          <p:cNvPr id="41" name="Text 39"/>
          <p:cNvSpPr txBox="1"/>
          <p:nvPr/>
        </p:nvSpPr>
        <p:spPr>
          <a:xfrm>
            <a:off x="9691177" y="2377440"/>
            <a:ext cx="1787286" cy="164592"/>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WHAT</a:t>
            </a:r>
            <a:endParaRPr lang="en-US" sz="750" dirty="0"/>
          </a:p>
        </p:txBody>
      </p:sp>
      <p:sp>
        <p:nvSpPr>
          <p:cNvPr id="42" name="Text 40"/>
          <p:cNvSpPr txBox="1"/>
          <p:nvPr/>
        </p:nvSpPr>
        <p:spPr>
          <a:xfrm>
            <a:off x="9691177" y="2560320"/>
            <a:ext cx="1787286" cy="1207008"/>
          </a:xfrm>
          <a:prstGeom prst="rect">
            <a:avLst/>
          </a:prstGeom>
          <a:noFill/>
          <a:ln/>
        </p:spPr>
        <p:txBody>
          <a:bodyPr wrap="square" lIns="0" tIns="0" rIns="0" bIns="0" rtlCol="0" anchor="t"/>
          <a:lstStyle/>
          <a:p>
            <a:pPr algn="l" indent="0" marL="0">
              <a:lnSpc>
                <a:spcPct val="104000"/>
              </a:lnSpc>
              <a:buNone/>
            </a:pPr>
            <a:r>
              <a:rPr lang="en-US" sz="880" dirty="0">
                <a:solidFill>
                  <a:srgbClr val="C7D0DE"/>
                </a:solidFill>
                <a:latin typeface="Helvetica Neue" pitchFamily="34" charset="0"/>
                <a:ea typeface="Helvetica Neue" pitchFamily="34" charset="-122"/>
                <a:cs typeface="Helvetica Neue" pitchFamily="34" charset="-120"/>
              </a:rPr>
              <a:t>One protocol (IEC-104), four of five event types (no replay attack), 100 prompts per model, 25 per model × event cell; Modbus data unused.</a:t>
            </a:r>
            <a:endParaRPr lang="en-US" sz="880" dirty="0"/>
          </a:p>
        </p:txBody>
      </p:sp>
      <p:sp>
        <p:nvSpPr>
          <p:cNvPr id="43" name="Text 41"/>
          <p:cNvSpPr txBox="1"/>
          <p:nvPr/>
        </p:nvSpPr>
        <p:spPr>
          <a:xfrm>
            <a:off x="9691177" y="3840480"/>
            <a:ext cx="1787286" cy="164592"/>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EFFECT ON CLAIMS</a:t>
            </a:r>
            <a:endParaRPr lang="en-US" sz="750" dirty="0"/>
          </a:p>
        </p:txBody>
      </p:sp>
      <p:sp>
        <p:nvSpPr>
          <p:cNvPr id="44" name="Text 42"/>
          <p:cNvSpPr txBox="1"/>
          <p:nvPr/>
        </p:nvSpPr>
        <p:spPr>
          <a:xfrm>
            <a:off x="9691177" y="4023360"/>
            <a:ext cx="1787286" cy="960120"/>
          </a:xfrm>
          <a:prstGeom prst="rect">
            <a:avLst/>
          </a:prstGeom>
          <a:noFill/>
          <a:ln/>
        </p:spPr>
        <p:txBody>
          <a:bodyPr wrap="square" lIns="0" tIns="0" rIns="0" bIns="0" rtlCol="0" anchor="t"/>
          <a:lstStyle/>
          <a:p>
            <a:pPr algn="l" indent="0" marL="0">
              <a:lnSpc>
                <a:spcPct val="104000"/>
              </a:lnSpc>
              <a:buNone/>
            </a:pPr>
            <a:r>
              <a:rPr lang="en-US" sz="880" dirty="0">
                <a:solidFill>
                  <a:srgbClr val="C7D0DE"/>
                </a:solidFill>
                <a:latin typeface="Helvetica Neue" pitchFamily="34" charset="0"/>
                <a:ea typeface="Helvetica Neue" pitchFamily="34" charset="-122"/>
                <a:cs typeface="Helvetica Neue" pitchFamily="34" charset="-120"/>
              </a:rPr>
              <a:t>Model-level differences are detectable; within-model event effects are indicative only.</a:t>
            </a:r>
            <a:endParaRPr lang="en-US" sz="880" dirty="0"/>
          </a:p>
        </p:txBody>
      </p:sp>
      <p:sp>
        <p:nvSpPr>
          <p:cNvPr id="45" name="Text 43"/>
          <p:cNvSpPr txBox="1"/>
          <p:nvPr/>
        </p:nvSpPr>
        <p:spPr>
          <a:xfrm>
            <a:off x="9691177" y="5056632"/>
            <a:ext cx="1787286" cy="164592"/>
          </a:xfrm>
          <a:prstGeom prst="rect">
            <a:avLst/>
          </a:prstGeom>
          <a:noFill/>
          <a:ln/>
        </p:spPr>
        <p:txBody>
          <a:bodyPr wrap="square" lIns="0" tIns="0" rIns="0" bIns="0" rtlCol="0" anchor="t"/>
          <a:lstStyle/>
          <a:p>
            <a:pPr algn="l" indent="0" marL="0">
              <a:buNone/>
            </a:pPr>
            <a:r>
              <a:rPr lang="en-US" sz="750" spc="100" kern="0" dirty="0">
                <a:solidFill>
                  <a:srgbClr val="5C6A85"/>
                </a:solidFill>
                <a:latin typeface="Consolas" pitchFamily="34" charset="0"/>
                <a:ea typeface="Consolas" pitchFamily="34" charset="-122"/>
                <a:cs typeface="Consolas" pitchFamily="34" charset="-120"/>
              </a:rPr>
              <a:t>NEXT STEP</a:t>
            </a:r>
            <a:endParaRPr lang="en-US" sz="750" dirty="0"/>
          </a:p>
        </p:txBody>
      </p:sp>
      <p:sp>
        <p:nvSpPr>
          <p:cNvPr id="46" name="Text 44"/>
          <p:cNvSpPr txBox="1"/>
          <p:nvPr/>
        </p:nvSpPr>
        <p:spPr>
          <a:xfrm>
            <a:off x="9691177" y="5239512"/>
            <a:ext cx="1787286" cy="868680"/>
          </a:xfrm>
          <a:prstGeom prst="rect">
            <a:avLst/>
          </a:prstGeom>
          <a:noFill/>
          <a:ln/>
        </p:spPr>
        <p:txBody>
          <a:bodyPr wrap="square" lIns="0" tIns="0" rIns="0" bIns="0" rtlCol="0" anchor="t"/>
          <a:lstStyle/>
          <a:p>
            <a:pPr algn="l" indent="0" marL="0">
              <a:lnSpc>
                <a:spcPct val="104000"/>
              </a:lnSpc>
              <a:buNone/>
            </a:pPr>
            <a:r>
              <a:rPr lang="en-US" sz="880" dirty="0">
                <a:solidFill>
                  <a:srgbClr val="E9EEF6"/>
                </a:solidFill>
                <a:latin typeface="Helvetica Neue" pitchFamily="34" charset="0"/>
                <a:ea typeface="Helvetica Neue" pitchFamily="34" charset="-122"/>
                <a:cs typeface="Helvetica Neue" pitchFamily="34" charset="-120"/>
              </a:rPr>
              <a:t>Modbus / DNP3 / S7 datasets, replay events, larger stratified samples.</a:t>
            </a:r>
            <a:endParaRPr lang="en-US" sz="88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indent="0" marL="0">
              <a:buNone/>
            </a:pPr>
            <a:r>
              <a:rPr lang="en-US" sz="1050" spc="200" kern="0" dirty="0">
                <a:solidFill>
                  <a:srgbClr val="2DD4BF"/>
                </a:solidFill>
                <a:latin typeface="Consolas" pitchFamily="34" charset="0"/>
                <a:ea typeface="Consolas" pitchFamily="34" charset="-122"/>
                <a:cs typeface="Consolas" pitchFamily="34" charset="-120"/>
              </a:rPr>
              <a:t>16 · CONTRIBUTIONS AND FUTURE WORK</a:t>
            </a:r>
            <a:endParaRPr lang="en-US" sz="1050" dirty="0"/>
          </a:p>
        </p:txBody>
      </p:sp>
      <p:sp>
        <p:nvSpPr>
          <p:cNvPr id="3" name="Text 1"/>
          <p:cNvSpPr txBox="1"/>
          <p:nvPr/>
        </p:nvSpPr>
        <p:spPr>
          <a:xfrm>
            <a:off x="548640" y="603504"/>
            <a:ext cx="11094415" cy="566928"/>
          </a:xfrm>
          <a:prstGeom prst="rect">
            <a:avLst/>
          </a:prstGeom>
          <a:noFill/>
          <a:ln/>
        </p:spPr>
        <p:txBody>
          <a:bodyPr wrap="square" lIns="0" tIns="0" rIns="0" bIns="0" rtlCol="0" anchor="t"/>
          <a:lstStyle/>
          <a:p>
            <a:pPr indent="0" marL="0">
              <a:buNone/>
            </a:pPr>
            <a:r>
              <a:rPr lang="en-US" sz="2350" b="1" dirty="0">
                <a:solidFill>
                  <a:srgbClr val="E9EEF6"/>
                </a:solidFill>
                <a:latin typeface="Helvetica Neue" pitchFamily="34" charset="0"/>
                <a:ea typeface="Helvetica Neue" pitchFamily="34" charset="-122"/>
                <a:cs typeface="Helvetica Neue" pitchFamily="34" charset="-120"/>
              </a:rPr>
              <a:t>What this thesis delivers, and what the next research step is</a:t>
            </a:r>
            <a:endParaRPr lang="en-US" sz="235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350" dirty="0">
                <a:solidFill>
                  <a:srgbClr val="93A0B8"/>
                </a:solidFill>
                <a:latin typeface="Helvetica Neue" pitchFamily="34" charset="0"/>
                <a:ea typeface="Helvetica Neue" pitchFamily="34" charset="-122"/>
                <a:cs typeface="Helvetica Neue" pitchFamily="34" charset="-120"/>
              </a:rPr>
              <a:t>Demonstrated contributions on the left; the deployment guidelines derived from the results in the middle; the ranked research agenda on the right.</a:t>
            </a:r>
            <a:endParaRPr lang="en-US" sz="1350" dirty="0"/>
          </a:p>
        </p:txBody>
      </p:sp>
      <p:sp>
        <p:nvSpPr>
          <p:cNvPr id="5" name="Text 3"/>
          <p:cNvSpPr txBox="1"/>
          <p:nvPr/>
        </p:nvSpPr>
        <p:spPr>
          <a:xfrm>
            <a:off x="548640" y="6473952"/>
            <a:ext cx="8778240" cy="219456"/>
          </a:xfrm>
          <a:prstGeom prst="rect">
            <a:avLst/>
          </a:prstGeom>
          <a:noFill/>
          <a:ln/>
        </p:spPr>
        <p:txBody>
          <a:bodyPr wrap="square" lIns="0" tIns="0" rIns="0" bIns="0" rtlCol="0" anchor="ctr"/>
          <a:lstStyle/>
          <a:p>
            <a:pPr indent="0" marL="0">
              <a:buNone/>
            </a:pPr>
            <a:r>
              <a:rPr lang="en-US" sz="850" dirty="0">
                <a:solidFill>
                  <a:srgbClr val="5C6A85"/>
                </a:solidFill>
                <a:latin typeface="Helvetica Neue" pitchFamily="34" charset="0"/>
                <a:ea typeface="Helvetica Neue" pitchFamily="34" charset="-122"/>
                <a:cs typeface="Helvetica Neue" pitchFamily="34" charset="-120"/>
              </a:rPr>
              <a:t>ReasonGuard  ·  Runtime Verification of AI Reasoning Faithfulness  ·  R. Bilalov  ·  SRH University Hamburg / FIT VUT Brno</a:t>
            </a:r>
            <a:endParaRPr lang="en-US" sz="850" dirty="0"/>
          </a:p>
        </p:txBody>
      </p:sp>
      <p:sp>
        <p:nvSpPr>
          <p:cNvPr id="6" name="Text 4"/>
          <p:cNvSpPr txBox="1"/>
          <p:nvPr/>
        </p:nvSpPr>
        <p:spPr>
          <a:xfrm>
            <a:off x="548640" y="6272784"/>
            <a:ext cx="9997135" cy="201168"/>
          </a:xfrm>
          <a:prstGeom prst="rect">
            <a:avLst/>
          </a:prstGeom>
          <a:noFill/>
          <a:ln/>
        </p:spPr>
        <p:txBody>
          <a:bodyPr wrap="square" lIns="0" tIns="0" rIns="0" bIns="0" rtlCol="0" anchor="ctr"/>
          <a:lstStyle/>
          <a:p>
            <a:pPr indent="0" marL="0">
              <a:buNone/>
            </a:pPr>
            <a:r>
              <a:rPr lang="en-US" sz="850" i="1" dirty="0">
                <a:solidFill>
                  <a:srgbClr val="5C6A85"/>
                </a:solidFill>
                <a:latin typeface="Helvetica Neue" pitchFamily="34" charset="0"/>
                <a:ea typeface="Helvetica Neue" pitchFamily="34" charset="-122"/>
                <a:cs typeface="Helvetica Neue" pitchFamily="34" charset="-120"/>
              </a:rPr>
              <a:t>EU AI Act mapping: Regulation (EU) 2024/1689, Art. 13 (transparency) and Art. 17 (quality management) — ReasonGuard can support these obligations; compliance is not claimed.</a:t>
            </a:r>
            <a:endParaRPr lang="en-US" sz="850" dirty="0"/>
          </a:p>
        </p:txBody>
      </p:sp>
      <p:sp>
        <p:nvSpPr>
          <p:cNvPr id="7" name="Text 5"/>
          <p:cNvSpPr txBox="1"/>
          <p:nvPr/>
        </p:nvSpPr>
        <p:spPr>
          <a:xfrm>
            <a:off x="10545775" y="6473952"/>
            <a:ext cx="1097280" cy="219456"/>
          </a:xfrm>
          <a:prstGeom prst="rect">
            <a:avLst/>
          </a:prstGeom>
          <a:noFill/>
          <a:ln/>
        </p:spPr>
        <p:txBody>
          <a:bodyPr wrap="square" lIns="0" tIns="0" rIns="0" bIns="0" rtlCol="0" anchor="ctr"/>
          <a:lstStyle/>
          <a:p>
            <a:pPr algn="r" indent="0" marL="0">
              <a:buNone/>
            </a:pPr>
            <a:r>
              <a:rPr lang="en-US" sz="900" dirty="0">
                <a:solidFill>
                  <a:srgbClr val="5C6A85"/>
                </a:solidFill>
                <a:latin typeface="Consolas" pitchFamily="34" charset="0"/>
                <a:ea typeface="Consolas" pitchFamily="34" charset="-122"/>
                <a:cs typeface="Consolas" pitchFamily="34" charset="-120"/>
              </a:rPr>
              <a:t>17 / 18</a:t>
            </a:r>
            <a:endParaRPr lang="en-US" sz="900" dirty="0"/>
          </a:p>
        </p:txBody>
      </p:sp>
      <p:sp>
        <p:nvSpPr>
          <p:cNvPr id="8" name="Shape 6"/>
          <p:cNvSpPr/>
          <p:nvPr/>
        </p:nvSpPr>
        <p:spPr>
          <a:xfrm>
            <a:off x="548640" y="1810512"/>
            <a:ext cx="4206240" cy="4206240"/>
          </a:xfrm>
          <a:prstGeom prst="roundRect">
            <a:avLst>
              <a:gd name="adj" fmla="val 1739"/>
            </a:avLst>
          </a:prstGeom>
          <a:solidFill>
            <a:srgbClr val="121B2E"/>
          </a:solidFill>
          <a:ln w="12700">
            <a:solidFill>
              <a:srgbClr val="2DD4BF"/>
            </a:solidFill>
            <a:prstDash val="solid"/>
          </a:ln>
        </p:spPr>
      </p:sp>
      <p:sp>
        <p:nvSpPr>
          <p:cNvPr id="9" name="Text 7"/>
          <p:cNvSpPr txBox="1"/>
          <p:nvPr/>
        </p:nvSpPr>
        <p:spPr>
          <a:xfrm>
            <a:off x="749808" y="1956816"/>
            <a:ext cx="3840480" cy="219456"/>
          </a:xfrm>
          <a:prstGeom prst="rect">
            <a:avLst/>
          </a:prstGeom>
          <a:noFill/>
          <a:ln/>
        </p:spPr>
        <p:txBody>
          <a:bodyPr wrap="square" lIns="0" tIns="0" rIns="0" bIns="0" rtlCol="0" anchor="t"/>
          <a:lstStyle/>
          <a:p>
            <a:pPr algn="l" indent="0" marL="0">
              <a:buNone/>
            </a:pPr>
            <a:r>
              <a:rPr lang="en-US" sz="950" spc="100" kern="0" dirty="0">
                <a:solidFill>
                  <a:srgbClr val="2DD4BF"/>
                </a:solidFill>
                <a:latin typeface="Consolas" pitchFamily="34" charset="0"/>
                <a:ea typeface="Consolas" pitchFamily="34" charset="-122"/>
                <a:cs typeface="Consolas" pitchFamily="34" charset="-120"/>
              </a:rPr>
              <a:t>DEMONSTRATED CONTRIBUTIONS</a:t>
            </a:r>
            <a:endParaRPr lang="en-US" sz="950" dirty="0"/>
          </a:p>
        </p:txBody>
      </p:sp>
      <p:sp>
        <p:nvSpPr>
          <p:cNvPr id="10" name="Text 8"/>
          <p:cNvSpPr txBox="1"/>
          <p:nvPr/>
        </p:nvSpPr>
        <p:spPr>
          <a:xfrm>
            <a:off x="749808" y="2286000"/>
            <a:ext cx="274320" cy="274320"/>
          </a:xfrm>
          <a:prstGeom prst="rect">
            <a:avLst/>
          </a:prstGeom>
          <a:noFill/>
          <a:ln/>
        </p:spPr>
        <p:txBody>
          <a:bodyPr wrap="square" lIns="0" tIns="0" rIns="0" bIns="0" rtlCol="0" anchor="t"/>
          <a:lstStyle/>
          <a:p>
            <a:pPr algn="l" indent="0" marL="0">
              <a:buNone/>
            </a:pPr>
            <a:r>
              <a:rPr lang="en-US" sz="1300" b="1" dirty="0">
                <a:solidFill>
                  <a:srgbClr val="2DD4BF"/>
                </a:solidFill>
                <a:latin typeface="Consolas" pitchFamily="34" charset="0"/>
                <a:ea typeface="Consolas" pitchFamily="34" charset="-122"/>
                <a:cs typeface="Consolas" pitchFamily="34" charset="-120"/>
              </a:rPr>
              <a:t>1</a:t>
            </a:r>
            <a:endParaRPr lang="en-US" sz="1300" dirty="0"/>
          </a:p>
        </p:txBody>
      </p:sp>
      <p:sp>
        <p:nvSpPr>
          <p:cNvPr id="11" name="Text 9"/>
          <p:cNvSpPr txBox="1"/>
          <p:nvPr/>
        </p:nvSpPr>
        <p:spPr>
          <a:xfrm>
            <a:off x="1051560" y="2286000"/>
            <a:ext cx="3474720" cy="256032"/>
          </a:xfrm>
          <a:prstGeom prst="rect">
            <a:avLst/>
          </a:prstGeom>
          <a:noFill/>
          <a:ln/>
        </p:spPr>
        <p:txBody>
          <a:bodyPr wrap="square" lIns="0" tIns="0" rIns="0" bIns="0" rtlCol="0" anchor="t"/>
          <a:lstStyle/>
          <a:p>
            <a:pPr algn="l" indent="0" marL="0">
              <a:buNone/>
            </a:pPr>
            <a:r>
              <a:rPr lang="en-US" sz="1150" b="1" dirty="0">
                <a:solidFill>
                  <a:srgbClr val="E9EEF6"/>
                </a:solidFill>
                <a:latin typeface="Helvetica Neue" pitchFamily="34" charset="0"/>
                <a:ea typeface="Helvetica Neue" pitchFamily="34" charset="-122"/>
                <a:cs typeface="Helvetica Neue" pitchFamily="34" charset="-120"/>
              </a:rPr>
              <a:t>ReasonGuard framework</a:t>
            </a:r>
            <a:endParaRPr lang="en-US" sz="1150" dirty="0"/>
          </a:p>
        </p:txBody>
      </p:sp>
      <p:sp>
        <p:nvSpPr>
          <p:cNvPr id="12" name="Text 10"/>
          <p:cNvSpPr txBox="1"/>
          <p:nvPr/>
        </p:nvSpPr>
        <p:spPr>
          <a:xfrm>
            <a:off x="1051560" y="2542032"/>
            <a:ext cx="3474720" cy="658368"/>
          </a:xfrm>
          <a:prstGeom prst="rect">
            <a:avLst/>
          </a:prstGeom>
          <a:noFill/>
          <a:ln/>
        </p:spPr>
        <p:txBody>
          <a:bodyPr wrap="square" lIns="0" tIns="0" rIns="0" bIns="0" rtlCol="0" anchor="t"/>
          <a:lstStyle/>
          <a:p>
            <a:pPr algn="l" indent="0" marL="0">
              <a:lnSpc>
                <a:spcPct val="104000"/>
              </a:lnSpc>
              <a:buNone/>
            </a:pPr>
            <a:r>
              <a:rPr lang="en-US" sz="930" dirty="0">
                <a:solidFill>
                  <a:srgbClr val="C7D0DE"/>
                </a:solidFill>
                <a:latin typeface="Helvetica Neue" pitchFamily="34" charset="0"/>
                <a:ea typeface="Helvetica Neue" pitchFamily="34" charset="-122"/>
                <a:cs typeface="Helvetica Neue" pitchFamily="34" charset="-120"/>
              </a:rPr>
              <a:t>First runtime-verification framework using a formally verified system's output as the bound for AI-generated explanations — architecture, bound schema, verifier, dashboard; open source.</a:t>
            </a:r>
            <a:endParaRPr lang="en-US" sz="930" dirty="0"/>
          </a:p>
        </p:txBody>
      </p:sp>
      <p:sp>
        <p:nvSpPr>
          <p:cNvPr id="13" name="Text 11"/>
          <p:cNvSpPr txBox="1"/>
          <p:nvPr/>
        </p:nvSpPr>
        <p:spPr>
          <a:xfrm>
            <a:off x="749808" y="3200400"/>
            <a:ext cx="274320" cy="274320"/>
          </a:xfrm>
          <a:prstGeom prst="rect">
            <a:avLst/>
          </a:prstGeom>
          <a:noFill/>
          <a:ln/>
        </p:spPr>
        <p:txBody>
          <a:bodyPr wrap="square" lIns="0" tIns="0" rIns="0" bIns="0" rtlCol="0" anchor="t"/>
          <a:lstStyle/>
          <a:p>
            <a:pPr algn="l" indent="0" marL="0">
              <a:buNone/>
            </a:pPr>
            <a:r>
              <a:rPr lang="en-US" sz="1300" b="1" dirty="0">
                <a:solidFill>
                  <a:srgbClr val="2DD4BF"/>
                </a:solidFill>
                <a:latin typeface="Consolas" pitchFamily="34" charset="0"/>
                <a:ea typeface="Consolas" pitchFamily="34" charset="-122"/>
                <a:cs typeface="Consolas" pitchFamily="34" charset="-120"/>
              </a:rPr>
              <a:t>2</a:t>
            </a:r>
            <a:endParaRPr lang="en-US" sz="1300" dirty="0"/>
          </a:p>
        </p:txBody>
      </p:sp>
      <p:sp>
        <p:nvSpPr>
          <p:cNvPr id="14" name="Text 12"/>
          <p:cNvSpPr txBox="1"/>
          <p:nvPr/>
        </p:nvSpPr>
        <p:spPr>
          <a:xfrm>
            <a:off x="1051560" y="3200400"/>
            <a:ext cx="3474720" cy="256032"/>
          </a:xfrm>
          <a:prstGeom prst="rect">
            <a:avLst/>
          </a:prstGeom>
          <a:noFill/>
          <a:ln/>
        </p:spPr>
        <p:txBody>
          <a:bodyPr wrap="square" lIns="0" tIns="0" rIns="0" bIns="0" rtlCol="0" anchor="t"/>
          <a:lstStyle/>
          <a:p>
            <a:pPr algn="l" indent="0" marL="0">
              <a:buNone/>
            </a:pPr>
            <a:r>
              <a:rPr lang="en-US" sz="1150" b="1" dirty="0">
                <a:solidFill>
                  <a:srgbClr val="E9EEF6"/>
                </a:solidFill>
                <a:latin typeface="Helvetica Neue" pitchFamily="34" charset="0"/>
                <a:ea typeface="Helvetica Neue" pitchFamily="34" charset="-122"/>
                <a:cs typeface="Helvetica Neue" pitchFamily="34" charset="-120"/>
              </a:rPr>
              <a:t>Reasoning-violation taxonomy V1–V5</a:t>
            </a:r>
            <a:endParaRPr lang="en-US" sz="1150" dirty="0"/>
          </a:p>
        </p:txBody>
      </p:sp>
      <p:sp>
        <p:nvSpPr>
          <p:cNvPr id="15" name="Text 13"/>
          <p:cNvSpPr txBox="1"/>
          <p:nvPr/>
        </p:nvSpPr>
        <p:spPr>
          <a:xfrm>
            <a:off x="1051560" y="3456432"/>
            <a:ext cx="3474720" cy="658368"/>
          </a:xfrm>
          <a:prstGeom prst="rect">
            <a:avLst/>
          </a:prstGeom>
          <a:noFill/>
          <a:ln/>
        </p:spPr>
        <p:txBody>
          <a:bodyPr wrap="square" lIns="0" tIns="0" rIns="0" bIns="0" rtlCol="0" anchor="t"/>
          <a:lstStyle/>
          <a:p>
            <a:pPr algn="l" indent="0" marL="0">
              <a:lnSpc>
                <a:spcPct val="104000"/>
              </a:lnSpc>
              <a:buNone/>
            </a:pPr>
            <a:r>
              <a:rPr lang="en-US" sz="930" dirty="0">
                <a:solidFill>
                  <a:srgbClr val="C7D0DE"/>
                </a:solidFill>
                <a:latin typeface="Helvetica Neue" pitchFamily="34" charset="0"/>
                <a:ea typeface="Helvetica Neue" pitchFamily="34" charset="-122"/>
                <a:cs typeface="Helvetica Neue" pitchFamily="34" charset="-120"/>
              </a:rPr>
              <a:t>Formal definitions, deterministic detectors, severity mapping and measured frequencies.</a:t>
            </a:r>
            <a:endParaRPr lang="en-US" sz="930" dirty="0"/>
          </a:p>
        </p:txBody>
      </p:sp>
      <p:sp>
        <p:nvSpPr>
          <p:cNvPr id="16" name="Text 14"/>
          <p:cNvSpPr txBox="1"/>
          <p:nvPr/>
        </p:nvSpPr>
        <p:spPr>
          <a:xfrm>
            <a:off x="749808" y="4114800"/>
            <a:ext cx="274320" cy="274320"/>
          </a:xfrm>
          <a:prstGeom prst="rect">
            <a:avLst/>
          </a:prstGeom>
          <a:noFill/>
          <a:ln/>
        </p:spPr>
        <p:txBody>
          <a:bodyPr wrap="square" lIns="0" tIns="0" rIns="0" bIns="0" rtlCol="0" anchor="t"/>
          <a:lstStyle/>
          <a:p>
            <a:pPr algn="l" indent="0" marL="0">
              <a:buNone/>
            </a:pPr>
            <a:r>
              <a:rPr lang="en-US" sz="1300" b="1" dirty="0">
                <a:solidFill>
                  <a:srgbClr val="2DD4BF"/>
                </a:solidFill>
                <a:latin typeface="Consolas" pitchFamily="34" charset="0"/>
                <a:ea typeface="Consolas" pitchFamily="34" charset="-122"/>
                <a:cs typeface="Consolas" pitchFamily="34" charset="-120"/>
              </a:rPr>
              <a:t>3</a:t>
            </a:r>
            <a:endParaRPr lang="en-US" sz="1300" dirty="0"/>
          </a:p>
        </p:txBody>
      </p:sp>
      <p:sp>
        <p:nvSpPr>
          <p:cNvPr id="17" name="Text 15"/>
          <p:cNvSpPr txBox="1"/>
          <p:nvPr/>
        </p:nvSpPr>
        <p:spPr>
          <a:xfrm>
            <a:off x="1051560" y="4114800"/>
            <a:ext cx="3474720" cy="256032"/>
          </a:xfrm>
          <a:prstGeom prst="rect">
            <a:avLst/>
          </a:prstGeom>
          <a:noFill/>
          <a:ln/>
        </p:spPr>
        <p:txBody>
          <a:bodyPr wrap="square" lIns="0" tIns="0" rIns="0" bIns="0" rtlCol="0" anchor="t"/>
          <a:lstStyle/>
          <a:p>
            <a:pPr algn="l" indent="0" marL="0">
              <a:buNone/>
            </a:pPr>
            <a:r>
              <a:rPr lang="en-US" sz="1150" b="1" dirty="0">
                <a:solidFill>
                  <a:srgbClr val="E9EEF6"/>
                </a:solidFill>
                <a:latin typeface="Helvetica Neue" pitchFamily="34" charset="0"/>
                <a:ea typeface="Helvetica Neue" pitchFamily="34" charset="-122"/>
                <a:cs typeface="Helvetica Neue" pitchFamily="34" charset="-120"/>
              </a:rPr>
              <a:t>Empirical evaluation</a:t>
            </a:r>
            <a:endParaRPr lang="en-US" sz="1150" dirty="0"/>
          </a:p>
        </p:txBody>
      </p:sp>
      <p:sp>
        <p:nvSpPr>
          <p:cNvPr id="18" name="Text 16"/>
          <p:cNvSpPr txBox="1"/>
          <p:nvPr/>
        </p:nvSpPr>
        <p:spPr>
          <a:xfrm>
            <a:off x="1051560" y="4370832"/>
            <a:ext cx="3474720" cy="658368"/>
          </a:xfrm>
          <a:prstGeom prst="rect">
            <a:avLst/>
          </a:prstGeom>
          <a:noFill/>
          <a:ln/>
        </p:spPr>
        <p:txBody>
          <a:bodyPr wrap="square" lIns="0" tIns="0" rIns="0" bIns="0" rtlCol="0" anchor="t"/>
          <a:lstStyle/>
          <a:p>
            <a:pPr algn="l" indent="0" marL="0">
              <a:lnSpc>
                <a:spcPct val="104000"/>
              </a:lnSpc>
              <a:buNone/>
            </a:pPr>
            <a:r>
              <a:rPr lang="en-US" sz="930" dirty="0">
                <a:solidFill>
                  <a:srgbClr val="C7D0DE"/>
                </a:solidFill>
                <a:latin typeface="Helvetica Neue" pitchFamily="34" charset="0"/>
                <a:ea typeface="Helvetica Neue" pitchFamily="34" charset="-122"/>
                <a:cs typeface="Helvetica Neue" pitchFamily="34" charset="-120"/>
              </a:rPr>
              <a:t>5 LLMs × 4 proxy event types, 1,000 verdicts, 200 blind annotations, χ² associations — and a documented negative result with a localised cause.</a:t>
            </a:r>
            <a:endParaRPr lang="en-US" sz="930" dirty="0"/>
          </a:p>
        </p:txBody>
      </p:sp>
      <p:sp>
        <p:nvSpPr>
          <p:cNvPr id="19" name="Text 17"/>
          <p:cNvSpPr txBox="1"/>
          <p:nvPr/>
        </p:nvSpPr>
        <p:spPr>
          <a:xfrm>
            <a:off x="749808" y="5029200"/>
            <a:ext cx="274320" cy="274320"/>
          </a:xfrm>
          <a:prstGeom prst="rect">
            <a:avLst/>
          </a:prstGeom>
          <a:noFill/>
          <a:ln/>
        </p:spPr>
        <p:txBody>
          <a:bodyPr wrap="square" lIns="0" tIns="0" rIns="0" bIns="0" rtlCol="0" anchor="t"/>
          <a:lstStyle/>
          <a:p>
            <a:pPr algn="l" indent="0" marL="0">
              <a:buNone/>
            </a:pPr>
            <a:r>
              <a:rPr lang="en-US" sz="1300" b="1" dirty="0">
                <a:solidFill>
                  <a:srgbClr val="2DD4BF"/>
                </a:solidFill>
                <a:latin typeface="Consolas" pitchFamily="34" charset="0"/>
                <a:ea typeface="Consolas" pitchFamily="34" charset="-122"/>
                <a:cs typeface="Consolas" pitchFamily="34" charset="-120"/>
              </a:rPr>
              <a:t>4</a:t>
            </a:r>
            <a:endParaRPr lang="en-US" sz="1300" dirty="0"/>
          </a:p>
        </p:txBody>
      </p:sp>
      <p:sp>
        <p:nvSpPr>
          <p:cNvPr id="20" name="Text 18"/>
          <p:cNvSpPr txBox="1"/>
          <p:nvPr/>
        </p:nvSpPr>
        <p:spPr>
          <a:xfrm>
            <a:off x="1051560" y="5029200"/>
            <a:ext cx="3474720" cy="256032"/>
          </a:xfrm>
          <a:prstGeom prst="rect">
            <a:avLst/>
          </a:prstGeom>
          <a:noFill/>
          <a:ln/>
        </p:spPr>
        <p:txBody>
          <a:bodyPr wrap="square" lIns="0" tIns="0" rIns="0" bIns="0" rtlCol="0" anchor="t"/>
          <a:lstStyle/>
          <a:p>
            <a:pPr algn="l" indent="0" marL="0">
              <a:buNone/>
            </a:pPr>
            <a:r>
              <a:rPr lang="en-US" sz="1150" b="1" dirty="0">
                <a:solidFill>
                  <a:srgbClr val="E9EEF6"/>
                </a:solidFill>
                <a:latin typeface="Helvetica Neue" pitchFamily="34" charset="0"/>
                <a:ea typeface="Helvetica Neue" pitchFamily="34" charset="-122"/>
                <a:cs typeface="Helvetica Neue" pitchFamily="34" charset="-120"/>
              </a:rPr>
              <a:t>Deployment guidelines</a:t>
            </a:r>
            <a:endParaRPr lang="en-US" sz="1150" dirty="0"/>
          </a:p>
        </p:txBody>
      </p:sp>
      <p:sp>
        <p:nvSpPr>
          <p:cNvPr id="21" name="Text 19"/>
          <p:cNvSpPr txBox="1"/>
          <p:nvPr/>
        </p:nvSpPr>
        <p:spPr>
          <a:xfrm>
            <a:off x="1051560" y="5285232"/>
            <a:ext cx="3474720" cy="658368"/>
          </a:xfrm>
          <a:prstGeom prst="rect">
            <a:avLst/>
          </a:prstGeom>
          <a:noFill/>
          <a:ln/>
        </p:spPr>
        <p:txBody>
          <a:bodyPr wrap="square" lIns="0" tIns="0" rIns="0" bIns="0" rtlCol="0" anchor="t"/>
          <a:lstStyle/>
          <a:p>
            <a:pPr algn="l" indent="0" marL="0">
              <a:lnSpc>
                <a:spcPct val="104000"/>
              </a:lnSpc>
              <a:buNone/>
            </a:pPr>
            <a:r>
              <a:rPr lang="en-US" sz="930" dirty="0">
                <a:solidFill>
                  <a:srgbClr val="C7D0DE"/>
                </a:solidFill>
                <a:latin typeface="Helvetica Neue" pitchFamily="34" charset="0"/>
                <a:ea typeface="Helvetica Neue" pitchFamily="34" charset="-122"/>
                <a:cs typeface="Helvetica Neue" pitchFamily="34" charset="-120"/>
              </a:rPr>
              <a:t>Five operational rules for LLM explanation systems with a formally verified component, mapped to Art. 13 / 17.</a:t>
            </a:r>
            <a:endParaRPr lang="en-US" sz="930" dirty="0"/>
          </a:p>
        </p:txBody>
      </p:sp>
      <p:sp>
        <p:nvSpPr>
          <p:cNvPr id="22" name="Shape 20"/>
          <p:cNvSpPr/>
          <p:nvPr/>
        </p:nvSpPr>
        <p:spPr>
          <a:xfrm>
            <a:off x="4919472" y="1810512"/>
            <a:ext cx="3246120" cy="4206240"/>
          </a:xfrm>
          <a:prstGeom prst="roundRect">
            <a:avLst>
              <a:gd name="adj" fmla="val 2254"/>
            </a:avLst>
          </a:prstGeom>
          <a:solidFill>
            <a:srgbClr val="121B2E"/>
          </a:solidFill>
          <a:ln w="9525">
            <a:solidFill>
              <a:srgbClr val="2A3752"/>
            </a:solidFill>
            <a:prstDash val="solid"/>
          </a:ln>
        </p:spPr>
      </p:sp>
      <p:sp>
        <p:nvSpPr>
          <p:cNvPr id="23" name="Text 21"/>
          <p:cNvSpPr txBox="1"/>
          <p:nvPr/>
        </p:nvSpPr>
        <p:spPr>
          <a:xfrm>
            <a:off x="5120640" y="1956816"/>
            <a:ext cx="2880360" cy="219456"/>
          </a:xfrm>
          <a:prstGeom prst="rect">
            <a:avLst/>
          </a:prstGeom>
          <a:noFill/>
          <a:ln/>
        </p:spPr>
        <p:txBody>
          <a:bodyPr wrap="square" lIns="0" tIns="0" rIns="0" bIns="0" rtlCol="0" anchor="t"/>
          <a:lstStyle/>
          <a:p>
            <a:pPr algn="l" indent="0" marL="0">
              <a:buNone/>
            </a:pPr>
            <a:r>
              <a:rPr lang="en-US" sz="950" spc="100" kern="0" dirty="0">
                <a:solidFill>
                  <a:srgbClr val="C7D0DE"/>
                </a:solidFill>
                <a:latin typeface="Consolas" pitchFamily="34" charset="0"/>
                <a:ea typeface="Consolas" pitchFamily="34" charset="-122"/>
                <a:cs typeface="Consolas" pitchFamily="34" charset="-120"/>
              </a:rPr>
              <a:t>DEPLOYMENT GUIDELINES  (§5.4)</a:t>
            </a:r>
            <a:endParaRPr lang="en-US" sz="950" dirty="0"/>
          </a:p>
        </p:txBody>
      </p:sp>
      <p:sp>
        <p:nvSpPr>
          <p:cNvPr id="24" name="Text 22"/>
          <p:cNvSpPr txBox="1"/>
          <p:nvPr/>
        </p:nvSpPr>
        <p:spPr>
          <a:xfrm>
            <a:off x="5120640" y="2286000"/>
            <a:ext cx="274320" cy="274320"/>
          </a:xfrm>
          <a:prstGeom prst="rect">
            <a:avLst/>
          </a:prstGeom>
          <a:noFill/>
          <a:ln/>
        </p:spPr>
        <p:txBody>
          <a:bodyPr wrap="square" lIns="0" tIns="0" rIns="0" bIns="0" rtlCol="0" anchor="t"/>
          <a:lstStyle/>
          <a:p>
            <a:pPr algn="l" indent="0" marL="0">
              <a:buNone/>
            </a:pPr>
            <a:r>
              <a:rPr lang="en-US" sz="1300" b="1" dirty="0">
                <a:solidFill>
                  <a:srgbClr val="C7D0DE"/>
                </a:solidFill>
                <a:latin typeface="Consolas" pitchFamily="34" charset="0"/>
                <a:ea typeface="Consolas" pitchFamily="34" charset="-122"/>
                <a:cs typeface="Consolas" pitchFamily="34" charset="-120"/>
              </a:rPr>
              <a:t>1</a:t>
            </a:r>
            <a:endParaRPr lang="en-US" sz="1300" dirty="0"/>
          </a:p>
        </p:txBody>
      </p:sp>
      <p:sp>
        <p:nvSpPr>
          <p:cNvPr id="25" name="Text 23"/>
          <p:cNvSpPr txBox="1"/>
          <p:nvPr/>
        </p:nvSpPr>
        <p:spPr>
          <a:xfrm>
            <a:off x="5422392" y="2286000"/>
            <a:ext cx="1874520" cy="530352"/>
          </a:xfrm>
          <a:prstGeom prst="rect">
            <a:avLst/>
          </a:prstGeom>
          <a:noFill/>
          <a:ln/>
        </p:spPr>
        <p:txBody>
          <a:bodyPr wrap="square" lIns="0" tIns="0" rIns="0" bIns="0" rtlCol="0" anchor="t"/>
          <a:lstStyle/>
          <a:p>
            <a:pPr algn="l" indent="0" marL="0">
              <a:lnSpc>
                <a:spcPct val="104000"/>
              </a:lnSpc>
              <a:buNone/>
            </a:pPr>
            <a:r>
              <a:rPr lang="en-US" sz="950" dirty="0">
                <a:solidFill>
                  <a:srgbClr val="C7D0DE"/>
                </a:solidFill>
                <a:latin typeface="Helvetica Neue" pitchFamily="34" charset="0"/>
                <a:ea typeface="Helvetica Neue" pitchFamily="34" charset="-122"/>
                <a:cs typeface="Helvetica Neue" pitchFamily="34" charset="-120"/>
              </a:rPr>
              <a:t>Never show V1 / V2 / V5 explanations directly — flag for review</a:t>
            </a:r>
            <a:endParaRPr lang="en-US" sz="950" dirty="0"/>
          </a:p>
        </p:txBody>
      </p:sp>
      <p:sp>
        <p:nvSpPr>
          <p:cNvPr id="26" name="Shape 24"/>
          <p:cNvSpPr/>
          <p:nvPr/>
        </p:nvSpPr>
        <p:spPr>
          <a:xfrm>
            <a:off x="7342632" y="2304288"/>
            <a:ext cx="640080" cy="219456"/>
          </a:xfrm>
          <a:prstGeom prst="roundRect">
            <a:avLst>
              <a:gd name="adj" fmla="val 62500"/>
            </a:avLst>
          </a:prstGeom>
          <a:solidFill>
            <a:srgbClr val="0F3D3A"/>
          </a:solidFill>
          <a:ln w="7620">
            <a:solidFill>
              <a:srgbClr val="2DD4BF"/>
            </a:solidFill>
            <a:prstDash val="solid"/>
          </a:ln>
        </p:spPr>
      </p:sp>
      <p:sp>
        <p:nvSpPr>
          <p:cNvPr id="27" name="Text 25"/>
          <p:cNvSpPr txBox="1"/>
          <p:nvPr/>
        </p:nvSpPr>
        <p:spPr>
          <a:xfrm>
            <a:off x="7342632" y="2304288"/>
            <a:ext cx="640080" cy="219456"/>
          </a:xfrm>
          <a:prstGeom prst="rect">
            <a:avLst/>
          </a:prstGeom>
          <a:noFill/>
          <a:ln/>
        </p:spPr>
        <p:txBody>
          <a:bodyPr wrap="square" lIns="0" tIns="0" rIns="0" bIns="0" rtlCol="0" anchor="ctr"/>
          <a:lstStyle/>
          <a:p>
            <a:pPr algn="ctr" indent="0" marL="0">
              <a:buNone/>
            </a:pPr>
            <a:r>
              <a:rPr lang="en-US" sz="750" b="1" dirty="0">
                <a:solidFill>
                  <a:srgbClr val="2DD4BF"/>
                </a:solidFill>
                <a:latin typeface="Consolas" pitchFamily="34" charset="0"/>
                <a:ea typeface="Consolas" pitchFamily="34" charset="-122"/>
                <a:cs typeface="Consolas" pitchFamily="34" charset="-120"/>
              </a:rPr>
              <a:t>Art. 13</a:t>
            </a:r>
            <a:endParaRPr lang="en-US" sz="750" dirty="0"/>
          </a:p>
        </p:txBody>
      </p:sp>
      <p:sp>
        <p:nvSpPr>
          <p:cNvPr id="28" name="Text 26"/>
          <p:cNvSpPr txBox="1"/>
          <p:nvPr/>
        </p:nvSpPr>
        <p:spPr>
          <a:xfrm>
            <a:off x="5120640" y="2889504"/>
            <a:ext cx="274320" cy="274320"/>
          </a:xfrm>
          <a:prstGeom prst="rect">
            <a:avLst/>
          </a:prstGeom>
          <a:noFill/>
          <a:ln/>
        </p:spPr>
        <p:txBody>
          <a:bodyPr wrap="square" lIns="0" tIns="0" rIns="0" bIns="0" rtlCol="0" anchor="t"/>
          <a:lstStyle/>
          <a:p>
            <a:pPr algn="l" indent="0" marL="0">
              <a:buNone/>
            </a:pPr>
            <a:r>
              <a:rPr lang="en-US" sz="1300" b="1" dirty="0">
                <a:solidFill>
                  <a:srgbClr val="C7D0DE"/>
                </a:solidFill>
                <a:latin typeface="Consolas" pitchFamily="34" charset="0"/>
                <a:ea typeface="Consolas" pitchFamily="34" charset="-122"/>
                <a:cs typeface="Consolas" pitchFamily="34" charset="-120"/>
              </a:rPr>
              <a:t>2</a:t>
            </a:r>
            <a:endParaRPr lang="en-US" sz="1300" dirty="0"/>
          </a:p>
        </p:txBody>
      </p:sp>
      <p:sp>
        <p:nvSpPr>
          <p:cNvPr id="29" name="Text 27"/>
          <p:cNvSpPr txBox="1"/>
          <p:nvPr/>
        </p:nvSpPr>
        <p:spPr>
          <a:xfrm>
            <a:off x="5422392" y="2889504"/>
            <a:ext cx="1874520" cy="530352"/>
          </a:xfrm>
          <a:prstGeom prst="rect">
            <a:avLst/>
          </a:prstGeom>
          <a:noFill/>
          <a:ln/>
        </p:spPr>
        <p:txBody>
          <a:bodyPr wrap="square" lIns="0" tIns="0" rIns="0" bIns="0" rtlCol="0" anchor="t"/>
          <a:lstStyle/>
          <a:p>
            <a:pPr algn="l" indent="0" marL="0">
              <a:lnSpc>
                <a:spcPct val="104000"/>
              </a:lnSpc>
              <a:buNone/>
            </a:pPr>
            <a:r>
              <a:rPr lang="en-US" sz="950" dirty="0">
                <a:solidFill>
                  <a:srgbClr val="C7D0DE"/>
                </a:solidFill>
                <a:latin typeface="Helvetica Neue" pitchFamily="34" charset="0"/>
                <a:ea typeface="Helvetica Neue" pitchFamily="34" charset="-122"/>
                <a:cs typeface="Helvetica Neue" pitchFamily="34" charset="-120"/>
              </a:rPr>
              <a:t>Let operators retrieve the underlying bound (dashboard)</a:t>
            </a:r>
            <a:endParaRPr lang="en-US" sz="950" dirty="0"/>
          </a:p>
        </p:txBody>
      </p:sp>
      <p:sp>
        <p:nvSpPr>
          <p:cNvPr id="30" name="Shape 28"/>
          <p:cNvSpPr/>
          <p:nvPr/>
        </p:nvSpPr>
        <p:spPr>
          <a:xfrm>
            <a:off x="7342632" y="2907792"/>
            <a:ext cx="640080" cy="219456"/>
          </a:xfrm>
          <a:prstGeom prst="roundRect">
            <a:avLst>
              <a:gd name="adj" fmla="val 62500"/>
            </a:avLst>
          </a:prstGeom>
          <a:solidFill>
            <a:srgbClr val="0F3D3A"/>
          </a:solidFill>
          <a:ln w="7620">
            <a:solidFill>
              <a:srgbClr val="2DD4BF"/>
            </a:solidFill>
            <a:prstDash val="solid"/>
          </a:ln>
        </p:spPr>
      </p:sp>
      <p:sp>
        <p:nvSpPr>
          <p:cNvPr id="31" name="Text 29"/>
          <p:cNvSpPr txBox="1"/>
          <p:nvPr/>
        </p:nvSpPr>
        <p:spPr>
          <a:xfrm>
            <a:off x="7342632" y="2907792"/>
            <a:ext cx="640080" cy="219456"/>
          </a:xfrm>
          <a:prstGeom prst="rect">
            <a:avLst/>
          </a:prstGeom>
          <a:noFill/>
          <a:ln/>
        </p:spPr>
        <p:txBody>
          <a:bodyPr wrap="square" lIns="0" tIns="0" rIns="0" bIns="0" rtlCol="0" anchor="ctr"/>
          <a:lstStyle/>
          <a:p>
            <a:pPr algn="ctr" indent="0" marL="0">
              <a:buNone/>
            </a:pPr>
            <a:r>
              <a:rPr lang="en-US" sz="750" b="1" dirty="0">
                <a:solidFill>
                  <a:srgbClr val="2DD4BF"/>
                </a:solidFill>
                <a:latin typeface="Consolas" pitchFamily="34" charset="0"/>
                <a:ea typeface="Consolas" pitchFamily="34" charset="-122"/>
                <a:cs typeface="Consolas" pitchFamily="34" charset="-120"/>
              </a:rPr>
              <a:t>Art. 13</a:t>
            </a:r>
            <a:endParaRPr lang="en-US" sz="750" dirty="0"/>
          </a:p>
        </p:txBody>
      </p:sp>
      <p:sp>
        <p:nvSpPr>
          <p:cNvPr id="32" name="Text 30"/>
          <p:cNvSpPr txBox="1"/>
          <p:nvPr/>
        </p:nvSpPr>
        <p:spPr>
          <a:xfrm>
            <a:off x="5120640" y="3493008"/>
            <a:ext cx="274320" cy="274320"/>
          </a:xfrm>
          <a:prstGeom prst="rect">
            <a:avLst/>
          </a:prstGeom>
          <a:noFill/>
          <a:ln/>
        </p:spPr>
        <p:txBody>
          <a:bodyPr wrap="square" lIns="0" tIns="0" rIns="0" bIns="0" rtlCol="0" anchor="t"/>
          <a:lstStyle/>
          <a:p>
            <a:pPr algn="l" indent="0" marL="0">
              <a:buNone/>
            </a:pPr>
            <a:r>
              <a:rPr lang="en-US" sz="1300" b="1" dirty="0">
                <a:solidFill>
                  <a:srgbClr val="C7D0DE"/>
                </a:solidFill>
                <a:latin typeface="Consolas" pitchFamily="34" charset="0"/>
                <a:ea typeface="Consolas" pitchFamily="34" charset="-122"/>
                <a:cs typeface="Consolas" pitchFamily="34" charset="-120"/>
              </a:rPr>
              <a:t>3</a:t>
            </a:r>
            <a:endParaRPr lang="en-US" sz="1300" dirty="0"/>
          </a:p>
        </p:txBody>
      </p:sp>
      <p:sp>
        <p:nvSpPr>
          <p:cNvPr id="33" name="Text 31"/>
          <p:cNvSpPr txBox="1"/>
          <p:nvPr/>
        </p:nvSpPr>
        <p:spPr>
          <a:xfrm>
            <a:off x="5422392" y="3493008"/>
            <a:ext cx="1874520" cy="530352"/>
          </a:xfrm>
          <a:prstGeom prst="rect">
            <a:avLst/>
          </a:prstGeom>
          <a:noFill/>
          <a:ln/>
        </p:spPr>
        <p:txBody>
          <a:bodyPr wrap="square" lIns="0" tIns="0" rIns="0" bIns="0" rtlCol="0" anchor="t"/>
          <a:lstStyle/>
          <a:p>
            <a:pPr algn="l" indent="0" marL="0">
              <a:lnSpc>
                <a:spcPct val="104000"/>
              </a:lnSpc>
              <a:buNone/>
            </a:pPr>
            <a:r>
              <a:rPr lang="en-US" sz="950" dirty="0">
                <a:solidFill>
                  <a:srgbClr val="C7D0DE"/>
                </a:solidFill>
                <a:latin typeface="Helvetica Neue" pitchFamily="34" charset="0"/>
                <a:ea typeface="Helvetica Neue" pitchFamily="34" charset="-122"/>
                <a:cs typeface="Helvetica Neue" pitchFamily="34" charset="-120"/>
              </a:rPr>
              <a:t>Log (bound, explanation, verdict) for every alert</a:t>
            </a:r>
            <a:endParaRPr lang="en-US" sz="950" dirty="0"/>
          </a:p>
        </p:txBody>
      </p:sp>
      <p:sp>
        <p:nvSpPr>
          <p:cNvPr id="34" name="Shape 32"/>
          <p:cNvSpPr/>
          <p:nvPr/>
        </p:nvSpPr>
        <p:spPr>
          <a:xfrm>
            <a:off x="7342632" y="3511296"/>
            <a:ext cx="640080" cy="219456"/>
          </a:xfrm>
          <a:prstGeom prst="roundRect">
            <a:avLst>
              <a:gd name="adj" fmla="val 62500"/>
            </a:avLst>
          </a:prstGeom>
          <a:solidFill>
            <a:srgbClr val="0F3D3A"/>
          </a:solidFill>
          <a:ln w="7620">
            <a:solidFill>
              <a:srgbClr val="2DD4BF"/>
            </a:solidFill>
            <a:prstDash val="solid"/>
          </a:ln>
        </p:spPr>
      </p:sp>
      <p:sp>
        <p:nvSpPr>
          <p:cNvPr id="35" name="Text 33"/>
          <p:cNvSpPr txBox="1"/>
          <p:nvPr/>
        </p:nvSpPr>
        <p:spPr>
          <a:xfrm>
            <a:off x="7342632" y="3511296"/>
            <a:ext cx="640080" cy="219456"/>
          </a:xfrm>
          <a:prstGeom prst="rect">
            <a:avLst/>
          </a:prstGeom>
          <a:noFill/>
          <a:ln/>
        </p:spPr>
        <p:txBody>
          <a:bodyPr wrap="square" lIns="0" tIns="0" rIns="0" bIns="0" rtlCol="0" anchor="ctr"/>
          <a:lstStyle/>
          <a:p>
            <a:pPr algn="ctr" indent="0" marL="0">
              <a:buNone/>
            </a:pPr>
            <a:r>
              <a:rPr lang="en-US" sz="750" b="1" dirty="0">
                <a:solidFill>
                  <a:srgbClr val="2DD4BF"/>
                </a:solidFill>
                <a:latin typeface="Consolas" pitchFamily="34" charset="0"/>
                <a:ea typeface="Consolas" pitchFamily="34" charset="-122"/>
                <a:cs typeface="Consolas" pitchFamily="34" charset="-120"/>
              </a:rPr>
              <a:t>Art. 17</a:t>
            </a:r>
            <a:endParaRPr lang="en-US" sz="750" dirty="0"/>
          </a:p>
        </p:txBody>
      </p:sp>
      <p:sp>
        <p:nvSpPr>
          <p:cNvPr id="36" name="Text 34"/>
          <p:cNvSpPr txBox="1"/>
          <p:nvPr/>
        </p:nvSpPr>
        <p:spPr>
          <a:xfrm>
            <a:off x="5120640" y="4096512"/>
            <a:ext cx="274320" cy="274320"/>
          </a:xfrm>
          <a:prstGeom prst="rect">
            <a:avLst/>
          </a:prstGeom>
          <a:noFill/>
          <a:ln/>
        </p:spPr>
        <p:txBody>
          <a:bodyPr wrap="square" lIns="0" tIns="0" rIns="0" bIns="0" rtlCol="0" anchor="t"/>
          <a:lstStyle/>
          <a:p>
            <a:pPr algn="l" indent="0" marL="0">
              <a:buNone/>
            </a:pPr>
            <a:r>
              <a:rPr lang="en-US" sz="1300" b="1" dirty="0">
                <a:solidFill>
                  <a:srgbClr val="C7D0DE"/>
                </a:solidFill>
                <a:latin typeface="Consolas" pitchFamily="34" charset="0"/>
                <a:ea typeface="Consolas" pitchFamily="34" charset="-122"/>
                <a:cs typeface="Consolas" pitchFamily="34" charset="-120"/>
              </a:rPr>
              <a:t>4</a:t>
            </a:r>
            <a:endParaRPr lang="en-US" sz="1300" dirty="0"/>
          </a:p>
        </p:txBody>
      </p:sp>
      <p:sp>
        <p:nvSpPr>
          <p:cNvPr id="37" name="Text 35"/>
          <p:cNvSpPr txBox="1"/>
          <p:nvPr/>
        </p:nvSpPr>
        <p:spPr>
          <a:xfrm>
            <a:off x="5422392" y="4096512"/>
            <a:ext cx="1874520" cy="530352"/>
          </a:xfrm>
          <a:prstGeom prst="rect">
            <a:avLst/>
          </a:prstGeom>
          <a:noFill/>
          <a:ln/>
        </p:spPr>
        <p:txBody>
          <a:bodyPr wrap="square" lIns="0" tIns="0" rIns="0" bIns="0" rtlCol="0" anchor="t"/>
          <a:lstStyle/>
          <a:p>
            <a:pPr algn="l" indent="0" marL="0">
              <a:lnSpc>
                <a:spcPct val="104000"/>
              </a:lnSpc>
              <a:buNone/>
            </a:pPr>
            <a:r>
              <a:rPr lang="en-US" sz="950" dirty="0">
                <a:solidFill>
                  <a:srgbClr val="C7D0DE"/>
                </a:solidFill>
                <a:latin typeface="Helvetica Neue" pitchFamily="34" charset="0"/>
                <a:ea typeface="Helvetica Neue" pitchFamily="34" charset="-122"/>
                <a:cs typeface="Helvetica Neue" pitchFamily="34" charset="-120"/>
              </a:rPr>
              <a:t>Re-evaluate on every model / prompt / quantisation change</a:t>
            </a:r>
            <a:endParaRPr lang="en-US" sz="950" dirty="0"/>
          </a:p>
        </p:txBody>
      </p:sp>
      <p:sp>
        <p:nvSpPr>
          <p:cNvPr id="38" name="Shape 36"/>
          <p:cNvSpPr/>
          <p:nvPr/>
        </p:nvSpPr>
        <p:spPr>
          <a:xfrm>
            <a:off x="7342632" y="4114800"/>
            <a:ext cx="640080" cy="219456"/>
          </a:xfrm>
          <a:prstGeom prst="roundRect">
            <a:avLst>
              <a:gd name="adj" fmla="val 62500"/>
            </a:avLst>
          </a:prstGeom>
          <a:solidFill>
            <a:srgbClr val="0F3D3A"/>
          </a:solidFill>
          <a:ln w="7620">
            <a:solidFill>
              <a:srgbClr val="2DD4BF"/>
            </a:solidFill>
            <a:prstDash val="solid"/>
          </a:ln>
        </p:spPr>
      </p:sp>
      <p:sp>
        <p:nvSpPr>
          <p:cNvPr id="39" name="Text 37"/>
          <p:cNvSpPr txBox="1"/>
          <p:nvPr/>
        </p:nvSpPr>
        <p:spPr>
          <a:xfrm>
            <a:off x="7342632" y="4114800"/>
            <a:ext cx="640080" cy="219456"/>
          </a:xfrm>
          <a:prstGeom prst="rect">
            <a:avLst/>
          </a:prstGeom>
          <a:noFill/>
          <a:ln/>
        </p:spPr>
        <p:txBody>
          <a:bodyPr wrap="square" lIns="0" tIns="0" rIns="0" bIns="0" rtlCol="0" anchor="ctr"/>
          <a:lstStyle/>
          <a:p>
            <a:pPr algn="ctr" indent="0" marL="0">
              <a:buNone/>
            </a:pPr>
            <a:r>
              <a:rPr lang="en-US" sz="750" b="1" dirty="0">
                <a:solidFill>
                  <a:srgbClr val="2DD4BF"/>
                </a:solidFill>
                <a:latin typeface="Consolas" pitchFamily="34" charset="0"/>
                <a:ea typeface="Consolas" pitchFamily="34" charset="-122"/>
                <a:cs typeface="Consolas" pitchFamily="34" charset="-120"/>
              </a:rPr>
              <a:t>Art. 17</a:t>
            </a:r>
            <a:endParaRPr lang="en-US" sz="750" dirty="0"/>
          </a:p>
        </p:txBody>
      </p:sp>
      <p:sp>
        <p:nvSpPr>
          <p:cNvPr id="40" name="Text 38"/>
          <p:cNvSpPr txBox="1"/>
          <p:nvPr/>
        </p:nvSpPr>
        <p:spPr>
          <a:xfrm>
            <a:off x="5120640" y="4700016"/>
            <a:ext cx="274320" cy="274320"/>
          </a:xfrm>
          <a:prstGeom prst="rect">
            <a:avLst/>
          </a:prstGeom>
          <a:noFill/>
          <a:ln/>
        </p:spPr>
        <p:txBody>
          <a:bodyPr wrap="square" lIns="0" tIns="0" rIns="0" bIns="0" rtlCol="0" anchor="t"/>
          <a:lstStyle/>
          <a:p>
            <a:pPr algn="l" indent="0" marL="0">
              <a:buNone/>
            </a:pPr>
            <a:r>
              <a:rPr lang="en-US" sz="1300" b="1" dirty="0">
                <a:solidFill>
                  <a:srgbClr val="C7D0DE"/>
                </a:solidFill>
                <a:latin typeface="Consolas" pitchFamily="34" charset="0"/>
                <a:ea typeface="Consolas" pitchFamily="34" charset="-122"/>
                <a:cs typeface="Consolas" pitchFamily="34" charset="-120"/>
              </a:rPr>
              <a:t>5</a:t>
            </a:r>
            <a:endParaRPr lang="en-US" sz="1300" dirty="0"/>
          </a:p>
        </p:txBody>
      </p:sp>
      <p:sp>
        <p:nvSpPr>
          <p:cNvPr id="41" name="Text 39"/>
          <p:cNvSpPr txBox="1"/>
          <p:nvPr/>
        </p:nvSpPr>
        <p:spPr>
          <a:xfrm>
            <a:off x="5422392" y="4700016"/>
            <a:ext cx="1874520" cy="530352"/>
          </a:xfrm>
          <a:prstGeom prst="rect">
            <a:avLst/>
          </a:prstGeom>
          <a:noFill/>
          <a:ln/>
        </p:spPr>
        <p:txBody>
          <a:bodyPr wrap="square" lIns="0" tIns="0" rIns="0" bIns="0" rtlCol="0" anchor="t"/>
          <a:lstStyle/>
          <a:p>
            <a:pPr algn="l" indent="0" marL="0">
              <a:lnSpc>
                <a:spcPct val="104000"/>
              </a:lnSpc>
              <a:buNone/>
            </a:pPr>
            <a:r>
              <a:rPr lang="en-US" sz="950" dirty="0">
                <a:solidFill>
                  <a:srgbClr val="C7D0DE"/>
                </a:solidFill>
                <a:latin typeface="Helvetica Neue" pitchFamily="34" charset="0"/>
                <a:ea typeface="Helvetica Neue" pitchFamily="34" charset="-122"/>
                <a:cs typeface="Helvetica Neue" pitchFamily="34" charset="-120"/>
              </a:rPr>
              <a:t>Never release forbidden claims (“definitely an attack” / “definitely not”)</a:t>
            </a:r>
            <a:endParaRPr lang="en-US" sz="950" dirty="0"/>
          </a:p>
        </p:txBody>
      </p:sp>
      <p:sp>
        <p:nvSpPr>
          <p:cNvPr id="42" name="Shape 40"/>
          <p:cNvSpPr/>
          <p:nvPr/>
        </p:nvSpPr>
        <p:spPr>
          <a:xfrm>
            <a:off x="7342632" y="4718304"/>
            <a:ext cx="640080" cy="219456"/>
          </a:xfrm>
          <a:prstGeom prst="roundRect">
            <a:avLst>
              <a:gd name="adj" fmla="val 62500"/>
            </a:avLst>
          </a:prstGeom>
          <a:solidFill>
            <a:srgbClr val="18233A"/>
          </a:solidFill>
          <a:ln w="7620">
            <a:solidFill>
              <a:srgbClr val="93A0B8"/>
            </a:solidFill>
            <a:prstDash val="solid"/>
          </a:ln>
        </p:spPr>
      </p:sp>
      <p:sp>
        <p:nvSpPr>
          <p:cNvPr id="43" name="Text 41"/>
          <p:cNvSpPr txBox="1"/>
          <p:nvPr/>
        </p:nvSpPr>
        <p:spPr>
          <a:xfrm>
            <a:off x="7342632" y="4718304"/>
            <a:ext cx="640080" cy="219456"/>
          </a:xfrm>
          <a:prstGeom prst="rect">
            <a:avLst/>
          </a:prstGeom>
          <a:noFill/>
          <a:ln/>
        </p:spPr>
        <p:txBody>
          <a:bodyPr wrap="square" lIns="0" tIns="0" rIns="0" bIns="0" rtlCol="0" anchor="ctr"/>
          <a:lstStyle/>
          <a:p>
            <a:pPr algn="ctr" indent="0" marL="0">
              <a:buNone/>
            </a:pPr>
            <a:r>
              <a:rPr lang="en-US" sz="750" b="1" dirty="0">
                <a:solidFill>
                  <a:srgbClr val="93A0B8"/>
                </a:solidFill>
                <a:latin typeface="Consolas" pitchFamily="34" charset="0"/>
                <a:ea typeface="Consolas" pitchFamily="34" charset="-122"/>
                <a:cs typeface="Consolas" pitchFamily="34" charset="-120"/>
              </a:rPr>
              <a:t>—</a:t>
            </a:r>
            <a:endParaRPr lang="en-US" sz="750" dirty="0"/>
          </a:p>
        </p:txBody>
      </p:sp>
      <p:sp>
        <p:nvSpPr>
          <p:cNvPr id="44" name="Text 42"/>
          <p:cNvSpPr txBox="1"/>
          <p:nvPr/>
        </p:nvSpPr>
        <p:spPr>
          <a:xfrm>
            <a:off x="5120640" y="5358384"/>
            <a:ext cx="2843784" cy="566928"/>
          </a:xfrm>
          <a:prstGeom prst="rect">
            <a:avLst/>
          </a:prstGeom>
          <a:noFill/>
          <a:ln/>
        </p:spPr>
        <p:txBody>
          <a:bodyPr wrap="square" lIns="0" tIns="0" rIns="0" bIns="0" rtlCol="0" anchor="t"/>
          <a:lstStyle/>
          <a:p>
            <a:pPr algn="l" indent="0" marL="0">
              <a:lnSpc>
                <a:spcPct val="104000"/>
              </a:lnSpc>
              <a:buNone/>
            </a:pPr>
            <a:r>
              <a:rPr lang="en-US" sz="850" i="1" dirty="0">
                <a:solidFill>
                  <a:srgbClr val="93A0B8"/>
                </a:solidFill>
                <a:latin typeface="Helvetica Neue" pitchFamily="34" charset="0"/>
                <a:ea typeface="Helvetica Neue" pitchFamily="34" charset="-122"/>
                <a:cs typeface="Helvetica Neue" pitchFamily="34" charset="-120"/>
              </a:rPr>
              <a:t>Rooted in the results: guideline 1 exploits high precision on the high-severity classes; low V1 recall means unflagged explanations still carry a caveat.</a:t>
            </a:r>
            <a:endParaRPr lang="en-US" sz="850" dirty="0"/>
          </a:p>
        </p:txBody>
      </p:sp>
      <p:sp>
        <p:nvSpPr>
          <p:cNvPr id="45" name="Shape 43"/>
          <p:cNvSpPr/>
          <p:nvPr/>
        </p:nvSpPr>
        <p:spPr>
          <a:xfrm>
            <a:off x="8330184" y="1810512"/>
            <a:ext cx="3312871" cy="4206240"/>
          </a:xfrm>
          <a:prstGeom prst="roundRect">
            <a:avLst>
              <a:gd name="adj" fmla="val 2208"/>
            </a:avLst>
          </a:prstGeom>
          <a:solidFill>
            <a:srgbClr val="121B2E"/>
          </a:solidFill>
          <a:ln w="12700">
            <a:solidFill>
              <a:srgbClr val="F5A524"/>
            </a:solidFill>
            <a:prstDash val="solid"/>
          </a:ln>
        </p:spPr>
      </p:sp>
      <p:sp>
        <p:nvSpPr>
          <p:cNvPr id="46" name="Text 44"/>
          <p:cNvSpPr txBox="1"/>
          <p:nvPr/>
        </p:nvSpPr>
        <p:spPr>
          <a:xfrm>
            <a:off x="8531352" y="1956816"/>
            <a:ext cx="2947111" cy="219456"/>
          </a:xfrm>
          <a:prstGeom prst="rect">
            <a:avLst/>
          </a:prstGeom>
          <a:noFill/>
          <a:ln/>
        </p:spPr>
        <p:txBody>
          <a:bodyPr wrap="square" lIns="0" tIns="0" rIns="0" bIns="0" rtlCol="0" anchor="t"/>
          <a:lstStyle/>
          <a:p>
            <a:pPr algn="l" indent="0" marL="0">
              <a:buNone/>
            </a:pPr>
            <a:r>
              <a:rPr lang="en-US" sz="950" spc="100" kern="0" dirty="0">
                <a:solidFill>
                  <a:srgbClr val="F5A524"/>
                </a:solidFill>
                <a:latin typeface="Consolas" pitchFamily="34" charset="0"/>
                <a:ea typeface="Consolas" pitchFamily="34" charset="-122"/>
                <a:cs typeface="Consolas" pitchFamily="34" charset="-120"/>
              </a:rPr>
              <a:t>FUTURE WORK  (ranked)</a:t>
            </a:r>
            <a:endParaRPr lang="en-US" sz="950" dirty="0"/>
          </a:p>
        </p:txBody>
      </p:sp>
      <p:sp>
        <p:nvSpPr>
          <p:cNvPr id="47" name="Text 45"/>
          <p:cNvSpPr txBox="1"/>
          <p:nvPr/>
        </p:nvSpPr>
        <p:spPr>
          <a:xfrm>
            <a:off x="8531352" y="2286000"/>
            <a:ext cx="274320" cy="274320"/>
          </a:xfrm>
          <a:prstGeom prst="rect">
            <a:avLst/>
          </a:prstGeom>
          <a:noFill/>
          <a:ln/>
        </p:spPr>
        <p:txBody>
          <a:bodyPr wrap="square" lIns="0" tIns="0" rIns="0" bIns="0" rtlCol="0" anchor="t"/>
          <a:lstStyle/>
          <a:p>
            <a:pPr algn="l" indent="0" marL="0">
              <a:buNone/>
            </a:pPr>
            <a:r>
              <a:rPr lang="en-US" sz="1300" b="1" dirty="0">
                <a:solidFill>
                  <a:srgbClr val="F5A524"/>
                </a:solidFill>
                <a:latin typeface="Consolas" pitchFamily="34" charset="0"/>
                <a:ea typeface="Consolas" pitchFamily="34" charset="-122"/>
                <a:cs typeface="Consolas" pitchFamily="34" charset="-120"/>
              </a:rPr>
              <a:t>1</a:t>
            </a:r>
            <a:endParaRPr lang="en-US" sz="1300" dirty="0"/>
          </a:p>
        </p:txBody>
      </p:sp>
      <p:sp>
        <p:nvSpPr>
          <p:cNvPr id="48" name="Text 46"/>
          <p:cNvSpPr txBox="1"/>
          <p:nvPr/>
        </p:nvSpPr>
        <p:spPr>
          <a:xfrm>
            <a:off x="8833104" y="2286000"/>
            <a:ext cx="2581351" cy="256032"/>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Official NES@FIT schema</a:t>
            </a:r>
            <a:endParaRPr lang="en-US" sz="1050" dirty="0"/>
          </a:p>
        </p:txBody>
      </p:sp>
      <p:sp>
        <p:nvSpPr>
          <p:cNvPr id="49" name="Text 47"/>
          <p:cNvSpPr txBox="1"/>
          <p:nvPr/>
        </p:nvSpPr>
        <p:spPr>
          <a:xfrm>
            <a:off x="8833104" y="2532888"/>
            <a:ext cx="2581351" cy="457200"/>
          </a:xfrm>
          <a:prstGeom prst="rect">
            <a:avLst/>
          </a:prstGeom>
          <a:noFill/>
          <a:ln/>
        </p:spPr>
        <p:txBody>
          <a:bodyPr wrap="square" lIns="0" tIns="0" rIns="0" bIns="0" rtlCol="0" anchor="t"/>
          <a:lstStyle/>
          <a:p>
            <a:pPr algn="l" indent="0" marL="0">
              <a:lnSpc>
                <a:spcPct val="104000"/>
              </a:lnSpc>
              <a:buNone/>
            </a:pPr>
            <a:r>
              <a:rPr lang="en-US" sz="900" dirty="0">
                <a:solidFill>
                  <a:srgbClr val="C7D0DE"/>
                </a:solidFill>
                <a:latin typeface="Helvetica Neue" pitchFamily="34" charset="0"/>
                <a:ea typeface="Helvetica Neue" pitchFamily="34" charset="-122"/>
                <a:cs typeface="Helvetica Neue" pitchFamily="34" charset="-120"/>
              </a:rPr>
              <a:t>regenerate every artefact and repeat the evaluation; quantify proxy vs official difference</a:t>
            </a:r>
            <a:endParaRPr lang="en-US" sz="900" dirty="0"/>
          </a:p>
        </p:txBody>
      </p:sp>
      <p:sp>
        <p:nvSpPr>
          <p:cNvPr id="50" name="Text 48"/>
          <p:cNvSpPr txBox="1"/>
          <p:nvPr/>
        </p:nvSpPr>
        <p:spPr>
          <a:xfrm>
            <a:off x="8531352" y="3008376"/>
            <a:ext cx="274320" cy="274320"/>
          </a:xfrm>
          <a:prstGeom prst="rect">
            <a:avLst/>
          </a:prstGeom>
          <a:noFill/>
          <a:ln/>
        </p:spPr>
        <p:txBody>
          <a:bodyPr wrap="square" lIns="0" tIns="0" rIns="0" bIns="0" rtlCol="0" anchor="t"/>
          <a:lstStyle/>
          <a:p>
            <a:pPr algn="l" indent="0" marL="0">
              <a:buNone/>
            </a:pPr>
            <a:r>
              <a:rPr lang="en-US" sz="1300" b="1" dirty="0">
                <a:solidFill>
                  <a:srgbClr val="F5A524"/>
                </a:solidFill>
                <a:latin typeface="Consolas" pitchFamily="34" charset="0"/>
                <a:ea typeface="Consolas" pitchFamily="34" charset="-122"/>
                <a:cs typeface="Consolas" pitchFamily="34" charset="-120"/>
              </a:rPr>
              <a:t>2</a:t>
            </a:r>
            <a:endParaRPr lang="en-US" sz="1300" dirty="0"/>
          </a:p>
        </p:txBody>
      </p:sp>
      <p:sp>
        <p:nvSpPr>
          <p:cNvPr id="51" name="Text 49"/>
          <p:cNvSpPr txBox="1"/>
          <p:nvPr/>
        </p:nvSpPr>
        <p:spPr>
          <a:xfrm>
            <a:off x="8833104" y="3008376"/>
            <a:ext cx="2581351" cy="256032"/>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Learned per-claim component</a:t>
            </a:r>
            <a:endParaRPr lang="en-US" sz="1050" dirty="0"/>
          </a:p>
        </p:txBody>
      </p:sp>
      <p:sp>
        <p:nvSpPr>
          <p:cNvPr id="52" name="Text 50"/>
          <p:cNvSpPr txBox="1"/>
          <p:nvPr/>
        </p:nvSpPr>
        <p:spPr>
          <a:xfrm>
            <a:off x="8833104" y="3255264"/>
            <a:ext cx="2581351" cy="457200"/>
          </a:xfrm>
          <a:prstGeom prst="rect">
            <a:avLst/>
          </a:prstGeom>
          <a:noFill/>
          <a:ln/>
        </p:spPr>
        <p:txBody>
          <a:bodyPr wrap="square" lIns="0" tIns="0" rIns="0" bIns="0" rtlCol="0" anchor="t"/>
          <a:lstStyle/>
          <a:p>
            <a:pPr algn="l" indent="0" marL="0">
              <a:lnSpc>
                <a:spcPct val="104000"/>
              </a:lnSpc>
              <a:buNone/>
            </a:pPr>
            <a:r>
              <a:rPr lang="en-US" sz="900" dirty="0">
                <a:solidFill>
                  <a:srgbClr val="C7D0DE"/>
                </a:solidFill>
                <a:latin typeface="Helvetica Neue" pitchFamily="34" charset="0"/>
                <a:ea typeface="Helvetica Neue" pitchFamily="34" charset="-122"/>
                <a:cs typeface="Helvetica Neue" pitchFamily="34" charset="-120"/>
              </a:rPr>
              <a:t>trained on the 200-pair set, on top of the auditable rule core; target V1 recall</a:t>
            </a:r>
            <a:endParaRPr lang="en-US" sz="900" dirty="0"/>
          </a:p>
        </p:txBody>
      </p:sp>
      <p:sp>
        <p:nvSpPr>
          <p:cNvPr id="53" name="Text 51"/>
          <p:cNvSpPr txBox="1"/>
          <p:nvPr/>
        </p:nvSpPr>
        <p:spPr>
          <a:xfrm>
            <a:off x="8531352" y="3730752"/>
            <a:ext cx="274320" cy="274320"/>
          </a:xfrm>
          <a:prstGeom prst="rect">
            <a:avLst/>
          </a:prstGeom>
          <a:noFill/>
          <a:ln/>
        </p:spPr>
        <p:txBody>
          <a:bodyPr wrap="square" lIns="0" tIns="0" rIns="0" bIns="0" rtlCol="0" anchor="t"/>
          <a:lstStyle/>
          <a:p>
            <a:pPr algn="l" indent="0" marL="0">
              <a:buNone/>
            </a:pPr>
            <a:r>
              <a:rPr lang="en-US" sz="1300" b="1" dirty="0">
                <a:solidFill>
                  <a:srgbClr val="F5A524"/>
                </a:solidFill>
                <a:latin typeface="Consolas" pitchFamily="34" charset="0"/>
                <a:ea typeface="Consolas" pitchFamily="34" charset="-122"/>
                <a:cs typeface="Consolas" pitchFamily="34" charset="-120"/>
              </a:rPr>
              <a:t>3</a:t>
            </a:r>
            <a:endParaRPr lang="en-US" sz="1300" dirty="0"/>
          </a:p>
        </p:txBody>
      </p:sp>
      <p:sp>
        <p:nvSpPr>
          <p:cNvPr id="54" name="Text 52"/>
          <p:cNvSpPr txBox="1"/>
          <p:nvPr/>
        </p:nvSpPr>
        <p:spPr>
          <a:xfrm>
            <a:off x="8833104" y="3730752"/>
            <a:ext cx="2581351" cy="256032"/>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Per-class thresholds by severity</a:t>
            </a:r>
            <a:endParaRPr lang="en-US" sz="1050" dirty="0"/>
          </a:p>
        </p:txBody>
      </p:sp>
      <p:sp>
        <p:nvSpPr>
          <p:cNvPr id="55" name="Text 53"/>
          <p:cNvSpPr txBox="1"/>
          <p:nvPr/>
        </p:nvSpPr>
        <p:spPr>
          <a:xfrm>
            <a:off x="8833104" y="3977640"/>
            <a:ext cx="2581351" cy="457200"/>
          </a:xfrm>
          <a:prstGeom prst="rect">
            <a:avLst/>
          </a:prstGeom>
          <a:noFill/>
          <a:ln/>
        </p:spPr>
        <p:txBody>
          <a:bodyPr wrap="square" lIns="0" tIns="0" rIns="0" bIns="0" rtlCol="0" anchor="t"/>
          <a:lstStyle/>
          <a:p>
            <a:pPr algn="l" indent="0" marL="0">
              <a:lnSpc>
                <a:spcPct val="104000"/>
              </a:lnSpc>
              <a:buNone/>
            </a:pPr>
            <a:r>
              <a:rPr lang="en-US" sz="900" dirty="0">
                <a:solidFill>
                  <a:srgbClr val="C7D0DE"/>
                </a:solidFill>
                <a:latin typeface="Helvetica Neue" pitchFamily="34" charset="0"/>
                <a:ea typeface="Helvetica Neue" pitchFamily="34" charset="-122"/>
                <a:cs typeface="Helvetica Neue" pitchFamily="34" charset="-120"/>
              </a:rPr>
              <a:t>recall-oriented for fabrication, precision-oriented for under-specification</a:t>
            </a:r>
            <a:endParaRPr lang="en-US" sz="900" dirty="0"/>
          </a:p>
        </p:txBody>
      </p:sp>
      <p:sp>
        <p:nvSpPr>
          <p:cNvPr id="56" name="Text 54"/>
          <p:cNvSpPr txBox="1"/>
          <p:nvPr/>
        </p:nvSpPr>
        <p:spPr>
          <a:xfrm>
            <a:off x="8531352" y="4453128"/>
            <a:ext cx="274320" cy="274320"/>
          </a:xfrm>
          <a:prstGeom prst="rect">
            <a:avLst/>
          </a:prstGeom>
          <a:noFill/>
          <a:ln/>
        </p:spPr>
        <p:txBody>
          <a:bodyPr wrap="square" lIns="0" tIns="0" rIns="0" bIns="0" rtlCol="0" anchor="t"/>
          <a:lstStyle/>
          <a:p>
            <a:pPr algn="l" indent="0" marL="0">
              <a:buNone/>
            </a:pPr>
            <a:r>
              <a:rPr lang="en-US" sz="1300" b="1" dirty="0">
                <a:solidFill>
                  <a:srgbClr val="F5A524"/>
                </a:solidFill>
                <a:latin typeface="Consolas" pitchFamily="34" charset="0"/>
                <a:ea typeface="Consolas" pitchFamily="34" charset="-122"/>
                <a:cs typeface="Consolas" pitchFamily="34" charset="-120"/>
              </a:rPr>
              <a:t>4</a:t>
            </a:r>
            <a:endParaRPr lang="en-US" sz="1300" dirty="0"/>
          </a:p>
        </p:txBody>
      </p:sp>
      <p:sp>
        <p:nvSpPr>
          <p:cNvPr id="57" name="Text 55"/>
          <p:cNvSpPr txBox="1"/>
          <p:nvPr/>
        </p:nvSpPr>
        <p:spPr>
          <a:xfrm>
            <a:off x="8833104" y="4453128"/>
            <a:ext cx="2581351" cy="256032"/>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More protocols and events</a:t>
            </a:r>
            <a:endParaRPr lang="en-US" sz="1050" dirty="0"/>
          </a:p>
        </p:txBody>
      </p:sp>
      <p:sp>
        <p:nvSpPr>
          <p:cNvPr id="58" name="Text 56"/>
          <p:cNvSpPr txBox="1"/>
          <p:nvPr/>
        </p:nvSpPr>
        <p:spPr>
          <a:xfrm>
            <a:off x="8833104" y="4700016"/>
            <a:ext cx="2581351" cy="457200"/>
          </a:xfrm>
          <a:prstGeom prst="rect">
            <a:avLst/>
          </a:prstGeom>
          <a:noFill/>
          <a:ln/>
        </p:spPr>
        <p:txBody>
          <a:bodyPr wrap="square" lIns="0" tIns="0" rIns="0" bIns="0" rtlCol="0" anchor="t"/>
          <a:lstStyle/>
          <a:p>
            <a:pPr algn="l" indent="0" marL="0">
              <a:lnSpc>
                <a:spcPct val="104000"/>
              </a:lnSpc>
              <a:buNone/>
            </a:pPr>
            <a:r>
              <a:rPr lang="en-US" sz="900" dirty="0">
                <a:solidFill>
                  <a:srgbClr val="C7D0DE"/>
                </a:solidFill>
                <a:latin typeface="Helvetica Neue" pitchFamily="34" charset="0"/>
                <a:ea typeface="Helvetica Neue" pitchFamily="34" charset="-122"/>
                <a:cs typeface="Helvetica Neue" pitchFamily="34" charset="-120"/>
              </a:rPr>
              <a:t>Modbus / DNP3 / S7 datasets; replay-attack events; more models and quantisations</a:t>
            </a:r>
            <a:endParaRPr lang="en-US" sz="900" dirty="0"/>
          </a:p>
        </p:txBody>
      </p:sp>
      <p:sp>
        <p:nvSpPr>
          <p:cNvPr id="59" name="Text 57"/>
          <p:cNvSpPr txBox="1"/>
          <p:nvPr/>
        </p:nvSpPr>
        <p:spPr>
          <a:xfrm>
            <a:off x="8531352" y="5175504"/>
            <a:ext cx="274320" cy="274320"/>
          </a:xfrm>
          <a:prstGeom prst="rect">
            <a:avLst/>
          </a:prstGeom>
          <a:noFill/>
          <a:ln/>
        </p:spPr>
        <p:txBody>
          <a:bodyPr wrap="square" lIns="0" tIns="0" rIns="0" bIns="0" rtlCol="0" anchor="t"/>
          <a:lstStyle/>
          <a:p>
            <a:pPr algn="l" indent="0" marL="0">
              <a:buNone/>
            </a:pPr>
            <a:r>
              <a:rPr lang="en-US" sz="1300" b="1" dirty="0">
                <a:solidFill>
                  <a:srgbClr val="F5A524"/>
                </a:solidFill>
                <a:latin typeface="Consolas" pitchFamily="34" charset="0"/>
                <a:ea typeface="Consolas" pitchFamily="34" charset="-122"/>
                <a:cs typeface="Consolas" pitchFamily="34" charset="-120"/>
              </a:rPr>
              <a:t>5</a:t>
            </a:r>
            <a:endParaRPr lang="en-US" sz="1300" dirty="0"/>
          </a:p>
        </p:txBody>
      </p:sp>
      <p:sp>
        <p:nvSpPr>
          <p:cNvPr id="60" name="Text 58"/>
          <p:cNvSpPr txBox="1"/>
          <p:nvPr/>
        </p:nvSpPr>
        <p:spPr>
          <a:xfrm>
            <a:off x="8833104" y="5175504"/>
            <a:ext cx="2581351" cy="256032"/>
          </a:xfrm>
          <a:prstGeom prst="rect">
            <a:avLst/>
          </a:prstGeom>
          <a:noFill/>
          <a:ln/>
        </p:spPr>
        <p:txBody>
          <a:bodyPr wrap="square" lIns="0" tIns="0" rIns="0" bIns="0" rtlCol="0" anchor="t"/>
          <a:lstStyle/>
          <a:p>
            <a:pPr algn="l" indent="0" marL="0">
              <a:buNone/>
            </a:pPr>
            <a:r>
              <a:rPr lang="en-US" sz="1050" b="1" dirty="0">
                <a:solidFill>
                  <a:srgbClr val="E9EEF6"/>
                </a:solidFill>
                <a:latin typeface="Helvetica Neue" pitchFamily="34" charset="0"/>
                <a:ea typeface="Helvetica Neue" pitchFamily="34" charset="-122"/>
                <a:cs typeface="Helvetica Neue" pitchFamily="34" charset="-120"/>
              </a:rPr>
              <a:t>Operator-in-the-loop study</a:t>
            </a:r>
            <a:endParaRPr lang="en-US" sz="1050" dirty="0"/>
          </a:p>
        </p:txBody>
      </p:sp>
      <p:sp>
        <p:nvSpPr>
          <p:cNvPr id="61" name="Text 59"/>
          <p:cNvSpPr txBox="1"/>
          <p:nvPr/>
        </p:nvSpPr>
        <p:spPr>
          <a:xfrm>
            <a:off x="8833104" y="5422392"/>
            <a:ext cx="2581351" cy="457200"/>
          </a:xfrm>
          <a:prstGeom prst="rect">
            <a:avLst/>
          </a:prstGeom>
          <a:noFill/>
          <a:ln/>
        </p:spPr>
        <p:txBody>
          <a:bodyPr wrap="square" lIns="0" tIns="0" rIns="0" bIns="0" rtlCol="0" anchor="t"/>
          <a:lstStyle/>
          <a:p>
            <a:pPr algn="l" indent="0" marL="0">
              <a:lnSpc>
                <a:spcPct val="104000"/>
              </a:lnSpc>
              <a:buNone/>
            </a:pPr>
            <a:r>
              <a:rPr lang="en-US" sz="900" dirty="0">
                <a:solidFill>
                  <a:srgbClr val="C7D0DE"/>
                </a:solidFill>
                <a:latin typeface="Helvetica Neue" pitchFamily="34" charset="0"/>
                <a:ea typeface="Helvetica Neue" pitchFamily="34" charset="-122"/>
                <a:cs typeface="Helvetica Neue" pitchFamily="34" charset="-120"/>
              </a:rPr>
              <a:t>do V1–V5 verdicts change decisions under time pressure?</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1143000"/>
            <a:ext cx="12191695" cy="0"/>
          </a:xfrm>
          <a:prstGeom prst="line">
            <a:avLst/>
          </a:prstGeom>
          <a:noFill/>
          <a:ln w="6350">
            <a:solidFill>
              <a:srgbClr val="111A2C"/>
            </a:solidFill>
            <a:prstDash val="solid"/>
          </a:ln>
        </p:spPr>
      </p:sp>
      <p:sp>
        <p:nvSpPr>
          <p:cNvPr id="3" name="Shape 1"/>
          <p:cNvSpPr/>
          <p:nvPr/>
        </p:nvSpPr>
        <p:spPr>
          <a:xfrm>
            <a:off x="0" y="2286000"/>
            <a:ext cx="12191695" cy="0"/>
          </a:xfrm>
          <a:prstGeom prst="line">
            <a:avLst/>
          </a:prstGeom>
          <a:noFill/>
          <a:ln w="6350">
            <a:solidFill>
              <a:srgbClr val="111A2C"/>
            </a:solidFill>
            <a:prstDash val="solid"/>
          </a:ln>
        </p:spPr>
      </p:sp>
      <p:sp>
        <p:nvSpPr>
          <p:cNvPr id="4" name="Shape 2"/>
          <p:cNvSpPr/>
          <p:nvPr/>
        </p:nvSpPr>
        <p:spPr>
          <a:xfrm>
            <a:off x="0" y="3429000"/>
            <a:ext cx="12191695" cy="0"/>
          </a:xfrm>
          <a:prstGeom prst="line">
            <a:avLst/>
          </a:prstGeom>
          <a:noFill/>
          <a:ln w="6350">
            <a:solidFill>
              <a:srgbClr val="111A2C"/>
            </a:solidFill>
            <a:prstDash val="solid"/>
          </a:ln>
        </p:spPr>
      </p:sp>
      <p:sp>
        <p:nvSpPr>
          <p:cNvPr id="5" name="Shape 3"/>
          <p:cNvSpPr/>
          <p:nvPr/>
        </p:nvSpPr>
        <p:spPr>
          <a:xfrm>
            <a:off x="0" y="4572000"/>
            <a:ext cx="12191695" cy="0"/>
          </a:xfrm>
          <a:prstGeom prst="line">
            <a:avLst/>
          </a:prstGeom>
          <a:noFill/>
          <a:ln w="6350">
            <a:solidFill>
              <a:srgbClr val="111A2C"/>
            </a:solidFill>
            <a:prstDash val="solid"/>
          </a:ln>
        </p:spPr>
      </p:sp>
      <p:sp>
        <p:nvSpPr>
          <p:cNvPr id="6" name="Shape 4"/>
          <p:cNvSpPr/>
          <p:nvPr/>
        </p:nvSpPr>
        <p:spPr>
          <a:xfrm>
            <a:off x="0" y="5715000"/>
            <a:ext cx="12191695" cy="0"/>
          </a:xfrm>
          <a:prstGeom prst="line">
            <a:avLst/>
          </a:prstGeom>
          <a:noFill/>
          <a:ln w="6350">
            <a:solidFill>
              <a:srgbClr val="111A2C"/>
            </a:solidFill>
            <a:prstDash val="solid"/>
          </a:ln>
        </p:spPr>
      </p:sp>
      <p:sp>
        <p:nvSpPr>
          <p:cNvPr id="7" name="Shape 5"/>
          <p:cNvSpPr/>
          <p:nvPr/>
        </p:nvSpPr>
        <p:spPr>
          <a:xfrm>
            <a:off x="1218895" y="0"/>
            <a:ext cx="0" cy="6858000"/>
          </a:xfrm>
          <a:prstGeom prst="line">
            <a:avLst/>
          </a:prstGeom>
          <a:noFill/>
          <a:ln w="6350">
            <a:solidFill>
              <a:srgbClr val="111A2C"/>
            </a:solidFill>
            <a:prstDash val="solid"/>
          </a:ln>
        </p:spPr>
      </p:sp>
      <p:sp>
        <p:nvSpPr>
          <p:cNvPr id="8" name="Shape 6"/>
          <p:cNvSpPr/>
          <p:nvPr/>
        </p:nvSpPr>
        <p:spPr>
          <a:xfrm>
            <a:off x="2437790" y="0"/>
            <a:ext cx="0" cy="6858000"/>
          </a:xfrm>
          <a:prstGeom prst="line">
            <a:avLst/>
          </a:prstGeom>
          <a:noFill/>
          <a:ln w="6350">
            <a:solidFill>
              <a:srgbClr val="111A2C"/>
            </a:solidFill>
            <a:prstDash val="solid"/>
          </a:ln>
        </p:spPr>
      </p:sp>
      <p:sp>
        <p:nvSpPr>
          <p:cNvPr id="9" name="Shape 7"/>
          <p:cNvSpPr/>
          <p:nvPr/>
        </p:nvSpPr>
        <p:spPr>
          <a:xfrm>
            <a:off x="3656686" y="0"/>
            <a:ext cx="0" cy="6858000"/>
          </a:xfrm>
          <a:prstGeom prst="line">
            <a:avLst/>
          </a:prstGeom>
          <a:noFill/>
          <a:ln w="6350">
            <a:solidFill>
              <a:srgbClr val="111A2C"/>
            </a:solidFill>
            <a:prstDash val="solid"/>
          </a:ln>
        </p:spPr>
      </p:sp>
      <p:sp>
        <p:nvSpPr>
          <p:cNvPr id="10" name="Shape 8"/>
          <p:cNvSpPr/>
          <p:nvPr/>
        </p:nvSpPr>
        <p:spPr>
          <a:xfrm>
            <a:off x="4875581" y="0"/>
            <a:ext cx="0" cy="6858000"/>
          </a:xfrm>
          <a:prstGeom prst="line">
            <a:avLst/>
          </a:prstGeom>
          <a:noFill/>
          <a:ln w="6350">
            <a:solidFill>
              <a:srgbClr val="111A2C"/>
            </a:solidFill>
            <a:prstDash val="solid"/>
          </a:ln>
        </p:spPr>
      </p:sp>
      <p:sp>
        <p:nvSpPr>
          <p:cNvPr id="11" name="Shape 9"/>
          <p:cNvSpPr/>
          <p:nvPr/>
        </p:nvSpPr>
        <p:spPr>
          <a:xfrm>
            <a:off x="6094476" y="0"/>
            <a:ext cx="0" cy="6858000"/>
          </a:xfrm>
          <a:prstGeom prst="line">
            <a:avLst/>
          </a:prstGeom>
          <a:noFill/>
          <a:ln w="6350">
            <a:solidFill>
              <a:srgbClr val="111A2C"/>
            </a:solidFill>
            <a:prstDash val="solid"/>
          </a:ln>
        </p:spPr>
      </p:sp>
      <p:sp>
        <p:nvSpPr>
          <p:cNvPr id="12" name="Shape 10"/>
          <p:cNvSpPr/>
          <p:nvPr/>
        </p:nvSpPr>
        <p:spPr>
          <a:xfrm>
            <a:off x="7313371" y="0"/>
            <a:ext cx="0" cy="6858000"/>
          </a:xfrm>
          <a:prstGeom prst="line">
            <a:avLst/>
          </a:prstGeom>
          <a:noFill/>
          <a:ln w="6350">
            <a:solidFill>
              <a:srgbClr val="111A2C"/>
            </a:solidFill>
            <a:prstDash val="solid"/>
          </a:ln>
        </p:spPr>
      </p:sp>
      <p:sp>
        <p:nvSpPr>
          <p:cNvPr id="13" name="Shape 11"/>
          <p:cNvSpPr/>
          <p:nvPr/>
        </p:nvSpPr>
        <p:spPr>
          <a:xfrm>
            <a:off x="8532266" y="0"/>
            <a:ext cx="0" cy="6858000"/>
          </a:xfrm>
          <a:prstGeom prst="line">
            <a:avLst/>
          </a:prstGeom>
          <a:noFill/>
          <a:ln w="6350">
            <a:solidFill>
              <a:srgbClr val="111A2C"/>
            </a:solidFill>
            <a:prstDash val="solid"/>
          </a:ln>
        </p:spPr>
      </p:sp>
      <p:sp>
        <p:nvSpPr>
          <p:cNvPr id="14" name="Shape 12"/>
          <p:cNvSpPr/>
          <p:nvPr/>
        </p:nvSpPr>
        <p:spPr>
          <a:xfrm>
            <a:off x="9751162" y="0"/>
            <a:ext cx="0" cy="6858000"/>
          </a:xfrm>
          <a:prstGeom prst="line">
            <a:avLst/>
          </a:prstGeom>
          <a:noFill/>
          <a:ln w="6350">
            <a:solidFill>
              <a:srgbClr val="111A2C"/>
            </a:solidFill>
            <a:prstDash val="solid"/>
          </a:ln>
        </p:spPr>
      </p:sp>
      <p:sp>
        <p:nvSpPr>
          <p:cNvPr id="15" name="Shape 13"/>
          <p:cNvSpPr/>
          <p:nvPr/>
        </p:nvSpPr>
        <p:spPr>
          <a:xfrm>
            <a:off x="10970057" y="0"/>
            <a:ext cx="0" cy="6858000"/>
          </a:xfrm>
          <a:prstGeom prst="line">
            <a:avLst/>
          </a:prstGeom>
          <a:noFill/>
          <a:ln w="6350">
            <a:solidFill>
              <a:srgbClr val="111A2C"/>
            </a:solidFill>
            <a:prstDash val="solid"/>
          </a:ln>
        </p:spPr>
      </p:sp>
      <p:sp>
        <p:nvSpPr>
          <p:cNvPr id="16" name="Text 14"/>
          <p:cNvSpPr txBox="1"/>
          <p:nvPr/>
        </p:nvSpPr>
        <p:spPr>
          <a:xfrm>
            <a:off x="548640" y="777240"/>
            <a:ext cx="7315200" cy="777240"/>
          </a:xfrm>
          <a:prstGeom prst="rect">
            <a:avLst/>
          </a:prstGeom>
          <a:noFill/>
          <a:ln/>
        </p:spPr>
        <p:txBody>
          <a:bodyPr wrap="square" lIns="0" tIns="0" rIns="0" bIns="0" rtlCol="0" anchor="ctr"/>
          <a:lstStyle/>
          <a:p>
            <a:pPr algn="l" indent="0" marL="0">
              <a:buNone/>
            </a:pPr>
            <a:r>
              <a:rPr lang="en-US" sz="4400" b="1" dirty="0">
                <a:solidFill>
                  <a:srgbClr val="E9EEF6"/>
                </a:solidFill>
                <a:latin typeface="Helvetica Neue" pitchFamily="34" charset="0"/>
                <a:ea typeface="Helvetica Neue" pitchFamily="34" charset="-122"/>
                <a:cs typeface="Helvetica Neue" pitchFamily="34" charset="-120"/>
              </a:rPr>
              <a:t>Reason</a:t>
            </a:r>
            <a:pPr algn="l" indent="0" marL="0">
              <a:buNone/>
            </a:pPr>
            <a:r>
              <a:rPr lang="en-US" sz="4400" b="1" dirty="0">
                <a:solidFill>
                  <a:srgbClr val="2DD4BF"/>
                </a:solidFill>
                <a:latin typeface="Helvetica Neue" pitchFamily="34" charset="0"/>
                <a:ea typeface="Helvetica Neue" pitchFamily="34" charset="-122"/>
                <a:cs typeface="Helvetica Neue" pitchFamily="34" charset="-120"/>
              </a:rPr>
              <a:t>Guard</a:t>
            </a:r>
            <a:endParaRPr lang="en-US" sz="4400" dirty="0"/>
          </a:p>
        </p:txBody>
      </p:sp>
      <p:sp>
        <p:nvSpPr>
          <p:cNvPr id="17" name="Text 15"/>
          <p:cNvSpPr txBox="1"/>
          <p:nvPr/>
        </p:nvSpPr>
        <p:spPr>
          <a:xfrm>
            <a:off x="548640" y="1572768"/>
            <a:ext cx="6766560" cy="548640"/>
          </a:xfrm>
          <a:prstGeom prst="rect">
            <a:avLst/>
          </a:prstGeom>
          <a:noFill/>
          <a:ln/>
        </p:spPr>
        <p:txBody>
          <a:bodyPr wrap="square" lIns="0" tIns="0" rIns="0" bIns="0" rtlCol="0" anchor="t"/>
          <a:lstStyle/>
          <a:p>
            <a:pPr algn="l" indent="0" marL="0">
              <a:buNone/>
            </a:pPr>
            <a:r>
              <a:rPr lang="en-US" sz="2000" dirty="0">
                <a:solidFill>
                  <a:srgbClr val="C7D0DE"/>
                </a:solidFill>
                <a:latin typeface="Helvetica Neue" pitchFamily="34" charset="0"/>
                <a:ea typeface="Helvetica Neue" pitchFamily="34" charset="-122"/>
                <a:cs typeface="Helvetica Neue" pitchFamily="34" charset="-120"/>
              </a:rPr>
              <a:t>Making AI reasoning checkable against explicit constraints.</a:t>
            </a:r>
            <a:endParaRPr lang="en-US" sz="2000" dirty="0"/>
          </a:p>
        </p:txBody>
      </p:sp>
      <p:sp>
        <p:nvSpPr>
          <p:cNvPr id="18" name="Shape 16"/>
          <p:cNvSpPr/>
          <p:nvPr/>
        </p:nvSpPr>
        <p:spPr>
          <a:xfrm>
            <a:off x="7635240" y="868680"/>
            <a:ext cx="1965960" cy="365760"/>
          </a:xfrm>
          <a:prstGeom prst="roundRect">
            <a:avLst>
              <a:gd name="adj" fmla="val 37500"/>
            </a:avLst>
          </a:prstGeom>
          <a:solidFill>
            <a:srgbClr val="18233A"/>
          </a:solidFill>
          <a:ln w="7620">
            <a:solidFill>
              <a:srgbClr val="93A0B8"/>
            </a:solidFill>
            <a:prstDash val="solid"/>
          </a:ln>
        </p:spPr>
      </p:sp>
      <p:sp>
        <p:nvSpPr>
          <p:cNvPr id="19" name="Text 17"/>
          <p:cNvSpPr txBox="1"/>
          <p:nvPr/>
        </p:nvSpPr>
        <p:spPr>
          <a:xfrm>
            <a:off x="7635240" y="868680"/>
            <a:ext cx="1965960" cy="365760"/>
          </a:xfrm>
          <a:prstGeom prst="rect">
            <a:avLst/>
          </a:prstGeom>
          <a:noFill/>
          <a:ln/>
        </p:spPr>
        <p:txBody>
          <a:bodyPr wrap="square" lIns="0" tIns="0" rIns="0" bIns="0" rtlCol="0" anchor="ctr"/>
          <a:lstStyle/>
          <a:p>
            <a:pPr algn="ctr" indent="0" marL="0">
              <a:buNone/>
            </a:pPr>
            <a:r>
              <a:rPr lang="en-US" sz="1100" b="1" dirty="0">
                <a:solidFill>
                  <a:srgbClr val="93A0B8"/>
                </a:solidFill>
                <a:latin typeface="Helvetica Neue" pitchFamily="34" charset="0"/>
                <a:ea typeface="Helvetica Neue" pitchFamily="34" charset="-122"/>
                <a:cs typeface="Helvetica Neue" pitchFamily="34" charset="-120"/>
              </a:rPr>
              <a:t>LLM reasoning</a:t>
            </a:r>
            <a:endParaRPr lang="en-US" sz="1100" dirty="0"/>
          </a:p>
        </p:txBody>
      </p:sp>
      <p:sp>
        <p:nvSpPr>
          <p:cNvPr id="20" name="Text 18"/>
          <p:cNvSpPr txBox="1"/>
          <p:nvPr/>
        </p:nvSpPr>
        <p:spPr>
          <a:xfrm>
            <a:off x="9738360" y="886968"/>
            <a:ext cx="1904695" cy="365760"/>
          </a:xfrm>
          <a:prstGeom prst="rect">
            <a:avLst/>
          </a:prstGeom>
          <a:noFill/>
          <a:ln/>
        </p:spPr>
        <p:txBody>
          <a:bodyPr wrap="square" lIns="0" tIns="0" rIns="0" bIns="0" rtlCol="0" anchor="ctr"/>
          <a:lstStyle/>
          <a:p>
            <a:pPr algn="l" indent="0" marL="0">
              <a:buNone/>
            </a:pPr>
            <a:r>
              <a:rPr lang="en-US" sz="950" dirty="0">
                <a:solidFill>
                  <a:srgbClr val="93A0B8"/>
                </a:solidFill>
                <a:latin typeface="Helvetica Neue" pitchFamily="34" charset="0"/>
                <a:ea typeface="Helvetica Neue" pitchFamily="34" charset="-122"/>
                <a:cs typeface="Helvetica Neue" pitchFamily="34" charset="-120"/>
              </a:rPr>
              <a:t>fluent explanation of a detector verdict</a:t>
            </a:r>
            <a:endParaRPr lang="en-US" sz="950" dirty="0"/>
          </a:p>
        </p:txBody>
      </p:sp>
      <p:sp>
        <p:nvSpPr>
          <p:cNvPr id="21" name="Shape 19"/>
          <p:cNvSpPr/>
          <p:nvPr/>
        </p:nvSpPr>
        <p:spPr>
          <a:xfrm>
            <a:off x="8618220" y="1271016"/>
            <a:ext cx="0" cy="548640"/>
          </a:xfrm>
          <a:prstGeom prst="line">
            <a:avLst/>
          </a:prstGeom>
          <a:noFill/>
          <a:ln w="12700">
            <a:solidFill>
              <a:srgbClr val="5C6A85"/>
            </a:solidFill>
            <a:prstDash val="solid"/>
            <a:tailEnd type="triangle"/>
          </a:ln>
        </p:spPr>
      </p:sp>
      <p:sp>
        <p:nvSpPr>
          <p:cNvPr id="22" name="Shape 20"/>
          <p:cNvSpPr/>
          <p:nvPr/>
        </p:nvSpPr>
        <p:spPr>
          <a:xfrm>
            <a:off x="7635240" y="1856232"/>
            <a:ext cx="1965960" cy="365760"/>
          </a:xfrm>
          <a:prstGeom prst="roundRect">
            <a:avLst>
              <a:gd name="adj" fmla="val 37500"/>
            </a:avLst>
          </a:prstGeom>
          <a:solidFill>
            <a:srgbClr val="18233A"/>
          </a:solidFill>
          <a:ln w="7620">
            <a:solidFill>
              <a:srgbClr val="93A0B8"/>
            </a:solidFill>
            <a:prstDash val="solid"/>
          </a:ln>
        </p:spPr>
      </p:sp>
      <p:sp>
        <p:nvSpPr>
          <p:cNvPr id="23" name="Text 21"/>
          <p:cNvSpPr txBox="1"/>
          <p:nvPr/>
        </p:nvSpPr>
        <p:spPr>
          <a:xfrm>
            <a:off x="7635240" y="1856232"/>
            <a:ext cx="1965960" cy="365760"/>
          </a:xfrm>
          <a:prstGeom prst="rect">
            <a:avLst/>
          </a:prstGeom>
          <a:noFill/>
          <a:ln/>
        </p:spPr>
        <p:txBody>
          <a:bodyPr wrap="square" lIns="0" tIns="0" rIns="0" bIns="0" rtlCol="0" anchor="ctr"/>
          <a:lstStyle/>
          <a:p>
            <a:pPr algn="ctr" indent="0" marL="0">
              <a:buNone/>
            </a:pPr>
            <a:r>
              <a:rPr lang="en-US" sz="1100" b="1" dirty="0">
                <a:solidFill>
                  <a:srgbClr val="93A0B8"/>
                </a:solidFill>
                <a:latin typeface="Helvetica Neue" pitchFamily="34" charset="0"/>
                <a:ea typeface="Helvetica Neue" pitchFamily="34" charset="-122"/>
                <a:cs typeface="Helvetica Neue" pitchFamily="34" charset="-120"/>
              </a:rPr>
              <a:t>observable claims</a:t>
            </a:r>
            <a:endParaRPr lang="en-US" sz="1100" dirty="0"/>
          </a:p>
        </p:txBody>
      </p:sp>
      <p:sp>
        <p:nvSpPr>
          <p:cNvPr id="24" name="Text 22"/>
          <p:cNvSpPr txBox="1"/>
          <p:nvPr/>
        </p:nvSpPr>
        <p:spPr>
          <a:xfrm>
            <a:off x="9738360" y="1874520"/>
            <a:ext cx="1904695" cy="365760"/>
          </a:xfrm>
          <a:prstGeom prst="rect">
            <a:avLst/>
          </a:prstGeom>
          <a:noFill/>
          <a:ln/>
        </p:spPr>
        <p:txBody>
          <a:bodyPr wrap="square" lIns="0" tIns="0" rIns="0" bIns="0" rtlCol="0" anchor="ctr"/>
          <a:lstStyle/>
          <a:p>
            <a:pPr algn="l" indent="0" marL="0">
              <a:buNone/>
            </a:pPr>
            <a:r>
              <a:rPr lang="en-US" sz="950" dirty="0">
                <a:solidFill>
                  <a:srgbClr val="93A0B8"/>
                </a:solidFill>
                <a:latin typeface="Helvetica Neue" pitchFamily="34" charset="0"/>
                <a:ea typeface="Helvetica Neue" pitchFamily="34" charset="-122"/>
                <a:cs typeface="Helvetica Neue" pitchFamily="34" charset="-120"/>
              </a:rPr>
              <a:t>entities, numbers, direction, attack / normality terms</a:t>
            </a:r>
            <a:endParaRPr lang="en-US" sz="950" dirty="0"/>
          </a:p>
        </p:txBody>
      </p:sp>
      <p:sp>
        <p:nvSpPr>
          <p:cNvPr id="25" name="Shape 23"/>
          <p:cNvSpPr/>
          <p:nvPr/>
        </p:nvSpPr>
        <p:spPr>
          <a:xfrm>
            <a:off x="8618220" y="2258568"/>
            <a:ext cx="0" cy="548640"/>
          </a:xfrm>
          <a:prstGeom prst="line">
            <a:avLst/>
          </a:prstGeom>
          <a:noFill/>
          <a:ln w="12700">
            <a:solidFill>
              <a:srgbClr val="5C6A85"/>
            </a:solidFill>
            <a:prstDash val="solid"/>
            <a:tailEnd type="triangle"/>
          </a:ln>
        </p:spPr>
      </p:sp>
      <p:sp>
        <p:nvSpPr>
          <p:cNvPr id="26" name="Shape 24"/>
          <p:cNvSpPr/>
          <p:nvPr/>
        </p:nvSpPr>
        <p:spPr>
          <a:xfrm>
            <a:off x="7635240" y="2843784"/>
            <a:ext cx="1965960" cy="365760"/>
          </a:xfrm>
          <a:prstGeom prst="roundRect">
            <a:avLst>
              <a:gd name="adj" fmla="val 37500"/>
            </a:avLst>
          </a:prstGeom>
          <a:solidFill>
            <a:srgbClr val="0F3D3A"/>
          </a:solidFill>
          <a:ln w="7620">
            <a:solidFill>
              <a:srgbClr val="2DD4BF"/>
            </a:solidFill>
            <a:prstDash val="solid"/>
          </a:ln>
        </p:spPr>
      </p:sp>
      <p:sp>
        <p:nvSpPr>
          <p:cNvPr id="27" name="Text 25"/>
          <p:cNvSpPr txBox="1"/>
          <p:nvPr/>
        </p:nvSpPr>
        <p:spPr>
          <a:xfrm>
            <a:off x="7635240" y="2843784"/>
            <a:ext cx="1965960" cy="365760"/>
          </a:xfrm>
          <a:prstGeom prst="rect">
            <a:avLst/>
          </a:prstGeom>
          <a:noFill/>
          <a:ln/>
        </p:spPr>
        <p:txBody>
          <a:bodyPr wrap="square" lIns="0" tIns="0" rIns="0" bIns="0" rtlCol="0" anchor="ctr"/>
          <a:lstStyle/>
          <a:p>
            <a:pPr algn="ctr" indent="0" marL="0">
              <a:buNone/>
            </a:pPr>
            <a:r>
              <a:rPr lang="en-US" sz="1100" b="1" dirty="0">
                <a:solidFill>
                  <a:srgbClr val="2DD4BF"/>
                </a:solidFill>
                <a:latin typeface="Helvetica Neue" pitchFamily="34" charset="0"/>
                <a:ea typeface="Helvetica Neue" pitchFamily="34" charset="-122"/>
                <a:cs typeface="Helvetica Neue" pitchFamily="34" charset="-120"/>
              </a:rPr>
              <a:t>formal / proxy bound</a:t>
            </a:r>
            <a:endParaRPr lang="en-US" sz="1100" dirty="0"/>
          </a:p>
        </p:txBody>
      </p:sp>
      <p:sp>
        <p:nvSpPr>
          <p:cNvPr id="28" name="Text 26"/>
          <p:cNvSpPr txBox="1"/>
          <p:nvPr/>
        </p:nvSpPr>
        <p:spPr>
          <a:xfrm>
            <a:off x="9738360" y="2862072"/>
            <a:ext cx="1904695" cy="365760"/>
          </a:xfrm>
          <a:prstGeom prst="rect">
            <a:avLst/>
          </a:prstGeom>
          <a:noFill/>
          <a:ln/>
        </p:spPr>
        <p:txBody>
          <a:bodyPr wrap="square" lIns="0" tIns="0" rIns="0" bIns="0" rtlCol="0" anchor="ctr"/>
          <a:lstStyle/>
          <a:p>
            <a:pPr algn="l" indent="0" marL="0">
              <a:buNone/>
            </a:pPr>
            <a:r>
              <a:rPr lang="en-US" sz="950" dirty="0">
                <a:solidFill>
                  <a:srgbClr val="93A0B8"/>
                </a:solidFill>
                <a:latin typeface="Helvetica Neue" pitchFamily="34" charset="0"/>
                <a:ea typeface="Helvetica Neue" pitchFamily="34" charset="-122"/>
                <a:cs typeface="Helvetica Neue" pitchFamily="34" charset="-120"/>
              </a:rPr>
              <a:t>allowed · required · forbidden · machine-checkable flags</a:t>
            </a:r>
            <a:endParaRPr lang="en-US" sz="950" dirty="0"/>
          </a:p>
        </p:txBody>
      </p:sp>
      <p:sp>
        <p:nvSpPr>
          <p:cNvPr id="29" name="Shape 27"/>
          <p:cNvSpPr/>
          <p:nvPr/>
        </p:nvSpPr>
        <p:spPr>
          <a:xfrm>
            <a:off x="8618220" y="3246120"/>
            <a:ext cx="0" cy="548640"/>
          </a:xfrm>
          <a:prstGeom prst="line">
            <a:avLst/>
          </a:prstGeom>
          <a:noFill/>
          <a:ln w="12700">
            <a:solidFill>
              <a:srgbClr val="5C6A85"/>
            </a:solidFill>
            <a:prstDash val="solid"/>
            <a:tailEnd type="triangle"/>
          </a:ln>
        </p:spPr>
      </p:sp>
      <p:sp>
        <p:nvSpPr>
          <p:cNvPr id="30" name="Shape 28"/>
          <p:cNvSpPr/>
          <p:nvPr/>
        </p:nvSpPr>
        <p:spPr>
          <a:xfrm>
            <a:off x="7635240" y="3831336"/>
            <a:ext cx="1965960" cy="365760"/>
          </a:xfrm>
          <a:prstGeom prst="roundRect">
            <a:avLst>
              <a:gd name="adj" fmla="val 37500"/>
            </a:avLst>
          </a:prstGeom>
          <a:solidFill>
            <a:srgbClr val="18233A"/>
          </a:solidFill>
          <a:ln w="7620">
            <a:solidFill>
              <a:srgbClr val="93A0B8"/>
            </a:solidFill>
            <a:prstDash val="solid"/>
          </a:ln>
        </p:spPr>
      </p:sp>
      <p:sp>
        <p:nvSpPr>
          <p:cNvPr id="31" name="Text 29"/>
          <p:cNvSpPr txBox="1"/>
          <p:nvPr/>
        </p:nvSpPr>
        <p:spPr>
          <a:xfrm>
            <a:off x="7635240" y="3831336"/>
            <a:ext cx="1965960" cy="365760"/>
          </a:xfrm>
          <a:prstGeom prst="rect">
            <a:avLst/>
          </a:prstGeom>
          <a:noFill/>
          <a:ln/>
        </p:spPr>
        <p:txBody>
          <a:bodyPr wrap="square" lIns="0" tIns="0" rIns="0" bIns="0" rtlCol="0" anchor="ctr"/>
          <a:lstStyle/>
          <a:p>
            <a:pPr algn="ctr" indent="0" marL="0">
              <a:buNone/>
            </a:pPr>
            <a:r>
              <a:rPr lang="en-US" sz="1100" b="1" dirty="0">
                <a:solidFill>
                  <a:srgbClr val="93A0B8"/>
                </a:solidFill>
                <a:latin typeface="Helvetica Neue" pitchFamily="34" charset="0"/>
                <a:ea typeface="Helvetica Neue" pitchFamily="34" charset="-122"/>
                <a:cs typeface="Helvetica Neue" pitchFamily="34" charset="-120"/>
              </a:rPr>
              <a:t>runtime check</a:t>
            </a:r>
            <a:endParaRPr lang="en-US" sz="1100" dirty="0"/>
          </a:p>
        </p:txBody>
      </p:sp>
      <p:sp>
        <p:nvSpPr>
          <p:cNvPr id="32" name="Text 30"/>
          <p:cNvSpPr txBox="1"/>
          <p:nvPr/>
        </p:nvSpPr>
        <p:spPr>
          <a:xfrm>
            <a:off x="9738360" y="3849624"/>
            <a:ext cx="1904695" cy="365760"/>
          </a:xfrm>
          <a:prstGeom prst="rect">
            <a:avLst/>
          </a:prstGeom>
          <a:noFill/>
          <a:ln/>
        </p:spPr>
        <p:txBody>
          <a:bodyPr wrap="square" lIns="0" tIns="0" rIns="0" bIns="0" rtlCol="0" anchor="ctr"/>
          <a:lstStyle/>
          <a:p>
            <a:pPr algn="l" indent="0" marL="0">
              <a:buNone/>
            </a:pPr>
            <a:r>
              <a:rPr lang="en-US" sz="950" dirty="0">
                <a:solidFill>
                  <a:srgbClr val="93A0B8"/>
                </a:solidFill>
                <a:latin typeface="Helvetica Neue" pitchFamily="34" charset="0"/>
                <a:ea typeface="Helvetica Neue" pitchFamily="34" charset="-122"/>
                <a:cs typeface="Helvetica Neue" pitchFamily="34" charset="-120"/>
              </a:rPr>
              <a:t>deterministic, auditable, fail-closed</a:t>
            </a:r>
            <a:endParaRPr lang="en-US" sz="950" dirty="0"/>
          </a:p>
        </p:txBody>
      </p:sp>
      <p:sp>
        <p:nvSpPr>
          <p:cNvPr id="33" name="Shape 31"/>
          <p:cNvSpPr/>
          <p:nvPr/>
        </p:nvSpPr>
        <p:spPr>
          <a:xfrm>
            <a:off x="8618220" y="4233672"/>
            <a:ext cx="0" cy="548640"/>
          </a:xfrm>
          <a:prstGeom prst="line">
            <a:avLst/>
          </a:prstGeom>
          <a:noFill/>
          <a:ln w="12700">
            <a:solidFill>
              <a:srgbClr val="5C6A85"/>
            </a:solidFill>
            <a:prstDash val="solid"/>
            <a:tailEnd type="triangle"/>
          </a:ln>
        </p:spPr>
      </p:sp>
      <p:sp>
        <p:nvSpPr>
          <p:cNvPr id="34" name="Shape 32"/>
          <p:cNvSpPr/>
          <p:nvPr/>
        </p:nvSpPr>
        <p:spPr>
          <a:xfrm>
            <a:off x="7635240" y="4818888"/>
            <a:ext cx="1965960" cy="365760"/>
          </a:xfrm>
          <a:prstGeom prst="roundRect">
            <a:avLst>
              <a:gd name="adj" fmla="val 37500"/>
            </a:avLst>
          </a:prstGeom>
          <a:solidFill>
            <a:srgbClr val="4A3410"/>
          </a:solidFill>
          <a:ln w="7620">
            <a:solidFill>
              <a:srgbClr val="F5A524"/>
            </a:solidFill>
            <a:prstDash val="solid"/>
          </a:ln>
        </p:spPr>
      </p:sp>
      <p:sp>
        <p:nvSpPr>
          <p:cNvPr id="35" name="Text 33"/>
          <p:cNvSpPr txBox="1"/>
          <p:nvPr/>
        </p:nvSpPr>
        <p:spPr>
          <a:xfrm>
            <a:off x="7635240" y="4818888"/>
            <a:ext cx="1965960" cy="365760"/>
          </a:xfrm>
          <a:prstGeom prst="rect">
            <a:avLst/>
          </a:prstGeom>
          <a:noFill/>
          <a:ln/>
        </p:spPr>
        <p:txBody>
          <a:bodyPr wrap="square" lIns="0" tIns="0" rIns="0" bIns="0" rtlCol="0" anchor="ctr"/>
          <a:lstStyle/>
          <a:p>
            <a:pPr algn="ctr" indent="0" marL="0">
              <a:buNone/>
            </a:pPr>
            <a:r>
              <a:rPr lang="en-US" sz="1100" b="1" dirty="0">
                <a:solidFill>
                  <a:srgbClr val="F5A524"/>
                </a:solidFill>
                <a:latin typeface="Helvetica Neue" pitchFamily="34" charset="0"/>
                <a:ea typeface="Helvetica Neue" pitchFamily="34" charset="-122"/>
                <a:cs typeface="Helvetica Neue" pitchFamily="34" charset="-120"/>
              </a:rPr>
              <a:t>faithfulness evidence</a:t>
            </a:r>
            <a:endParaRPr lang="en-US" sz="1100" dirty="0"/>
          </a:p>
        </p:txBody>
      </p:sp>
      <p:sp>
        <p:nvSpPr>
          <p:cNvPr id="36" name="Text 34"/>
          <p:cNvSpPr txBox="1"/>
          <p:nvPr/>
        </p:nvSpPr>
        <p:spPr>
          <a:xfrm>
            <a:off x="9738360" y="4837176"/>
            <a:ext cx="1904695" cy="365760"/>
          </a:xfrm>
          <a:prstGeom prst="rect">
            <a:avLst/>
          </a:prstGeom>
          <a:noFill/>
          <a:ln/>
        </p:spPr>
        <p:txBody>
          <a:bodyPr wrap="square" lIns="0" tIns="0" rIns="0" bIns="0" rtlCol="0" anchor="ctr"/>
          <a:lstStyle/>
          <a:p>
            <a:pPr algn="l" indent="0" marL="0">
              <a:buNone/>
            </a:pPr>
            <a:r>
              <a:rPr lang="en-US" sz="950" dirty="0">
                <a:solidFill>
                  <a:srgbClr val="93A0B8"/>
                </a:solidFill>
                <a:latin typeface="Helvetica Neue" pitchFamily="34" charset="0"/>
                <a:ea typeface="Helvetica Neue" pitchFamily="34" charset="-122"/>
                <a:cs typeface="Helvetica Neue" pitchFamily="34" charset="-120"/>
              </a:rPr>
              <a:t>NONE or V1–V5 + severity → withhold · flag · show with caveat</a:t>
            </a:r>
            <a:endParaRPr lang="en-US" sz="950" dirty="0"/>
          </a:p>
        </p:txBody>
      </p:sp>
      <p:sp>
        <p:nvSpPr>
          <p:cNvPr id="37" name="Shape 35"/>
          <p:cNvSpPr/>
          <p:nvPr/>
        </p:nvSpPr>
        <p:spPr>
          <a:xfrm>
            <a:off x="548640" y="2788920"/>
            <a:ext cx="6583680" cy="1188720"/>
          </a:xfrm>
          <a:prstGeom prst="roundRect">
            <a:avLst>
              <a:gd name="adj" fmla="val 6154"/>
            </a:avLst>
          </a:prstGeom>
          <a:solidFill>
            <a:srgbClr val="121B2E"/>
          </a:solidFill>
          <a:ln w="9525">
            <a:solidFill>
              <a:srgbClr val="2A3752"/>
            </a:solidFill>
            <a:prstDash val="solid"/>
          </a:ln>
        </p:spPr>
      </p:sp>
      <p:sp>
        <p:nvSpPr>
          <p:cNvPr id="38" name="Text 36"/>
          <p:cNvSpPr txBox="1"/>
          <p:nvPr/>
        </p:nvSpPr>
        <p:spPr>
          <a:xfrm>
            <a:off x="777240" y="2907792"/>
            <a:ext cx="6126480" cy="1188720"/>
          </a:xfrm>
          <a:prstGeom prst="rect">
            <a:avLst/>
          </a:prstGeom>
          <a:noFill/>
          <a:ln/>
        </p:spPr>
        <p:txBody>
          <a:bodyPr wrap="square" lIns="0" tIns="0" rIns="0" bIns="0" rtlCol="0" anchor="t"/>
          <a:lstStyle/>
          <a:p>
            <a:pPr algn="l" indent="0" marL="0">
              <a:buNone/>
            </a:pPr>
            <a:r>
              <a:rPr lang="en-US" sz="900" dirty="0">
                <a:solidFill>
                  <a:srgbClr val="2DD4BF"/>
                </a:solidFill>
                <a:latin typeface="Consolas" pitchFamily="34" charset="0"/>
                <a:ea typeface="Consolas" pitchFamily="34" charset="-122"/>
                <a:cs typeface="Consolas" pitchFamily="34" charset="-120"/>
              </a:rPr>
              <a:t>Demonstrated  </a:t>
            </a:r>
            <a:pPr algn="l" indent="0" marL="0">
              <a:buNone/>
            </a:pPr>
            <a:r>
              <a:rPr lang="en-US" sz="1100" dirty="0">
                <a:solidFill>
                  <a:srgbClr val="C7D0DE"/>
                </a:solidFill>
                <a:latin typeface="Helvetica Neue" pitchFamily="34" charset="0"/>
                <a:ea typeface="Helvetica Neue" pitchFamily="34" charset="-122"/>
                <a:cs typeface="Helvetica Neue" pitchFamily="34" charset="-120"/>
              </a:rPr>
              <a:t>an end-to-end runtime verifier for LLM explanations of a formal ICS detector, a V1–V5 taxonomy, and a reproducible evaluation over 1,000 explanations.</a:t>
            </a:r>
            <a:endParaRPr lang="en-US" sz="900" dirty="0"/>
          </a:p>
          <a:p>
            <a:pPr algn="l" indent="0" marL="0">
              <a:buNone/>
            </a:pPr>
            <a:r>
              <a:rPr lang="en-US" sz="500" dirty="0">
                <a:solidFill>
                  <a:srgbClr val="E9EEF6"/>
                </a:solidFill>
                <a:latin typeface="Helvetica Neue" pitchFamily="34" charset="0"/>
                <a:ea typeface="Helvetica Neue" pitchFamily="34" charset="-122"/>
                <a:cs typeface="Helvetica Neue" pitchFamily="34" charset="-120"/>
              </a:rPr>
              <a:t> </a:t>
            </a:r>
            <a:endParaRPr lang="en-US" sz="900" dirty="0"/>
          </a:p>
          <a:p>
            <a:pPr algn="l" indent="0" marL="0">
              <a:buNone/>
            </a:pPr>
            <a:r>
              <a:rPr lang="en-US" sz="900" dirty="0">
                <a:solidFill>
                  <a:srgbClr val="F5A524"/>
                </a:solidFill>
                <a:latin typeface="Consolas" pitchFamily="34" charset="0"/>
                <a:ea typeface="Consolas" pitchFamily="34" charset="-122"/>
                <a:cs typeface="Consolas" pitchFamily="34" charset="-120"/>
              </a:rPr>
              <a:t>Not yet  </a:t>
            </a:r>
            <a:pPr algn="l" indent="0" marL="0">
              <a:buNone/>
            </a:pPr>
            <a:r>
              <a:rPr lang="en-US" sz="1100" dirty="0">
                <a:solidFill>
                  <a:srgbClr val="C7D0DE"/>
                </a:solidFill>
                <a:latin typeface="Helvetica Neue" pitchFamily="34" charset="0"/>
                <a:ea typeface="Helvetica Neue" pitchFamily="34" charset="-122"/>
                <a:cs typeface="Helvetica Neue" pitchFamily="34" charset="-120"/>
              </a:rPr>
              <a:t>reliable stand-alone classification (κ 0.16 vs 0.70) and validation against the official NES@FIT schema — both are the stated next steps.</a:t>
            </a:r>
            <a:endParaRPr lang="en-US" sz="900" dirty="0"/>
          </a:p>
        </p:txBody>
      </p:sp>
      <p:sp>
        <p:nvSpPr>
          <p:cNvPr id="39" name="Text 37"/>
          <p:cNvSpPr txBox="1"/>
          <p:nvPr/>
        </p:nvSpPr>
        <p:spPr>
          <a:xfrm>
            <a:off x="548640" y="4572000"/>
            <a:ext cx="6400800" cy="502920"/>
          </a:xfrm>
          <a:prstGeom prst="rect">
            <a:avLst/>
          </a:prstGeom>
          <a:noFill/>
          <a:ln/>
        </p:spPr>
        <p:txBody>
          <a:bodyPr wrap="square" lIns="0" tIns="0" rIns="0" bIns="0" rtlCol="0" anchor="t"/>
          <a:lstStyle/>
          <a:p>
            <a:pPr algn="l" indent="0" marL="0">
              <a:buNone/>
            </a:pPr>
            <a:r>
              <a:rPr lang="en-US" sz="2600" b="1" dirty="0">
                <a:solidFill>
                  <a:srgbClr val="E9EEF6"/>
                </a:solidFill>
                <a:latin typeface="Helvetica Neue" pitchFamily="34" charset="0"/>
                <a:ea typeface="Helvetica Neue" pitchFamily="34" charset="-122"/>
                <a:cs typeface="Helvetica Neue" pitchFamily="34" charset="-120"/>
              </a:rPr>
              <a:t>Questions / Discussion</a:t>
            </a:r>
            <a:endParaRPr lang="en-US" sz="2600" dirty="0"/>
          </a:p>
        </p:txBody>
      </p:sp>
      <p:sp>
        <p:nvSpPr>
          <p:cNvPr id="40" name="Text 38"/>
          <p:cNvSpPr txBox="1"/>
          <p:nvPr/>
        </p:nvSpPr>
        <p:spPr>
          <a:xfrm>
            <a:off x="548640" y="5138928"/>
            <a:ext cx="6766560" cy="457200"/>
          </a:xfrm>
          <a:prstGeom prst="rect">
            <a:avLst/>
          </a:prstGeom>
          <a:noFill/>
          <a:ln/>
        </p:spPr>
        <p:txBody>
          <a:bodyPr wrap="square" lIns="0" tIns="0" rIns="0" bIns="0" rtlCol="0" anchor="t"/>
          <a:lstStyle/>
          <a:p>
            <a:pPr algn="l" indent="0" marL="0">
              <a:lnSpc>
                <a:spcPct val="105000"/>
              </a:lnSpc>
              <a:buNone/>
            </a:pPr>
            <a:r>
              <a:rPr lang="en-US" sz="1050" dirty="0">
                <a:solidFill>
                  <a:srgbClr val="93A0B8"/>
                </a:solidFill>
                <a:latin typeface="Helvetica Neue" pitchFamily="34" charset="0"/>
                <a:ea typeface="Helvetica Neue" pitchFamily="34" charset="-122"/>
                <a:cs typeface="Helvetica Neue" pitchFamily="34" charset="-120"/>
              </a:rPr>
              <a:t>Thank you to Prof. Dr. Gayan de Silva (SRH University Hamburg), Assoc. Prof. Dr. Ondřej Ryšavý and the NES@FIT group (FIT VUT Brno).</a:t>
            </a:r>
            <a:endParaRPr lang="en-US" sz="1050" dirty="0"/>
          </a:p>
        </p:txBody>
      </p:sp>
      <p:sp>
        <p:nvSpPr>
          <p:cNvPr id="41" name="Text 39"/>
          <p:cNvSpPr txBox="1"/>
          <p:nvPr/>
        </p:nvSpPr>
        <p:spPr>
          <a:xfrm>
            <a:off x="548640" y="5760720"/>
            <a:ext cx="9144000" cy="274320"/>
          </a:xfrm>
          <a:prstGeom prst="rect">
            <a:avLst/>
          </a:prstGeom>
          <a:noFill/>
          <a:ln/>
        </p:spPr>
        <p:txBody>
          <a:bodyPr wrap="square" lIns="0" tIns="0" rIns="0" bIns="0" rtlCol="0" anchor="t"/>
          <a:lstStyle/>
          <a:p>
            <a:pPr algn="l" indent="0" marL="0">
              <a:buNone/>
            </a:pPr>
            <a:r>
              <a:rPr lang="en-US" sz="900" dirty="0">
                <a:solidFill>
                  <a:srgbClr val="5C6A85"/>
                </a:solidFill>
                <a:latin typeface="Consolas" pitchFamily="34" charset="0"/>
                <a:ea typeface="Consolas" pitchFamily="34" charset="-122"/>
                <a:cs typeface="Consolas" pitchFamily="34" charset="-120"/>
              </a:rPr>
              <a:t>github.com/bilalovrevan/reasonguard   ·   reasonguard-dashboard.streamlit.app   ·   doi:10.5281/zenodo.22724731</a:t>
            </a:r>
            <a:endParaRPr lang="en-US" sz="900" dirty="0"/>
          </a:p>
        </p:txBody>
      </p:sp>
      <p:sp>
        <p:nvSpPr>
          <p:cNvPr id="42" name="Text 40"/>
          <p:cNvSpPr txBox="1"/>
          <p:nvPr/>
        </p:nvSpPr>
        <p:spPr>
          <a:xfrm>
            <a:off x="548640" y="6473952"/>
            <a:ext cx="9144000" cy="219456"/>
          </a:xfrm>
          <a:prstGeom prst="rect">
            <a:avLst/>
          </a:prstGeom>
          <a:noFill/>
          <a:ln/>
        </p:spPr>
        <p:txBody>
          <a:bodyPr wrap="square" lIns="0" tIns="0" rIns="0" bIns="0" rtlCol="0" anchor="t"/>
          <a:lstStyle/>
          <a:p>
            <a:pPr algn="l" indent="0" marL="0">
              <a:buNone/>
            </a:pPr>
            <a:r>
              <a:rPr lang="en-US" sz="850" dirty="0">
                <a:solidFill>
                  <a:srgbClr val="5C6A85"/>
                </a:solidFill>
                <a:latin typeface="Helvetica Neue" pitchFamily="34" charset="0"/>
                <a:ea typeface="Helvetica Neue" pitchFamily="34" charset="-122"/>
                <a:cs typeface="Helvetica Neue" pitchFamily="34" charset="-120"/>
              </a:rPr>
              <a:t>Ravan Bilalov · MSc Applied Data Science and Analytics · SRH University Hamburg in collaboration with FIT VUT Brno</a:t>
            </a:r>
            <a:endParaRPr lang="en-US" sz="850" dirty="0"/>
          </a:p>
        </p:txBody>
      </p:sp>
      <p:sp>
        <p:nvSpPr>
          <p:cNvPr id="43" name="Text 41"/>
          <p:cNvSpPr txBox="1"/>
          <p:nvPr/>
        </p:nvSpPr>
        <p:spPr>
          <a:xfrm>
            <a:off x="10545775" y="6473952"/>
            <a:ext cx="1097280" cy="219456"/>
          </a:xfrm>
          <a:prstGeom prst="rect">
            <a:avLst/>
          </a:prstGeom>
          <a:noFill/>
          <a:ln/>
        </p:spPr>
        <p:txBody>
          <a:bodyPr wrap="square" lIns="0" tIns="0" rIns="0" bIns="0" rtlCol="0" anchor="t"/>
          <a:lstStyle/>
          <a:p>
            <a:pPr algn="r" indent="0" marL="0">
              <a:buNone/>
            </a:pPr>
            <a:r>
              <a:rPr lang="en-US" sz="900" dirty="0">
                <a:solidFill>
                  <a:srgbClr val="5C6A85"/>
                </a:solidFill>
                <a:latin typeface="Consolas" pitchFamily="34" charset="0"/>
                <a:ea typeface="Consolas" pitchFamily="34" charset="-122"/>
                <a:cs typeface="Consolas" pitchFamily="34" charset="-120"/>
              </a:rPr>
              <a:t>18 / 18</a:t>
            </a:r>
            <a:endParaRPr lang="en-US" sz="9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SRH University Hamburg / FIT VUT Brno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ReasonGuard — Runtime Verification of AI Reasoning Faithfulness Against Formally Verified Bounds</dc:title>
  <dc:subject>Master's thesis colloquium</dc:subject>
  <dc:creator>Ravan Bilalov</dc:creator>
  <cp:lastModifiedBy>Ravan Bilalov</cp:lastModifiedBy>
  <cp:revision>1</cp:revision>
  <dcterms:created xsi:type="dcterms:W3CDTF">2026-09-13T22:46:54Z</dcterms:created>
  <dcterms:modified xsi:type="dcterms:W3CDTF">2026-09-13T22:46:54Z</dcterms:modified>
</cp:coreProperties>
</file>